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9077" autoAdjust="0"/>
  </p:normalViewPr>
  <p:slideViewPr>
    <p:cSldViewPr snapToGrid="0" snapToObjects="1">
      <p:cViewPr varScale="1">
        <p:scale>
          <a:sx n="63" d="100"/>
          <a:sy n="63" d="100"/>
        </p:scale>
        <p:origin x="99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31E1A"/>
                </a:solidFill>
                <a:latin typeface="Calibri"/>
              </a:defRPr>
            </a:pPr>
            <a:r>
              <a:rPr lang="en-IN" sz="1300" b="0" i="0" u="none" strike="noStrike">
                <a:solidFill>
                  <a:srgbClr val="231E1A"/>
                </a:solidFill>
                <a:latin typeface="Calibri"/>
              </a:rPr>
              <a:t>PR-AUC by regime</a:t>
            </a:r>
          </a:p>
        </c:rich>
      </c:tx>
      <c:overlay val="0"/>
    </c:title>
    <c:autoTitleDeleted val="0"/>
    <c:plotArea>
      <c:layout/>
      <c:barChart>
        <c:barDir val="col"/>
        <c:grouping val="clustered"/>
        <c:varyColors val="0"/>
        <c:ser>
          <c:idx val="0"/>
          <c:order val="0"/>
          <c:tx>
            <c:strRef>
              <c:f>Sheet1!$B$1</c:f>
              <c:strCache>
                <c:ptCount val="1"/>
                <c:pt idx="0">
                  <c:v>Rules baseline</c:v>
                </c:pt>
              </c:strCache>
            </c:strRef>
          </c:tx>
          <c:spPr>
            <a:solidFill>
              <a:srgbClr val="E2D9CC"/>
            </a:solidFill>
            <a:effectLst/>
          </c:spPr>
          <c:invertIfNegative val="0"/>
          <c:dLbls>
            <c:numFmt formatCode="0.000" sourceLinked="0"/>
            <c:spPr>
              <a:noFill/>
              <a:ln>
                <a:noFill/>
              </a:ln>
              <a:effectLst/>
            </c:spPr>
            <c:txPr>
              <a:bodyPr/>
              <a:lstStyle/>
              <a:p>
                <a:pPr>
                  <a:defRPr sz="950" b="0" i="0" u="none" strike="noStrike">
                    <a:solidFill>
                      <a:srgbClr val="231E1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HI-Small</c:v>
                </c:pt>
                <c:pt idx="1">
                  <c:v>HI-Medium</c:v>
                </c:pt>
                <c:pt idx="2">
                  <c:v>HI-Large</c:v>
                </c:pt>
              </c:strCache>
            </c:strRef>
          </c:cat>
          <c:val>
            <c:numRef>
              <c:f>Sheet1!$B$2:$B$4</c:f>
              <c:numCache>
                <c:formatCode>General</c:formatCode>
                <c:ptCount val="3"/>
                <c:pt idx="0">
                  <c:v>0.25340000000000001</c:v>
                </c:pt>
                <c:pt idx="1">
                  <c:v>0.33429999999999999</c:v>
                </c:pt>
                <c:pt idx="2">
                  <c:v>0.75760000000000005</c:v>
                </c:pt>
              </c:numCache>
            </c:numRef>
          </c:val>
          <c:extLst>
            <c:ext xmlns:c16="http://schemas.microsoft.com/office/drawing/2014/chart" uri="{C3380CC4-5D6E-409C-BE32-E72D297353CC}">
              <c16:uniqueId val="{00000000-B1B0-4348-9B67-75FF880AFCAB}"/>
            </c:ext>
          </c:extLst>
        </c:ser>
        <c:ser>
          <c:idx val="1"/>
          <c:order val="1"/>
          <c:tx>
            <c:strRef>
              <c:f>Sheet1!$C$1</c:f>
              <c:strCache>
                <c:ptCount val="1"/>
                <c:pt idx="0">
                  <c:v>Best ML model</c:v>
                </c:pt>
              </c:strCache>
            </c:strRef>
          </c:tx>
          <c:spPr>
            <a:solidFill>
              <a:srgbClr val="5E4A3C"/>
            </a:solidFill>
            <a:effectLst/>
          </c:spPr>
          <c:invertIfNegative val="0"/>
          <c:dLbls>
            <c:numFmt formatCode="0.000" sourceLinked="0"/>
            <c:spPr>
              <a:noFill/>
              <a:ln>
                <a:noFill/>
              </a:ln>
              <a:effectLst/>
            </c:spPr>
            <c:txPr>
              <a:bodyPr/>
              <a:lstStyle/>
              <a:p>
                <a:pPr>
                  <a:defRPr sz="950" b="0" i="0" u="none" strike="noStrike">
                    <a:solidFill>
                      <a:srgbClr val="231E1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HI-Small</c:v>
                </c:pt>
                <c:pt idx="1">
                  <c:v>HI-Medium</c:v>
                </c:pt>
                <c:pt idx="2">
                  <c:v>HI-Large</c:v>
                </c:pt>
              </c:strCache>
            </c:strRef>
          </c:cat>
          <c:val>
            <c:numRef>
              <c:f>Sheet1!$C$2:$C$4</c:f>
              <c:numCache>
                <c:formatCode>General</c:formatCode>
                <c:ptCount val="3"/>
                <c:pt idx="0">
                  <c:v>0.93400000000000005</c:v>
                </c:pt>
                <c:pt idx="1">
                  <c:v>0.95760000000000001</c:v>
                </c:pt>
                <c:pt idx="2">
                  <c:v>0.9929</c:v>
                </c:pt>
              </c:numCache>
            </c:numRef>
          </c:val>
          <c:extLst>
            <c:ext xmlns:c16="http://schemas.microsoft.com/office/drawing/2014/chart" uri="{C3380CC4-5D6E-409C-BE32-E72D297353CC}">
              <c16:uniqueId val="{00000001-B1B0-4348-9B67-75FF880AFCA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231E1A"/>
                </a:solidFill>
                <a:latin typeface="Calibri"/>
              </a:defRPr>
            </a:pPr>
            <a:endParaRPr lang="en-US"/>
          </a:p>
        </c:txPr>
        <c:crossAx val="2094734552"/>
        <c:crosses val="autoZero"/>
        <c:auto val="1"/>
        <c:lblAlgn val="ctr"/>
        <c:lblOffset val="100"/>
        <c:noMultiLvlLbl val="1"/>
      </c:catAx>
      <c:valAx>
        <c:axId val="2094734552"/>
        <c:scaling>
          <c:orientation val="minMax"/>
          <c:max val="1.1499999999999999"/>
          <c:min val="0"/>
        </c:scaling>
        <c:delete val="0"/>
        <c:axPos val="l"/>
        <c:majorGridlines>
          <c:spPr>
            <a:ln w="9525" cap="flat">
              <a:solidFill>
                <a:srgbClr val="E8E2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8A7C6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31E1A"/>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16429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31D"/>
        </a:solidFill>
        <a:effectLst/>
      </p:bgPr>
    </p:bg>
    <p:spTree>
      <p:nvGrpSpPr>
        <p:cNvPr id="1" name=""/>
        <p:cNvGrpSpPr/>
        <p:nvPr/>
      </p:nvGrpSpPr>
      <p:grpSpPr>
        <a:xfrm>
          <a:off x="0" y="0"/>
          <a:ext cx="0" cy="0"/>
          <a:chOff x="0" y="0"/>
          <a:chExt cx="0" cy="0"/>
        </a:xfrm>
      </p:grpSpPr>
      <p:sp>
        <p:nvSpPr>
          <p:cNvPr id="2" name="Text 0"/>
          <p:cNvSpPr/>
          <p:nvPr/>
        </p:nvSpPr>
        <p:spPr>
          <a:xfrm>
            <a:off x="822960" y="777240"/>
            <a:ext cx="10515600" cy="640080"/>
          </a:xfrm>
          <a:prstGeom prst="rect">
            <a:avLst/>
          </a:prstGeom>
          <a:noFill/>
          <a:ln/>
        </p:spPr>
        <p:txBody>
          <a:bodyPr wrap="square" lIns="0" tIns="0" rIns="0" bIns="0" rtlCol="0" anchor="ctr"/>
          <a:lstStyle/>
          <a:p>
            <a:pPr marL="0" indent="0" algn="l">
              <a:buNone/>
            </a:pPr>
            <a:r>
              <a:rPr lang="en-US" sz="4400" b="1" kern="0" spc="600" dirty="0">
                <a:solidFill>
                  <a:srgbClr val="FFFFFF"/>
                </a:solidFill>
                <a:latin typeface="Cambria" pitchFamily="34" charset="0"/>
                <a:ea typeface="Cambria" pitchFamily="34" charset="-122"/>
                <a:cs typeface="Cambria" pitchFamily="34" charset="-120"/>
              </a:rPr>
              <a:t>XPLAINTM</a:t>
            </a:r>
            <a:endParaRPr lang="en-US" sz="4400" dirty="0"/>
          </a:p>
        </p:txBody>
      </p:sp>
      <p:sp>
        <p:nvSpPr>
          <p:cNvPr id="3" name="Text 1"/>
          <p:cNvSpPr/>
          <p:nvPr/>
        </p:nvSpPr>
        <p:spPr>
          <a:xfrm>
            <a:off x="822960" y="1481328"/>
            <a:ext cx="10515600" cy="960120"/>
          </a:xfrm>
          <a:prstGeom prst="rect">
            <a:avLst/>
          </a:prstGeom>
          <a:noFill/>
          <a:ln/>
        </p:spPr>
        <p:txBody>
          <a:bodyPr wrap="square" lIns="0" tIns="0" rIns="0" bIns="0" rtlCol="0" anchor="ctr"/>
          <a:lstStyle/>
          <a:p>
            <a:pPr marL="0" indent="0" algn="l">
              <a:lnSpc>
                <a:spcPct val="115000"/>
              </a:lnSpc>
              <a:buNone/>
            </a:pPr>
            <a:r>
              <a:rPr lang="en-US" sz="2300" dirty="0">
                <a:solidFill>
                  <a:srgbClr val="E2D9CC"/>
                </a:solidFill>
                <a:latin typeface="Cambria" pitchFamily="34" charset="0"/>
                <a:ea typeface="Cambria" pitchFamily="34" charset="-122"/>
                <a:cs typeface="Cambria" pitchFamily="34" charset="-120"/>
              </a:rPr>
              <a:t>Explainable Cost-Sensitive Machine Learning</a:t>
            </a:r>
            <a:endParaRPr lang="en-US" sz="2300" dirty="0"/>
          </a:p>
          <a:p>
            <a:pPr marL="0" indent="0" algn="l">
              <a:lnSpc>
                <a:spcPct val="115000"/>
              </a:lnSpc>
              <a:buNone/>
            </a:pPr>
            <a:r>
              <a:rPr lang="en-US" sz="2300" dirty="0">
                <a:solidFill>
                  <a:srgbClr val="E2D9CC"/>
                </a:solidFill>
                <a:latin typeface="Cambria" pitchFamily="34" charset="0"/>
                <a:ea typeface="Cambria" pitchFamily="34" charset="-122"/>
                <a:cs typeface="Cambria" pitchFamily="34" charset="-120"/>
              </a:rPr>
              <a:t>for AML Transaction Monitoring</a:t>
            </a:r>
            <a:endParaRPr lang="en-US" sz="2300" dirty="0"/>
          </a:p>
        </p:txBody>
      </p:sp>
      <p:sp>
        <p:nvSpPr>
          <p:cNvPr id="4" name="Text 2"/>
          <p:cNvSpPr/>
          <p:nvPr/>
        </p:nvSpPr>
        <p:spPr>
          <a:xfrm>
            <a:off x="822960" y="2542032"/>
            <a:ext cx="10515600" cy="320040"/>
          </a:xfrm>
          <a:prstGeom prst="rect">
            <a:avLst/>
          </a:prstGeom>
          <a:noFill/>
          <a:ln/>
        </p:spPr>
        <p:txBody>
          <a:bodyPr wrap="square" lIns="0" tIns="0" rIns="0" bIns="0" rtlCol="0" anchor="ctr"/>
          <a:lstStyle/>
          <a:p>
            <a:pPr marL="0" indent="0" algn="l">
              <a:buNone/>
            </a:pPr>
            <a:r>
              <a:rPr lang="en-US" sz="1400" i="1" dirty="0">
                <a:solidFill>
                  <a:srgbClr val="8A7C6E"/>
                </a:solidFill>
                <a:latin typeface="Calibri" pitchFamily="34" charset="0"/>
                <a:ea typeface="Calibri" pitchFamily="34" charset="-122"/>
                <a:cs typeface="Calibri" pitchFamily="34" charset="-120"/>
              </a:rPr>
              <a:t>Reducing False Positives Compared with Rules-Based Systems</a:t>
            </a:r>
            <a:endParaRPr lang="en-US" sz="1400" dirty="0"/>
          </a:p>
        </p:txBody>
      </p:sp>
      <p:sp>
        <p:nvSpPr>
          <p:cNvPr id="5" name="Shape 3"/>
          <p:cNvSpPr/>
          <p:nvPr/>
        </p:nvSpPr>
        <p:spPr>
          <a:xfrm>
            <a:off x="822960" y="3127248"/>
            <a:ext cx="1371600" cy="82296"/>
          </a:xfrm>
          <a:prstGeom prst="rect">
            <a:avLst/>
          </a:prstGeom>
          <a:solidFill>
            <a:srgbClr val="E2D9CC"/>
          </a:solidFill>
          <a:ln/>
        </p:spPr>
      </p:sp>
      <p:sp>
        <p:nvSpPr>
          <p:cNvPr id="6" name="Text 4"/>
          <p:cNvSpPr/>
          <p:nvPr/>
        </p:nvSpPr>
        <p:spPr>
          <a:xfrm>
            <a:off x="822960" y="3520440"/>
            <a:ext cx="5120640" cy="1143000"/>
          </a:xfrm>
          <a:prstGeom prst="rect">
            <a:avLst/>
          </a:prstGeom>
          <a:noFill/>
          <a:ln/>
        </p:spPr>
        <p:txBody>
          <a:bodyPr wrap="square" lIns="0" tIns="0" rIns="0" bIns="0" rtlCol="0" anchor="ctr"/>
          <a:lstStyle/>
          <a:p>
            <a:pPr marL="0" indent="0" algn="l">
              <a:lnSpc>
                <a:spcPct val="135000"/>
              </a:lnSpc>
              <a:buNone/>
            </a:pPr>
            <a:r>
              <a:rPr lang="en-US" sz="1350" b="1" dirty="0">
                <a:solidFill>
                  <a:srgbClr val="E2D9CC"/>
                </a:solidFill>
                <a:latin typeface="Calibri" pitchFamily="34" charset="0"/>
                <a:ea typeface="Calibri" pitchFamily="34" charset="-122"/>
                <a:cs typeface="Calibri" pitchFamily="34" charset="-120"/>
              </a:rPr>
              <a:t>MSc FinTech (MSCFTD1)</a:t>
            </a:r>
            <a:endParaRPr lang="en-US" sz="1350" dirty="0"/>
          </a:p>
          <a:p>
            <a:pPr marL="0" indent="0" algn="l">
              <a:lnSpc>
                <a:spcPct val="135000"/>
              </a:lnSpc>
              <a:buNone/>
            </a:pPr>
            <a:r>
              <a:rPr lang="en-US" sz="1350" dirty="0">
                <a:solidFill>
                  <a:srgbClr val="E2D9CC"/>
                </a:solidFill>
                <a:latin typeface="Calibri" pitchFamily="34" charset="0"/>
                <a:ea typeface="Calibri" pitchFamily="34" charset="-122"/>
                <a:cs typeface="Calibri" pitchFamily="34" charset="-120"/>
              </a:rPr>
              <a:t>Research in Computing — Practicum Part 2</a:t>
            </a:r>
            <a:endParaRPr lang="en-US" sz="1350" dirty="0"/>
          </a:p>
          <a:p>
            <a:pPr marL="0" indent="0" algn="l">
              <a:lnSpc>
                <a:spcPct val="135000"/>
              </a:lnSpc>
              <a:buNone/>
            </a:pPr>
            <a:r>
              <a:rPr lang="en-US" sz="1350" dirty="0">
                <a:solidFill>
                  <a:srgbClr val="E2D9CC"/>
                </a:solidFill>
                <a:latin typeface="Calibri" pitchFamily="34" charset="0"/>
                <a:ea typeface="Calibri" pitchFamily="34" charset="-122"/>
                <a:cs typeface="Calibri" pitchFamily="34" charset="-120"/>
              </a:rPr>
              <a:t>Supervisor: Dr. Brian Byrne</a:t>
            </a:r>
            <a:endParaRPr lang="en-US" sz="1350" dirty="0"/>
          </a:p>
        </p:txBody>
      </p:sp>
      <p:sp>
        <p:nvSpPr>
          <p:cNvPr id="7" name="Text 5"/>
          <p:cNvSpPr/>
          <p:nvPr/>
        </p:nvSpPr>
        <p:spPr>
          <a:xfrm>
            <a:off x="6309360" y="3456432"/>
            <a:ext cx="5029200" cy="1325880"/>
          </a:xfrm>
          <a:prstGeom prst="rect">
            <a:avLst/>
          </a:prstGeom>
          <a:noFill/>
          <a:ln/>
        </p:spPr>
        <p:txBody>
          <a:bodyPr wrap="square" lIns="0" tIns="0" rIns="0" bIns="0" rtlCol="0" anchor="ctr"/>
          <a:lstStyle/>
          <a:p>
            <a:pPr marL="0" indent="0" algn="l">
              <a:lnSpc>
                <a:spcPct val="132000"/>
              </a:lnSpc>
              <a:buNone/>
            </a:pPr>
            <a:r>
              <a:rPr lang="en-US" sz="1600" b="1" dirty="0">
                <a:solidFill>
                  <a:srgbClr val="FFFFFF"/>
                </a:solidFill>
                <a:latin typeface="Calibri" pitchFamily="34" charset="0"/>
                <a:ea typeface="Calibri" pitchFamily="34" charset="-122"/>
                <a:cs typeface="Calibri" pitchFamily="34" charset="-120"/>
              </a:rPr>
              <a:t>Mohd Nizam Mohd Nasir Shaikh</a:t>
            </a:r>
            <a:endParaRPr lang="en-US" sz="1300" dirty="0"/>
          </a:p>
          <a:p>
            <a:pPr marL="0" indent="0" algn="l">
              <a:lnSpc>
                <a:spcPct val="132000"/>
              </a:lnSpc>
              <a:buNone/>
            </a:pPr>
            <a:r>
              <a:rPr lang="en-US" sz="1300" dirty="0">
                <a:solidFill>
                  <a:srgbClr val="E2D9CC"/>
                </a:solidFill>
                <a:latin typeface="Calibri" pitchFamily="34" charset="0"/>
                <a:ea typeface="Calibri" pitchFamily="34" charset="-122"/>
                <a:cs typeface="Calibri" pitchFamily="34" charset="-120"/>
              </a:rPr>
              <a:t>Student ID: 24198170</a:t>
            </a:r>
            <a:endParaRPr lang="en-US" sz="1300" dirty="0"/>
          </a:p>
          <a:p>
            <a:pPr marL="0" indent="0" algn="l">
              <a:lnSpc>
                <a:spcPct val="132000"/>
              </a:lnSpc>
              <a:buNone/>
            </a:pPr>
            <a:r>
              <a:rPr lang="en-US" sz="1300" dirty="0">
                <a:solidFill>
                  <a:srgbClr val="E2D9CC"/>
                </a:solidFill>
                <a:latin typeface="Calibri" pitchFamily="34" charset="0"/>
                <a:ea typeface="Calibri" pitchFamily="34" charset="-122"/>
                <a:cs typeface="Calibri" pitchFamily="34" charset="-120"/>
              </a:rPr>
              <a:t>X24198170@student.ncirl.ie</a:t>
            </a:r>
            <a:endParaRPr lang="en-US" sz="1300" dirty="0"/>
          </a:p>
          <a:p>
            <a:pPr marL="0" indent="0" algn="l">
              <a:lnSpc>
                <a:spcPct val="132000"/>
              </a:lnSpc>
              <a:buNone/>
            </a:pPr>
            <a:r>
              <a:rPr lang="en-US" sz="1300" dirty="0">
                <a:solidFill>
                  <a:srgbClr val="E2D9CC"/>
                </a:solidFill>
                <a:latin typeface="Calibri" pitchFamily="34" charset="0"/>
                <a:ea typeface="Calibri" pitchFamily="34" charset="-122"/>
                <a:cs typeface="Calibri" pitchFamily="34" charset="-120"/>
              </a:rPr>
              <a:t>School of Computing, National College of Ireland</a:t>
            </a:r>
            <a:endParaRPr lang="en-US" sz="1300" dirty="0"/>
          </a:p>
        </p:txBody>
      </p:sp>
      <p:sp>
        <p:nvSpPr>
          <p:cNvPr id="8" name="Text 6"/>
          <p:cNvSpPr/>
          <p:nvPr/>
        </p:nvSpPr>
        <p:spPr>
          <a:xfrm>
            <a:off x="822960" y="5897880"/>
            <a:ext cx="10515600" cy="292608"/>
          </a:xfrm>
          <a:prstGeom prst="rect">
            <a:avLst/>
          </a:prstGeom>
          <a:noFill/>
          <a:ln/>
        </p:spPr>
        <p:txBody>
          <a:bodyPr wrap="square" lIns="0" tIns="0" rIns="0" bIns="0" rtlCol="0" anchor="ctr"/>
          <a:lstStyle/>
          <a:p>
            <a:pPr marL="0" indent="0" algn="l">
              <a:buNone/>
            </a:pPr>
            <a:r>
              <a:rPr lang="en-US" sz="1100" dirty="0">
                <a:solidFill>
                  <a:srgbClr val="8A7C6E"/>
                </a:solidFill>
                <a:latin typeface="Calibri" pitchFamily="34" charset="0"/>
                <a:ea typeface="Calibri" pitchFamily="34" charset="-122"/>
                <a:cs typeface="Calibri" pitchFamily="34" charset="-120"/>
              </a:rPr>
              <a:t>Academic Integrity Code: SfYu3HrPhR    ·    10 August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rect">
            <a:avLst/>
          </a:prstGeom>
          <a:solidFill>
            <a:srgbClr val="5E4A3C"/>
          </a:solidFill>
          <a:ln/>
        </p:spPr>
      </p:sp>
      <p:sp>
        <p:nvSpPr>
          <p:cNvPr id="3" name="Text 1"/>
          <p:cNvSpPr/>
          <p:nvPr/>
        </p:nvSpPr>
        <p:spPr>
          <a:xfrm>
            <a:off x="548640" y="384048"/>
            <a:ext cx="566928" cy="566928"/>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4" name="Text 2"/>
          <p:cNvSpPr/>
          <p:nvPr/>
        </p:nvSpPr>
        <p:spPr>
          <a:xfrm>
            <a:off x="1298448" y="365760"/>
            <a:ext cx="10241280" cy="457200"/>
          </a:xfrm>
          <a:prstGeom prst="rect">
            <a:avLst/>
          </a:prstGeom>
          <a:noFill/>
          <a:ln/>
        </p:spPr>
        <p:txBody>
          <a:bodyPr wrap="square" lIns="0" tIns="0" rIns="0" bIns="0" rtlCol="0" anchor="ctr"/>
          <a:lstStyle/>
          <a:p>
            <a:pPr marL="0" indent="0" algn="l">
              <a:buNone/>
            </a:pPr>
            <a:r>
              <a:rPr lang="en-US" sz="3000" b="1" dirty="0">
                <a:solidFill>
                  <a:srgbClr val="231E1A"/>
                </a:solidFill>
                <a:latin typeface="Cambria" pitchFamily="34" charset="0"/>
                <a:ea typeface="Cambria" pitchFamily="34" charset="-122"/>
                <a:cs typeface="Cambria" pitchFamily="34" charset="-120"/>
              </a:rPr>
              <a:t>Agenda</a:t>
            </a:r>
            <a:endParaRPr lang="en-US" sz="3000" dirty="0"/>
          </a:p>
        </p:txBody>
      </p:sp>
      <p:sp>
        <p:nvSpPr>
          <p:cNvPr id="5" name="Text 3"/>
          <p:cNvSpPr/>
          <p:nvPr/>
        </p:nvSpPr>
        <p:spPr>
          <a:xfrm>
            <a:off x="1298448" y="841248"/>
            <a:ext cx="10241280" cy="292608"/>
          </a:xfrm>
          <a:prstGeom prst="rect">
            <a:avLst/>
          </a:prstGeom>
          <a:noFill/>
          <a:ln/>
        </p:spPr>
        <p:txBody>
          <a:bodyPr wrap="square" lIns="0" tIns="0" rIns="0" bIns="0" rtlCol="0" anchor="ctr"/>
          <a:lstStyle/>
          <a:p>
            <a:pPr marL="0" indent="0" algn="l">
              <a:buNone/>
            </a:pPr>
            <a:r>
              <a:rPr lang="en-US" sz="1300" i="1" dirty="0">
                <a:solidFill>
                  <a:srgbClr val="8A7C6E"/>
                </a:solidFill>
                <a:latin typeface="Calibri" pitchFamily="34" charset="0"/>
                <a:ea typeface="Calibri" pitchFamily="34" charset="-122"/>
                <a:cs typeface="Calibri" pitchFamily="34" charset="-120"/>
              </a:rPr>
              <a:t>Ten topics</a:t>
            </a:r>
          </a:p>
        </p:txBody>
      </p:sp>
      <p:sp>
        <p:nvSpPr>
          <p:cNvPr id="6" name="Shape 4"/>
          <p:cNvSpPr/>
          <p:nvPr/>
        </p:nvSpPr>
        <p:spPr>
          <a:xfrm>
            <a:off x="566928" y="1481328"/>
            <a:ext cx="5230368" cy="786384"/>
          </a:xfrm>
          <a:prstGeom prst="rect">
            <a:avLst/>
          </a:prstGeom>
          <a:solidFill>
            <a:srgbClr val="EFE9E0"/>
          </a:solidFill>
          <a:ln/>
        </p:spPr>
      </p:sp>
      <p:sp>
        <p:nvSpPr>
          <p:cNvPr id="7" name="Text 5"/>
          <p:cNvSpPr/>
          <p:nvPr/>
        </p:nvSpPr>
        <p:spPr>
          <a:xfrm>
            <a:off x="694944" y="1481328"/>
            <a:ext cx="566928" cy="786384"/>
          </a:xfrm>
          <a:prstGeom prst="rect">
            <a:avLst/>
          </a:prstGeom>
          <a:noFill/>
          <a:ln/>
        </p:spPr>
        <p:txBody>
          <a:bodyPr wrap="square" lIns="0" tIns="0" rIns="0" bIns="0" rtlCol="0" anchor="ctr"/>
          <a:lstStyle/>
          <a:p>
            <a:pPr marL="0" indent="0" algn="l">
              <a:buNone/>
            </a:pPr>
            <a:r>
              <a:rPr lang="en-US" sz="1900" b="1" dirty="0">
                <a:solidFill>
                  <a:srgbClr val="5E4A3C"/>
                </a:solidFill>
                <a:latin typeface="Cambria" pitchFamily="34" charset="0"/>
                <a:ea typeface="Cambria" pitchFamily="34" charset="-122"/>
                <a:cs typeface="Cambria" pitchFamily="34" charset="-120"/>
              </a:rPr>
              <a:t>01</a:t>
            </a:r>
            <a:endParaRPr lang="en-US" sz="1900" dirty="0"/>
          </a:p>
        </p:txBody>
      </p:sp>
      <p:sp>
        <p:nvSpPr>
          <p:cNvPr id="8" name="Text 6"/>
          <p:cNvSpPr/>
          <p:nvPr/>
        </p:nvSpPr>
        <p:spPr>
          <a:xfrm>
            <a:off x="1335024" y="1581912"/>
            <a:ext cx="4297680" cy="320040"/>
          </a:xfrm>
          <a:prstGeom prst="rect">
            <a:avLst/>
          </a:prstGeom>
          <a:noFill/>
          <a:ln/>
        </p:spPr>
        <p:txBody>
          <a:bodyPr wrap="square" lIns="0" tIns="0" rIns="0" bIns="0" rtlCol="0" anchor="ctr"/>
          <a:lstStyle/>
          <a:p>
            <a:pPr marL="0" indent="0" algn="l">
              <a:buNone/>
            </a:pPr>
            <a:r>
              <a:rPr lang="en-US" sz="1400" b="1" dirty="0">
                <a:solidFill>
                  <a:srgbClr val="231E1A"/>
                </a:solidFill>
                <a:latin typeface="Calibri" pitchFamily="34" charset="0"/>
                <a:ea typeface="Calibri" pitchFamily="34" charset="-122"/>
                <a:cs typeface="Calibri" pitchFamily="34" charset="-120"/>
              </a:rPr>
              <a:t>The Problem</a:t>
            </a:r>
            <a:endParaRPr lang="en-US" sz="1400" dirty="0"/>
          </a:p>
        </p:txBody>
      </p:sp>
      <p:sp>
        <p:nvSpPr>
          <p:cNvPr id="9" name="Text 7"/>
          <p:cNvSpPr/>
          <p:nvPr/>
        </p:nvSpPr>
        <p:spPr>
          <a:xfrm>
            <a:off x="1335024" y="1883664"/>
            <a:ext cx="4297680" cy="292608"/>
          </a:xfrm>
          <a:prstGeom prst="rect">
            <a:avLst/>
          </a:prstGeom>
          <a:noFill/>
          <a:ln/>
        </p:spPr>
        <p:txBody>
          <a:bodyPr wrap="square" lIns="0" tIns="0" rIns="0" bIns="0" rtlCol="0" anchor="ctr"/>
          <a:lstStyle/>
          <a:p>
            <a:pPr marL="0" indent="0" algn="l">
              <a:buNone/>
            </a:pPr>
            <a:r>
              <a:rPr lang="en-US" sz="1100" dirty="0">
                <a:solidFill>
                  <a:srgbClr val="8A7C6E"/>
                </a:solidFill>
                <a:latin typeface="Calibri" pitchFamily="34" charset="0"/>
                <a:ea typeface="Calibri" pitchFamily="34" charset="-122"/>
                <a:cs typeface="Calibri" pitchFamily="34" charset="-120"/>
              </a:rPr>
              <a:t>Compliance cost and the 90% false-positive rate</a:t>
            </a:r>
            <a:endParaRPr lang="en-US" sz="1100" dirty="0"/>
          </a:p>
        </p:txBody>
      </p:sp>
      <p:sp>
        <p:nvSpPr>
          <p:cNvPr id="10" name="Shape 8"/>
          <p:cNvSpPr/>
          <p:nvPr/>
        </p:nvSpPr>
        <p:spPr>
          <a:xfrm>
            <a:off x="566928" y="2450592"/>
            <a:ext cx="5230368" cy="786384"/>
          </a:xfrm>
          <a:prstGeom prst="rect">
            <a:avLst/>
          </a:prstGeom>
          <a:solidFill>
            <a:srgbClr val="F7F4EF"/>
          </a:solidFill>
          <a:ln/>
        </p:spPr>
      </p:sp>
      <p:sp>
        <p:nvSpPr>
          <p:cNvPr id="11" name="Text 9"/>
          <p:cNvSpPr/>
          <p:nvPr/>
        </p:nvSpPr>
        <p:spPr>
          <a:xfrm>
            <a:off x="694944" y="2450592"/>
            <a:ext cx="566928" cy="786384"/>
          </a:xfrm>
          <a:prstGeom prst="rect">
            <a:avLst/>
          </a:prstGeom>
          <a:noFill/>
          <a:ln/>
        </p:spPr>
        <p:txBody>
          <a:bodyPr wrap="square" lIns="0" tIns="0" rIns="0" bIns="0" rtlCol="0" anchor="ctr"/>
          <a:lstStyle/>
          <a:p>
            <a:pPr marL="0" indent="0" algn="l">
              <a:buNone/>
            </a:pPr>
            <a:r>
              <a:rPr lang="en-US" sz="1900" b="1" dirty="0">
                <a:solidFill>
                  <a:srgbClr val="5E4A3C"/>
                </a:solidFill>
                <a:latin typeface="Cambria" pitchFamily="34" charset="0"/>
                <a:ea typeface="Cambria" pitchFamily="34" charset="-122"/>
                <a:cs typeface="Cambria" pitchFamily="34" charset="-120"/>
              </a:rPr>
              <a:t>02</a:t>
            </a:r>
            <a:endParaRPr lang="en-US" sz="1900" dirty="0"/>
          </a:p>
        </p:txBody>
      </p:sp>
      <p:sp>
        <p:nvSpPr>
          <p:cNvPr id="12" name="Text 10"/>
          <p:cNvSpPr/>
          <p:nvPr/>
        </p:nvSpPr>
        <p:spPr>
          <a:xfrm>
            <a:off x="1335024" y="2551176"/>
            <a:ext cx="4297680" cy="320040"/>
          </a:xfrm>
          <a:prstGeom prst="rect">
            <a:avLst/>
          </a:prstGeom>
          <a:noFill/>
          <a:ln/>
        </p:spPr>
        <p:txBody>
          <a:bodyPr wrap="square" lIns="0" tIns="0" rIns="0" bIns="0" rtlCol="0" anchor="ctr"/>
          <a:lstStyle/>
          <a:p>
            <a:pPr marL="0" indent="0" algn="l">
              <a:buNone/>
            </a:pPr>
            <a:r>
              <a:rPr lang="en-US" sz="1400" b="1" dirty="0">
                <a:solidFill>
                  <a:srgbClr val="231E1A"/>
                </a:solidFill>
                <a:latin typeface="Calibri" pitchFamily="34" charset="0"/>
                <a:ea typeface="Calibri" pitchFamily="34" charset="-122"/>
                <a:cs typeface="Calibri" pitchFamily="34" charset="-120"/>
              </a:rPr>
              <a:t>Research Questions</a:t>
            </a:r>
            <a:endParaRPr lang="en-US" sz="1400" dirty="0"/>
          </a:p>
        </p:txBody>
      </p:sp>
      <p:sp>
        <p:nvSpPr>
          <p:cNvPr id="13" name="Text 11"/>
          <p:cNvSpPr/>
          <p:nvPr/>
        </p:nvSpPr>
        <p:spPr>
          <a:xfrm>
            <a:off x="1335024" y="2852928"/>
            <a:ext cx="4297680" cy="292608"/>
          </a:xfrm>
          <a:prstGeom prst="rect">
            <a:avLst/>
          </a:prstGeom>
          <a:noFill/>
          <a:ln/>
        </p:spPr>
        <p:txBody>
          <a:bodyPr wrap="square" lIns="0" tIns="0" rIns="0" bIns="0" rtlCol="0" anchor="ctr"/>
          <a:lstStyle/>
          <a:p>
            <a:pPr marL="0" indent="0" algn="l">
              <a:buNone/>
            </a:pPr>
            <a:r>
              <a:rPr lang="en-US" sz="1100" dirty="0">
                <a:solidFill>
                  <a:srgbClr val="8A7C6E"/>
                </a:solidFill>
                <a:latin typeface="Calibri" pitchFamily="34" charset="0"/>
                <a:ea typeface="Calibri" pitchFamily="34" charset="-122"/>
                <a:cs typeface="Calibri" pitchFamily="34" charset="-120"/>
              </a:rPr>
              <a:t>RQ1, RQ2 and RQ3 defined</a:t>
            </a:r>
            <a:endParaRPr lang="en-US" sz="1100" dirty="0"/>
          </a:p>
        </p:txBody>
      </p:sp>
      <p:sp>
        <p:nvSpPr>
          <p:cNvPr id="14" name="Shape 12"/>
          <p:cNvSpPr/>
          <p:nvPr/>
        </p:nvSpPr>
        <p:spPr>
          <a:xfrm>
            <a:off x="566928" y="3419856"/>
            <a:ext cx="5230368" cy="786384"/>
          </a:xfrm>
          <a:prstGeom prst="rect">
            <a:avLst/>
          </a:prstGeom>
          <a:solidFill>
            <a:srgbClr val="EFE9E0"/>
          </a:solidFill>
          <a:ln/>
        </p:spPr>
      </p:sp>
      <p:sp>
        <p:nvSpPr>
          <p:cNvPr id="15" name="Text 13"/>
          <p:cNvSpPr/>
          <p:nvPr/>
        </p:nvSpPr>
        <p:spPr>
          <a:xfrm>
            <a:off x="694944" y="3419856"/>
            <a:ext cx="566928" cy="786384"/>
          </a:xfrm>
          <a:prstGeom prst="rect">
            <a:avLst/>
          </a:prstGeom>
          <a:noFill/>
          <a:ln/>
        </p:spPr>
        <p:txBody>
          <a:bodyPr wrap="square" lIns="0" tIns="0" rIns="0" bIns="0" rtlCol="0" anchor="ctr"/>
          <a:lstStyle/>
          <a:p>
            <a:pPr marL="0" indent="0" algn="l">
              <a:buNone/>
            </a:pPr>
            <a:r>
              <a:rPr lang="en-US" sz="1900" b="1" dirty="0">
                <a:solidFill>
                  <a:srgbClr val="5E4A3C"/>
                </a:solidFill>
                <a:latin typeface="Cambria" pitchFamily="34" charset="0"/>
                <a:ea typeface="Cambria" pitchFamily="34" charset="-122"/>
                <a:cs typeface="Cambria" pitchFamily="34" charset="-120"/>
              </a:rPr>
              <a:t>03</a:t>
            </a:r>
            <a:endParaRPr lang="en-US" sz="1900" dirty="0"/>
          </a:p>
        </p:txBody>
      </p:sp>
      <p:sp>
        <p:nvSpPr>
          <p:cNvPr id="16" name="Text 14"/>
          <p:cNvSpPr/>
          <p:nvPr/>
        </p:nvSpPr>
        <p:spPr>
          <a:xfrm>
            <a:off x="1335024" y="3520440"/>
            <a:ext cx="4297680" cy="320040"/>
          </a:xfrm>
          <a:prstGeom prst="rect">
            <a:avLst/>
          </a:prstGeom>
          <a:noFill/>
          <a:ln/>
        </p:spPr>
        <p:txBody>
          <a:bodyPr wrap="square" lIns="0" tIns="0" rIns="0" bIns="0" rtlCol="0" anchor="ctr"/>
          <a:lstStyle/>
          <a:p>
            <a:pPr marL="0" indent="0" algn="l">
              <a:buNone/>
            </a:pPr>
            <a:r>
              <a:rPr lang="en-US" sz="1400" b="1" dirty="0">
                <a:solidFill>
                  <a:srgbClr val="231E1A"/>
                </a:solidFill>
                <a:latin typeface="Calibri" pitchFamily="34" charset="0"/>
                <a:ea typeface="Calibri" pitchFamily="34" charset="-122"/>
                <a:cs typeface="Calibri" pitchFamily="34" charset="-120"/>
              </a:rPr>
              <a:t>Dataset &amp; Sampling</a:t>
            </a:r>
            <a:endParaRPr lang="en-US" sz="1400" dirty="0"/>
          </a:p>
        </p:txBody>
      </p:sp>
      <p:sp>
        <p:nvSpPr>
          <p:cNvPr id="17" name="Text 15"/>
          <p:cNvSpPr/>
          <p:nvPr/>
        </p:nvSpPr>
        <p:spPr>
          <a:xfrm>
            <a:off x="1335024" y="3822192"/>
            <a:ext cx="4297680" cy="292608"/>
          </a:xfrm>
          <a:prstGeom prst="rect">
            <a:avLst/>
          </a:prstGeom>
          <a:noFill/>
          <a:ln/>
        </p:spPr>
        <p:txBody>
          <a:bodyPr wrap="square" lIns="0" tIns="0" rIns="0" bIns="0" rtlCol="0" anchor="ctr"/>
          <a:lstStyle/>
          <a:p>
            <a:pPr marL="0" indent="0" algn="l">
              <a:buNone/>
            </a:pPr>
            <a:r>
              <a:rPr lang="en-US" sz="1100" dirty="0">
                <a:solidFill>
                  <a:srgbClr val="8A7C6E"/>
                </a:solidFill>
                <a:latin typeface="Calibri" pitchFamily="34" charset="0"/>
                <a:ea typeface="Calibri" pitchFamily="34" charset="-122"/>
                <a:cs typeface="Calibri" pitchFamily="34" charset="-120"/>
              </a:rPr>
              <a:t>IBM AML HI datasets at three class ratios</a:t>
            </a:r>
            <a:endParaRPr lang="en-US" sz="1100" dirty="0"/>
          </a:p>
        </p:txBody>
      </p:sp>
      <p:sp>
        <p:nvSpPr>
          <p:cNvPr id="18" name="Shape 16"/>
          <p:cNvSpPr/>
          <p:nvPr/>
        </p:nvSpPr>
        <p:spPr>
          <a:xfrm>
            <a:off x="566928" y="4389120"/>
            <a:ext cx="5230368" cy="786384"/>
          </a:xfrm>
          <a:prstGeom prst="rect">
            <a:avLst/>
          </a:prstGeom>
          <a:solidFill>
            <a:srgbClr val="F7F4EF"/>
          </a:solidFill>
          <a:ln/>
        </p:spPr>
      </p:sp>
      <p:sp>
        <p:nvSpPr>
          <p:cNvPr id="19" name="Text 17"/>
          <p:cNvSpPr/>
          <p:nvPr/>
        </p:nvSpPr>
        <p:spPr>
          <a:xfrm>
            <a:off x="694944" y="4389120"/>
            <a:ext cx="566928" cy="786384"/>
          </a:xfrm>
          <a:prstGeom prst="rect">
            <a:avLst/>
          </a:prstGeom>
          <a:noFill/>
          <a:ln/>
        </p:spPr>
        <p:txBody>
          <a:bodyPr wrap="square" lIns="0" tIns="0" rIns="0" bIns="0" rtlCol="0" anchor="ctr"/>
          <a:lstStyle/>
          <a:p>
            <a:pPr marL="0" indent="0" algn="l">
              <a:buNone/>
            </a:pPr>
            <a:r>
              <a:rPr lang="en-US" sz="1900" b="1" dirty="0">
                <a:solidFill>
                  <a:srgbClr val="5E4A3C"/>
                </a:solidFill>
                <a:latin typeface="Cambria" pitchFamily="34" charset="0"/>
                <a:ea typeface="Cambria" pitchFamily="34" charset="-122"/>
                <a:cs typeface="Cambria" pitchFamily="34" charset="-120"/>
              </a:rPr>
              <a:t>04</a:t>
            </a:r>
            <a:endParaRPr lang="en-US" sz="1900" dirty="0"/>
          </a:p>
        </p:txBody>
      </p:sp>
      <p:sp>
        <p:nvSpPr>
          <p:cNvPr id="20" name="Text 18"/>
          <p:cNvSpPr/>
          <p:nvPr/>
        </p:nvSpPr>
        <p:spPr>
          <a:xfrm>
            <a:off x="1335024" y="4489704"/>
            <a:ext cx="4297680" cy="320040"/>
          </a:xfrm>
          <a:prstGeom prst="rect">
            <a:avLst/>
          </a:prstGeom>
          <a:noFill/>
          <a:ln/>
        </p:spPr>
        <p:txBody>
          <a:bodyPr wrap="square" lIns="0" tIns="0" rIns="0" bIns="0" rtlCol="0" anchor="ctr"/>
          <a:lstStyle/>
          <a:p>
            <a:pPr marL="0" indent="0" algn="l">
              <a:buNone/>
            </a:pPr>
            <a:r>
              <a:rPr lang="en-US" sz="1400" b="1" dirty="0">
                <a:solidFill>
                  <a:srgbClr val="231E1A"/>
                </a:solidFill>
                <a:latin typeface="Calibri" pitchFamily="34" charset="0"/>
                <a:ea typeface="Calibri" pitchFamily="34" charset="-122"/>
                <a:cs typeface="Calibri" pitchFamily="34" charset="-120"/>
              </a:rPr>
              <a:t>Leakage-Safe Design</a:t>
            </a:r>
            <a:endParaRPr lang="en-US" sz="1400" dirty="0"/>
          </a:p>
        </p:txBody>
      </p:sp>
      <p:sp>
        <p:nvSpPr>
          <p:cNvPr id="21" name="Text 19"/>
          <p:cNvSpPr/>
          <p:nvPr/>
        </p:nvSpPr>
        <p:spPr>
          <a:xfrm>
            <a:off x="1335024" y="4791456"/>
            <a:ext cx="4297680" cy="292608"/>
          </a:xfrm>
          <a:prstGeom prst="rect">
            <a:avLst/>
          </a:prstGeom>
          <a:noFill/>
          <a:ln/>
        </p:spPr>
        <p:txBody>
          <a:bodyPr wrap="square" lIns="0" tIns="0" rIns="0" bIns="0" rtlCol="0" anchor="ctr"/>
          <a:lstStyle/>
          <a:p>
            <a:pPr marL="0" indent="0" algn="l">
              <a:buNone/>
            </a:pPr>
            <a:r>
              <a:rPr lang="en-US" sz="1100" dirty="0">
                <a:solidFill>
                  <a:srgbClr val="8A7C6E"/>
                </a:solidFill>
                <a:latin typeface="Calibri" pitchFamily="34" charset="0"/>
                <a:ea typeface="Calibri" pitchFamily="34" charset="-122"/>
                <a:cs typeface="Calibri" pitchFamily="34" charset="-120"/>
              </a:rPr>
              <a:t>Temporal splitting and causal features</a:t>
            </a:r>
            <a:endParaRPr lang="en-US" sz="1100" dirty="0"/>
          </a:p>
        </p:txBody>
      </p:sp>
      <p:sp>
        <p:nvSpPr>
          <p:cNvPr id="22" name="Shape 20"/>
          <p:cNvSpPr/>
          <p:nvPr/>
        </p:nvSpPr>
        <p:spPr>
          <a:xfrm>
            <a:off x="566928" y="5358384"/>
            <a:ext cx="5230368" cy="786384"/>
          </a:xfrm>
          <a:prstGeom prst="rect">
            <a:avLst/>
          </a:prstGeom>
          <a:solidFill>
            <a:srgbClr val="EFE9E0"/>
          </a:solidFill>
          <a:ln/>
        </p:spPr>
      </p:sp>
      <p:sp>
        <p:nvSpPr>
          <p:cNvPr id="23" name="Text 21"/>
          <p:cNvSpPr/>
          <p:nvPr/>
        </p:nvSpPr>
        <p:spPr>
          <a:xfrm>
            <a:off x="694944" y="5358384"/>
            <a:ext cx="566928" cy="786384"/>
          </a:xfrm>
          <a:prstGeom prst="rect">
            <a:avLst/>
          </a:prstGeom>
          <a:noFill/>
          <a:ln/>
        </p:spPr>
        <p:txBody>
          <a:bodyPr wrap="square" lIns="0" tIns="0" rIns="0" bIns="0" rtlCol="0" anchor="ctr"/>
          <a:lstStyle/>
          <a:p>
            <a:pPr marL="0" indent="0" algn="l">
              <a:buNone/>
            </a:pPr>
            <a:r>
              <a:rPr lang="en-US" sz="1900" b="1" dirty="0">
                <a:solidFill>
                  <a:srgbClr val="5E4A3C"/>
                </a:solidFill>
                <a:latin typeface="Cambria" pitchFamily="34" charset="0"/>
                <a:ea typeface="Cambria" pitchFamily="34" charset="-122"/>
                <a:cs typeface="Cambria" pitchFamily="34" charset="-120"/>
              </a:rPr>
              <a:t>05</a:t>
            </a:r>
            <a:endParaRPr lang="en-US" sz="1900" dirty="0"/>
          </a:p>
        </p:txBody>
      </p:sp>
      <p:sp>
        <p:nvSpPr>
          <p:cNvPr id="24" name="Text 22"/>
          <p:cNvSpPr/>
          <p:nvPr/>
        </p:nvSpPr>
        <p:spPr>
          <a:xfrm>
            <a:off x="1335024" y="5458968"/>
            <a:ext cx="4297680" cy="320040"/>
          </a:xfrm>
          <a:prstGeom prst="rect">
            <a:avLst/>
          </a:prstGeom>
          <a:noFill/>
          <a:ln/>
        </p:spPr>
        <p:txBody>
          <a:bodyPr wrap="square" lIns="0" tIns="0" rIns="0" bIns="0" rtlCol="0" anchor="ctr"/>
          <a:lstStyle/>
          <a:p>
            <a:pPr marL="0" indent="0" algn="l">
              <a:buNone/>
            </a:pPr>
            <a:r>
              <a:rPr lang="en-US" sz="1400" b="1" dirty="0">
                <a:solidFill>
                  <a:srgbClr val="231E1A"/>
                </a:solidFill>
                <a:latin typeface="Calibri" pitchFamily="34" charset="0"/>
                <a:ea typeface="Calibri" pitchFamily="34" charset="-122"/>
                <a:cs typeface="Calibri" pitchFamily="34" charset="-120"/>
              </a:rPr>
              <a:t>Pipeline Architecture</a:t>
            </a:r>
            <a:endParaRPr lang="en-US" sz="1400" dirty="0"/>
          </a:p>
        </p:txBody>
      </p:sp>
      <p:sp>
        <p:nvSpPr>
          <p:cNvPr id="25" name="Text 23"/>
          <p:cNvSpPr/>
          <p:nvPr/>
        </p:nvSpPr>
        <p:spPr>
          <a:xfrm>
            <a:off x="1335024" y="5760720"/>
            <a:ext cx="4297680" cy="292608"/>
          </a:xfrm>
          <a:prstGeom prst="rect">
            <a:avLst/>
          </a:prstGeom>
          <a:noFill/>
          <a:ln/>
        </p:spPr>
        <p:txBody>
          <a:bodyPr wrap="square" lIns="0" tIns="0" rIns="0" bIns="0" rtlCol="0" anchor="ctr"/>
          <a:lstStyle/>
          <a:p>
            <a:pPr marL="0" indent="0" algn="l">
              <a:buNone/>
            </a:pPr>
            <a:r>
              <a:rPr lang="en-US" sz="1100" dirty="0">
                <a:solidFill>
                  <a:srgbClr val="8A7C6E"/>
                </a:solidFill>
                <a:latin typeface="Calibri" pitchFamily="34" charset="0"/>
                <a:ea typeface="Calibri" pitchFamily="34" charset="-122"/>
                <a:cs typeface="Calibri" pitchFamily="34" charset="-120"/>
              </a:rPr>
              <a:t>The five-stage artefact</a:t>
            </a:r>
            <a:endParaRPr lang="en-US" sz="1100" dirty="0"/>
          </a:p>
        </p:txBody>
      </p:sp>
      <p:sp>
        <p:nvSpPr>
          <p:cNvPr id="26" name="Shape 24"/>
          <p:cNvSpPr/>
          <p:nvPr/>
        </p:nvSpPr>
        <p:spPr>
          <a:xfrm>
            <a:off x="6355080" y="1481328"/>
            <a:ext cx="5230368" cy="786384"/>
          </a:xfrm>
          <a:prstGeom prst="rect">
            <a:avLst/>
          </a:prstGeom>
          <a:solidFill>
            <a:srgbClr val="F7F4EF"/>
          </a:solidFill>
          <a:ln/>
        </p:spPr>
      </p:sp>
      <p:sp>
        <p:nvSpPr>
          <p:cNvPr id="27" name="Text 25"/>
          <p:cNvSpPr/>
          <p:nvPr/>
        </p:nvSpPr>
        <p:spPr>
          <a:xfrm>
            <a:off x="6483096" y="1481328"/>
            <a:ext cx="566928" cy="786384"/>
          </a:xfrm>
          <a:prstGeom prst="rect">
            <a:avLst/>
          </a:prstGeom>
          <a:noFill/>
          <a:ln/>
        </p:spPr>
        <p:txBody>
          <a:bodyPr wrap="square" lIns="0" tIns="0" rIns="0" bIns="0" rtlCol="0" anchor="ctr"/>
          <a:lstStyle/>
          <a:p>
            <a:pPr marL="0" indent="0" algn="l">
              <a:buNone/>
            </a:pPr>
            <a:r>
              <a:rPr lang="en-US" sz="1900" b="1" dirty="0">
                <a:solidFill>
                  <a:srgbClr val="5E4A3C"/>
                </a:solidFill>
                <a:latin typeface="Cambria" pitchFamily="34" charset="0"/>
                <a:ea typeface="Cambria" pitchFamily="34" charset="-122"/>
                <a:cs typeface="Cambria" pitchFamily="34" charset="-120"/>
              </a:rPr>
              <a:t>06</a:t>
            </a:r>
            <a:endParaRPr lang="en-US" sz="1900" dirty="0"/>
          </a:p>
        </p:txBody>
      </p:sp>
      <p:sp>
        <p:nvSpPr>
          <p:cNvPr id="28" name="Text 26"/>
          <p:cNvSpPr/>
          <p:nvPr/>
        </p:nvSpPr>
        <p:spPr>
          <a:xfrm>
            <a:off x="7123176" y="1581912"/>
            <a:ext cx="4297680" cy="320040"/>
          </a:xfrm>
          <a:prstGeom prst="rect">
            <a:avLst/>
          </a:prstGeom>
          <a:noFill/>
          <a:ln/>
        </p:spPr>
        <p:txBody>
          <a:bodyPr wrap="square" lIns="0" tIns="0" rIns="0" bIns="0" rtlCol="0" anchor="ctr"/>
          <a:lstStyle/>
          <a:p>
            <a:pPr marL="0" indent="0" algn="l">
              <a:buNone/>
            </a:pPr>
            <a:r>
              <a:rPr lang="en-US" sz="1400" b="1" dirty="0">
                <a:solidFill>
                  <a:srgbClr val="231E1A"/>
                </a:solidFill>
                <a:latin typeface="Calibri" pitchFamily="34" charset="0"/>
                <a:ea typeface="Calibri" pitchFamily="34" charset="-122"/>
                <a:cs typeface="Calibri" pitchFamily="34" charset="-120"/>
              </a:rPr>
              <a:t>Models Benchmarked</a:t>
            </a:r>
            <a:endParaRPr lang="en-US" sz="1400" dirty="0"/>
          </a:p>
        </p:txBody>
      </p:sp>
      <p:sp>
        <p:nvSpPr>
          <p:cNvPr id="29" name="Text 27"/>
          <p:cNvSpPr/>
          <p:nvPr/>
        </p:nvSpPr>
        <p:spPr>
          <a:xfrm>
            <a:off x="7123176" y="1883664"/>
            <a:ext cx="4297680" cy="292608"/>
          </a:xfrm>
          <a:prstGeom prst="rect">
            <a:avLst/>
          </a:prstGeom>
          <a:noFill/>
          <a:ln/>
        </p:spPr>
        <p:txBody>
          <a:bodyPr wrap="square" lIns="0" tIns="0" rIns="0" bIns="0" rtlCol="0" anchor="ctr"/>
          <a:lstStyle/>
          <a:p>
            <a:pPr marL="0" indent="0" algn="l">
              <a:buNone/>
            </a:pPr>
            <a:r>
              <a:rPr lang="en-US" sz="1100" dirty="0">
                <a:solidFill>
                  <a:srgbClr val="8A7C6E"/>
                </a:solidFill>
                <a:latin typeface="Calibri" pitchFamily="34" charset="0"/>
                <a:ea typeface="Calibri" pitchFamily="34" charset="-122"/>
                <a:cs typeface="Calibri" pitchFamily="34" charset="-120"/>
              </a:rPr>
              <a:t>Rules baseline plus eight configurations</a:t>
            </a:r>
            <a:endParaRPr lang="en-US" sz="1100" dirty="0"/>
          </a:p>
        </p:txBody>
      </p:sp>
      <p:sp>
        <p:nvSpPr>
          <p:cNvPr id="30" name="Shape 28"/>
          <p:cNvSpPr/>
          <p:nvPr/>
        </p:nvSpPr>
        <p:spPr>
          <a:xfrm>
            <a:off x="6355080" y="2450592"/>
            <a:ext cx="5230368" cy="786384"/>
          </a:xfrm>
          <a:prstGeom prst="rect">
            <a:avLst/>
          </a:prstGeom>
          <a:solidFill>
            <a:srgbClr val="EFE9E0"/>
          </a:solidFill>
          <a:ln/>
        </p:spPr>
      </p:sp>
      <p:sp>
        <p:nvSpPr>
          <p:cNvPr id="31" name="Text 29"/>
          <p:cNvSpPr/>
          <p:nvPr/>
        </p:nvSpPr>
        <p:spPr>
          <a:xfrm>
            <a:off x="6483096" y="2450592"/>
            <a:ext cx="566928" cy="786384"/>
          </a:xfrm>
          <a:prstGeom prst="rect">
            <a:avLst/>
          </a:prstGeom>
          <a:noFill/>
          <a:ln/>
        </p:spPr>
        <p:txBody>
          <a:bodyPr wrap="square" lIns="0" tIns="0" rIns="0" bIns="0" rtlCol="0" anchor="ctr"/>
          <a:lstStyle/>
          <a:p>
            <a:pPr marL="0" indent="0" algn="l">
              <a:buNone/>
            </a:pPr>
            <a:r>
              <a:rPr lang="en-US" sz="1900" b="1" dirty="0">
                <a:solidFill>
                  <a:srgbClr val="5E4A3C"/>
                </a:solidFill>
                <a:latin typeface="Cambria" pitchFamily="34" charset="0"/>
                <a:ea typeface="Cambria" pitchFamily="34" charset="-122"/>
                <a:cs typeface="Cambria" pitchFamily="34" charset="-120"/>
              </a:rPr>
              <a:t>07</a:t>
            </a:r>
            <a:endParaRPr lang="en-US" sz="1900" dirty="0"/>
          </a:p>
        </p:txBody>
      </p:sp>
      <p:sp>
        <p:nvSpPr>
          <p:cNvPr id="32" name="Text 30"/>
          <p:cNvSpPr/>
          <p:nvPr/>
        </p:nvSpPr>
        <p:spPr>
          <a:xfrm>
            <a:off x="7123176" y="2551176"/>
            <a:ext cx="4297680" cy="320040"/>
          </a:xfrm>
          <a:prstGeom prst="rect">
            <a:avLst/>
          </a:prstGeom>
          <a:noFill/>
          <a:ln/>
        </p:spPr>
        <p:txBody>
          <a:bodyPr wrap="square" lIns="0" tIns="0" rIns="0" bIns="0" rtlCol="0" anchor="ctr"/>
          <a:lstStyle/>
          <a:p>
            <a:pPr marL="0" indent="0" algn="l">
              <a:buNone/>
            </a:pPr>
            <a:r>
              <a:rPr lang="en-US" sz="1400" b="1" dirty="0">
                <a:solidFill>
                  <a:srgbClr val="231E1A"/>
                </a:solidFill>
                <a:latin typeface="Calibri" pitchFamily="34" charset="0"/>
                <a:ea typeface="Calibri" pitchFamily="34" charset="-122"/>
                <a:cs typeface="Calibri" pitchFamily="34" charset="-120"/>
              </a:rPr>
              <a:t>Results — RQ1</a:t>
            </a:r>
            <a:endParaRPr lang="en-US" sz="1400" dirty="0"/>
          </a:p>
        </p:txBody>
      </p:sp>
      <p:sp>
        <p:nvSpPr>
          <p:cNvPr id="33" name="Text 31"/>
          <p:cNvSpPr/>
          <p:nvPr/>
        </p:nvSpPr>
        <p:spPr>
          <a:xfrm>
            <a:off x="7123176" y="2852928"/>
            <a:ext cx="4297680" cy="292608"/>
          </a:xfrm>
          <a:prstGeom prst="rect">
            <a:avLst/>
          </a:prstGeom>
          <a:noFill/>
          <a:ln/>
        </p:spPr>
        <p:txBody>
          <a:bodyPr wrap="square" lIns="0" tIns="0" rIns="0" bIns="0" rtlCol="0" anchor="ctr"/>
          <a:lstStyle/>
          <a:p>
            <a:pPr marL="0" indent="0" algn="l">
              <a:buNone/>
            </a:pPr>
            <a:r>
              <a:rPr lang="en-US" sz="1100" dirty="0">
                <a:solidFill>
                  <a:srgbClr val="8A7C6E"/>
                </a:solidFill>
                <a:latin typeface="Calibri" pitchFamily="34" charset="0"/>
                <a:ea typeface="Calibri" pitchFamily="34" charset="-122"/>
                <a:cs typeface="Calibri" pitchFamily="34" charset="-120"/>
              </a:rPr>
              <a:t>Machine learning versus typology rules</a:t>
            </a:r>
            <a:endParaRPr lang="en-US" sz="1100" dirty="0"/>
          </a:p>
        </p:txBody>
      </p:sp>
      <p:sp>
        <p:nvSpPr>
          <p:cNvPr id="34" name="Shape 32"/>
          <p:cNvSpPr/>
          <p:nvPr/>
        </p:nvSpPr>
        <p:spPr>
          <a:xfrm>
            <a:off x="6355080" y="3419856"/>
            <a:ext cx="5230368" cy="786384"/>
          </a:xfrm>
          <a:prstGeom prst="rect">
            <a:avLst/>
          </a:prstGeom>
          <a:solidFill>
            <a:srgbClr val="F7F4EF"/>
          </a:solidFill>
          <a:ln/>
        </p:spPr>
      </p:sp>
      <p:sp>
        <p:nvSpPr>
          <p:cNvPr id="35" name="Text 33"/>
          <p:cNvSpPr/>
          <p:nvPr/>
        </p:nvSpPr>
        <p:spPr>
          <a:xfrm>
            <a:off x="6483096" y="3419856"/>
            <a:ext cx="566928" cy="786384"/>
          </a:xfrm>
          <a:prstGeom prst="rect">
            <a:avLst/>
          </a:prstGeom>
          <a:noFill/>
          <a:ln/>
        </p:spPr>
        <p:txBody>
          <a:bodyPr wrap="square" lIns="0" tIns="0" rIns="0" bIns="0" rtlCol="0" anchor="ctr"/>
          <a:lstStyle/>
          <a:p>
            <a:pPr marL="0" indent="0" algn="l">
              <a:buNone/>
            </a:pPr>
            <a:r>
              <a:rPr lang="en-US" sz="1900" b="1" dirty="0">
                <a:solidFill>
                  <a:srgbClr val="5E4A3C"/>
                </a:solidFill>
                <a:latin typeface="Cambria" pitchFamily="34" charset="0"/>
                <a:ea typeface="Cambria" pitchFamily="34" charset="-122"/>
                <a:cs typeface="Cambria" pitchFamily="34" charset="-120"/>
              </a:rPr>
              <a:t>08</a:t>
            </a:r>
            <a:endParaRPr lang="en-US" sz="1900" dirty="0"/>
          </a:p>
        </p:txBody>
      </p:sp>
      <p:sp>
        <p:nvSpPr>
          <p:cNvPr id="36" name="Text 34"/>
          <p:cNvSpPr/>
          <p:nvPr/>
        </p:nvSpPr>
        <p:spPr>
          <a:xfrm>
            <a:off x="7123176" y="3520440"/>
            <a:ext cx="4297680" cy="320040"/>
          </a:xfrm>
          <a:prstGeom prst="rect">
            <a:avLst/>
          </a:prstGeom>
          <a:noFill/>
          <a:ln/>
        </p:spPr>
        <p:txBody>
          <a:bodyPr wrap="square" lIns="0" tIns="0" rIns="0" bIns="0" rtlCol="0" anchor="ctr"/>
          <a:lstStyle/>
          <a:p>
            <a:pPr marL="0" indent="0" algn="l">
              <a:buNone/>
            </a:pPr>
            <a:r>
              <a:rPr lang="en-US" sz="1400" b="1" dirty="0">
                <a:solidFill>
                  <a:srgbClr val="231E1A"/>
                </a:solidFill>
                <a:latin typeface="Calibri" pitchFamily="34" charset="0"/>
                <a:ea typeface="Calibri" pitchFamily="34" charset="-122"/>
                <a:cs typeface="Calibri" pitchFamily="34" charset="-120"/>
              </a:rPr>
              <a:t>Results — RQ2 &amp; RQ3</a:t>
            </a:r>
            <a:endParaRPr lang="en-US" sz="1400" dirty="0"/>
          </a:p>
        </p:txBody>
      </p:sp>
      <p:sp>
        <p:nvSpPr>
          <p:cNvPr id="37" name="Text 35"/>
          <p:cNvSpPr/>
          <p:nvPr/>
        </p:nvSpPr>
        <p:spPr>
          <a:xfrm>
            <a:off x="7123176" y="3822192"/>
            <a:ext cx="4297680" cy="292608"/>
          </a:xfrm>
          <a:prstGeom prst="rect">
            <a:avLst/>
          </a:prstGeom>
          <a:noFill/>
          <a:ln/>
        </p:spPr>
        <p:txBody>
          <a:bodyPr wrap="square" lIns="0" tIns="0" rIns="0" bIns="0" rtlCol="0" anchor="ctr"/>
          <a:lstStyle/>
          <a:p>
            <a:pPr marL="0" indent="0" algn="l">
              <a:buNone/>
            </a:pPr>
            <a:r>
              <a:rPr lang="en-US" sz="1100" dirty="0">
                <a:solidFill>
                  <a:srgbClr val="8A7C6E"/>
                </a:solidFill>
                <a:latin typeface="Calibri" pitchFamily="34" charset="0"/>
                <a:ea typeface="Calibri" pitchFamily="34" charset="-122"/>
                <a:cs typeface="Calibri" pitchFamily="34" charset="-120"/>
              </a:rPr>
              <a:t>Cost-sensitive vs SMOTE; regime comparison</a:t>
            </a:r>
            <a:endParaRPr lang="en-US" sz="1100" dirty="0"/>
          </a:p>
        </p:txBody>
      </p:sp>
      <p:sp>
        <p:nvSpPr>
          <p:cNvPr id="38" name="Shape 36"/>
          <p:cNvSpPr/>
          <p:nvPr/>
        </p:nvSpPr>
        <p:spPr>
          <a:xfrm>
            <a:off x="6355080" y="4389120"/>
            <a:ext cx="5230368" cy="786384"/>
          </a:xfrm>
          <a:prstGeom prst="rect">
            <a:avLst/>
          </a:prstGeom>
          <a:solidFill>
            <a:srgbClr val="EFE9E0"/>
          </a:solidFill>
          <a:ln/>
        </p:spPr>
      </p:sp>
      <p:sp>
        <p:nvSpPr>
          <p:cNvPr id="39" name="Text 37"/>
          <p:cNvSpPr/>
          <p:nvPr/>
        </p:nvSpPr>
        <p:spPr>
          <a:xfrm>
            <a:off x="6483096" y="4389120"/>
            <a:ext cx="566928" cy="786384"/>
          </a:xfrm>
          <a:prstGeom prst="rect">
            <a:avLst/>
          </a:prstGeom>
          <a:noFill/>
          <a:ln/>
        </p:spPr>
        <p:txBody>
          <a:bodyPr wrap="square" lIns="0" tIns="0" rIns="0" bIns="0" rtlCol="0" anchor="ctr"/>
          <a:lstStyle/>
          <a:p>
            <a:pPr marL="0" indent="0" algn="l">
              <a:buNone/>
            </a:pPr>
            <a:r>
              <a:rPr lang="en-US" sz="1900" b="1" dirty="0">
                <a:solidFill>
                  <a:srgbClr val="5E4A3C"/>
                </a:solidFill>
                <a:latin typeface="Cambria" pitchFamily="34" charset="0"/>
                <a:ea typeface="Cambria" pitchFamily="34" charset="-122"/>
                <a:cs typeface="Cambria" pitchFamily="34" charset="-120"/>
              </a:rPr>
              <a:t>09</a:t>
            </a:r>
            <a:endParaRPr lang="en-US" sz="1900" dirty="0"/>
          </a:p>
        </p:txBody>
      </p:sp>
      <p:sp>
        <p:nvSpPr>
          <p:cNvPr id="40" name="Text 38"/>
          <p:cNvSpPr/>
          <p:nvPr/>
        </p:nvSpPr>
        <p:spPr>
          <a:xfrm>
            <a:off x="7123176" y="4489704"/>
            <a:ext cx="4297680" cy="320040"/>
          </a:xfrm>
          <a:prstGeom prst="rect">
            <a:avLst/>
          </a:prstGeom>
          <a:noFill/>
          <a:ln/>
        </p:spPr>
        <p:txBody>
          <a:bodyPr wrap="square" lIns="0" tIns="0" rIns="0" bIns="0" rtlCol="0" anchor="ctr"/>
          <a:lstStyle/>
          <a:p>
            <a:pPr marL="0" indent="0" algn="l">
              <a:buNone/>
            </a:pPr>
            <a:r>
              <a:rPr lang="en-US" sz="1400" b="1" dirty="0">
                <a:solidFill>
                  <a:srgbClr val="231E1A"/>
                </a:solidFill>
                <a:latin typeface="Calibri" pitchFamily="34" charset="0"/>
                <a:ea typeface="Calibri" pitchFamily="34" charset="-122"/>
                <a:cs typeface="Calibri" pitchFamily="34" charset="-120"/>
              </a:rPr>
              <a:t>Explainability</a:t>
            </a:r>
            <a:endParaRPr lang="en-US" sz="1400" dirty="0"/>
          </a:p>
        </p:txBody>
      </p:sp>
      <p:sp>
        <p:nvSpPr>
          <p:cNvPr id="41" name="Text 39"/>
          <p:cNvSpPr/>
          <p:nvPr/>
        </p:nvSpPr>
        <p:spPr>
          <a:xfrm>
            <a:off x="7123176" y="4791456"/>
            <a:ext cx="4297680" cy="292608"/>
          </a:xfrm>
          <a:prstGeom prst="rect">
            <a:avLst/>
          </a:prstGeom>
          <a:noFill/>
          <a:ln/>
        </p:spPr>
        <p:txBody>
          <a:bodyPr wrap="square" lIns="0" tIns="0" rIns="0" bIns="0" rtlCol="0" anchor="ctr"/>
          <a:lstStyle/>
          <a:p>
            <a:pPr marL="0" indent="0" algn="l">
              <a:buNone/>
            </a:pPr>
            <a:r>
              <a:rPr lang="en-US" sz="1100" dirty="0">
                <a:solidFill>
                  <a:srgbClr val="8A7C6E"/>
                </a:solidFill>
                <a:latin typeface="Calibri" pitchFamily="34" charset="0"/>
                <a:ea typeface="Calibri" pitchFamily="34" charset="-122"/>
                <a:cs typeface="Calibri" pitchFamily="34" charset="-120"/>
              </a:rPr>
              <a:t>SHAP attributions and reason codes</a:t>
            </a:r>
            <a:endParaRPr lang="en-US" sz="1100" dirty="0"/>
          </a:p>
        </p:txBody>
      </p:sp>
      <p:sp>
        <p:nvSpPr>
          <p:cNvPr id="42" name="Shape 40"/>
          <p:cNvSpPr/>
          <p:nvPr/>
        </p:nvSpPr>
        <p:spPr>
          <a:xfrm>
            <a:off x="6355080" y="5358384"/>
            <a:ext cx="5230368" cy="786384"/>
          </a:xfrm>
          <a:prstGeom prst="rect">
            <a:avLst/>
          </a:prstGeom>
          <a:solidFill>
            <a:srgbClr val="F7F4EF"/>
          </a:solidFill>
          <a:ln/>
        </p:spPr>
      </p:sp>
      <p:sp>
        <p:nvSpPr>
          <p:cNvPr id="43" name="Text 41"/>
          <p:cNvSpPr/>
          <p:nvPr/>
        </p:nvSpPr>
        <p:spPr>
          <a:xfrm>
            <a:off x="6483096" y="5358384"/>
            <a:ext cx="566928" cy="786384"/>
          </a:xfrm>
          <a:prstGeom prst="rect">
            <a:avLst/>
          </a:prstGeom>
          <a:noFill/>
          <a:ln/>
        </p:spPr>
        <p:txBody>
          <a:bodyPr wrap="square" lIns="0" tIns="0" rIns="0" bIns="0" rtlCol="0" anchor="ctr"/>
          <a:lstStyle/>
          <a:p>
            <a:pPr marL="0" indent="0" algn="l">
              <a:buNone/>
            </a:pPr>
            <a:r>
              <a:rPr lang="en-US" sz="1900" b="1" dirty="0">
                <a:solidFill>
                  <a:srgbClr val="5E4A3C"/>
                </a:solidFill>
                <a:latin typeface="Cambria" pitchFamily="34" charset="0"/>
                <a:ea typeface="Cambria" pitchFamily="34" charset="-122"/>
                <a:cs typeface="Cambria" pitchFamily="34" charset="-120"/>
              </a:rPr>
              <a:t>10</a:t>
            </a:r>
            <a:endParaRPr lang="en-US" sz="1900" dirty="0"/>
          </a:p>
        </p:txBody>
      </p:sp>
      <p:sp>
        <p:nvSpPr>
          <p:cNvPr id="44" name="Text 42"/>
          <p:cNvSpPr/>
          <p:nvPr/>
        </p:nvSpPr>
        <p:spPr>
          <a:xfrm>
            <a:off x="7123176" y="5458968"/>
            <a:ext cx="4297680" cy="320040"/>
          </a:xfrm>
          <a:prstGeom prst="rect">
            <a:avLst/>
          </a:prstGeom>
          <a:noFill/>
          <a:ln/>
        </p:spPr>
        <p:txBody>
          <a:bodyPr wrap="square" lIns="0" tIns="0" rIns="0" bIns="0" rtlCol="0" anchor="ctr"/>
          <a:lstStyle/>
          <a:p>
            <a:pPr marL="0" indent="0" algn="l">
              <a:buNone/>
            </a:pPr>
            <a:r>
              <a:rPr lang="en-US" sz="1400" b="1" dirty="0">
                <a:solidFill>
                  <a:srgbClr val="231E1A"/>
                </a:solidFill>
                <a:latin typeface="Calibri" pitchFamily="34" charset="0"/>
                <a:ea typeface="Calibri" pitchFamily="34" charset="-122"/>
                <a:cs typeface="Calibri" pitchFamily="34" charset="-120"/>
              </a:rPr>
              <a:t>Conclusions</a:t>
            </a:r>
            <a:endParaRPr lang="en-US" sz="1400" dirty="0"/>
          </a:p>
        </p:txBody>
      </p:sp>
      <p:sp>
        <p:nvSpPr>
          <p:cNvPr id="45" name="Text 43"/>
          <p:cNvSpPr/>
          <p:nvPr/>
        </p:nvSpPr>
        <p:spPr>
          <a:xfrm>
            <a:off x="7123176" y="5760720"/>
            <a:ext cx="4297680" cy="292608"/>
          </a:xfrm>
          <a:prstGeom prst="rect">
            <a:avLst/>
          </a:prstGeom>
          <a:noFill/>
          <a:ln/>
        </p:spPr>
        <p:txBody>
          <a:bodyPr wrap="square" lIns="0" tIns="0" rIns="0" bIns="0" rtlCol="0" anchor="ctr"/>
          <a:lstStyle/>
          <a:p>
            <a:pPr marL="0" indent="0" algn="l">
              <a:buNone/>
            </a:pPr>
            <a:r>
              <a:rPr lang="en-US" sz="1100" dirty="0">
                <a:solidFill>
                  <a:srgbClr val="8A7C6E"/>
                </a:solidFill>
                <a:latin typeface="Calibri" pitchFamily="34" charset="0"/>
                <a:ea typeface="Calibri" pitchFamily="34" charset="-122"/>
                <a:cs typeface="Calibri" pitchFamily="34" charset="-120"/>
              </a:rPr>
              <a:t>Findings, limitations and future work</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rect">
            <a:avLst/>
          </a:prstGeom>
          <a:solidFill>
            <a:srgbClr val="5E4A3C"/>
          </a:solidFill>
          <a:ln/>
        </p:spPr>
      </p:sp>
      <p:sp>
        <p:nvSpPr>
          <p:cNvPr id="3" name="Text 1"/>
          <p:cNvSpPr/>
          <p:nvPr/>
        </p:nvSpPr>
        <p:spPr>
          <a:xfrm>
            <a:off x="548640" y="384048"/>
            <a:ext cx="566928" cy="566928"/>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4" name="Text 2"/>
          <p:cNvSpPr/>
          <p:nvPr/>
        </p:nvSpPr>
        <p:spPr>
          <a:xfrm>
            <a:off x="1298448" y="365760"/>
            <a:ext cx="10241280" cy="457200"/>
          </a:xfrm>
          <a:prstGeom prst="rect">
            <a:avLst/>
          </a:prstGeom>
          <a:noFill/>
          <a:ln/>
        </p:spPr>
        <p:txBody>
          <a:bodyPr wrap="square" lIns="0" tIns="0" rIns="0" bIns="0" rtlCol="0" anchor="ctr"/>
          <a:lstStyle/>
          <a:p>
            <a:pPr marL="0" indent="0" algn="l">
              <a:buNone/>
            </a:pPr>
            <a:r>
              <a:rPr lang="en-US" sz="3000" b="1" dirty="0">
                <a:solidFill>
                  <a:srgbClr val="231E1A"/>
                </a:solidFill>
                <a:latin typeface="Cambria" pitchFamily="34" charset="0"/>
                <a:ea typeface="Cambria" pitchFamily="34" charset="-122"/>
                <a:cs typeface="Cambria" pitchFamily="34" charset="-120"/>
              </a:rPr>
              <a:t>The Problem</a:t>
            </a:r>
            <a:endParaRPr lang="en-US" sz="3000" dirty="0"/>
          </a:p>
        </p:txBody>
      </p:sp>
      <p:sp>
        <p:nvSpPr>
          <p:cNvPr id="5" name="Text 3"/>
          <p:cNvSpPr/>
          <p:nvPr/>
        </p:nvSpPr>
        <p:spPr>
          <a:xfrm>
            <a:off x="1298448" y="841248"/>
            <a:ext cx="10241280" cy="292608"/>
          </a:xfrm>
          <a:prstGeom prst="rect">
            <a:avLst/>
          </a:prstGeom>
          <a:noFill/>
          <a:ln/>
        </p:spPr>
        <p:txBody>
          <a:bodyPr wrap="square" lIns="0" tIns="0" rIns="0" bIns="0" rtlCol="0" anchor="ctr"/>
          <a:lstStyle/>
          <a:p>
            <a:pPr marL="0" indent="0" algn="l">
              <a:buNone/>
            </a:pPr>
            <a:r>
              <a:rPr lang="en-US" sz="1300" i="1" dirty="0">
                <a:solidFill>
                  <a:srgbClr val="8A7C6E"/>
                </a:solidFill>
                <a:latin typeface="Calibri" pitchFamily="34" charset="0"/>
                <a:ea typeface="Calibri" pitchFamily="34" charset="-122"/>
                <a:cs typeface="Calibri" pitchFamily="34" charset="-120"/>
              </a:rPr>
              <a:t>Compliance spend is high; alert quality is not</a:t>
            </a:r>
            <a:endParaRPr lang="en-US" sz="1300" dirty="0"/>
          </a:p>
        </p:txBody>
      </p:sp>
      <p:sp>
        <p:nvSpPr>
          <p:cNvPr id="6" name="Shape 4"/>
          <p:cNvSpPr/>
          <p:nvPr/>
        </p:nvSpPr>
        <p:spPr>
          <a:xfrm>
            <a:off x="566928" y="1536192"/>
            <a:ext cx="3291840" cy="1572768"/>
          </a:xfrm>
          <a:prstGeom prst="rect">
            <a:avLst/>
          </a:prstGeom>
          <a:solidFill>
            <a:srgbClr val="EFE9E0"/>
          </a:solidFill>
          <a:ln/>
        </p:spPr>
      </p:sp>
      <p:sp>
        <p:nvSpPr>
          <p:cNvPr id="7" name="Text 5"/>
          <p:cNvSpPr/>
          <p:nvPr/>
        </p:nvSpPr>
        <p:spPr>
          <a:xfrm>
            <a:off x="566928" y="1700784"/>
            <a:ext cx="3291840" cy="786384"/>
          </a:xfrm>
          <a:prstGeom prst="rect">
            <a:avLst/>
          </a:prstGeom>
          <a:noFill/>
          <a:ln/>
        </p:spPr>
        <p:txBody>
          <a:bodyPr wrap="square" lIns="0" tIns="0" rIns="0" bIns="0" rtlCol="0" anchor="ctr"/>
          <a:lstStyle/>
          <a:p>
            <a:pPr marL="0" indent="0" algn="ctr">
              <a:buNone/>
            </a:pPr>
            <a:r>
              <a:rPr lang="en-US" sz="3400" b="1" dirty="0">
                <a:solidFill>
                  <a:srgbClr val="5E4A3C"/>
                </a:solidFill>
                <a:latin typeface="Cambria" pitchFamily="34" charset="0"/>
                <a:ea typeface="Cambria" pitchFamily="34" charset="-122"/>
                <a:cs typeface="Cambria" pitchFamily="34" charset="-120"/>
              </a:rPr>
              <a:t>$274bn</a:t>
            </a:r>
            <a:endParaRPr lang="en-US" sz="3400" dirty="0"/>
          </a:p>
        </p:txBody>
      </p:sp>
      <p:sp>
        <p:nvSpPr>
          <p:cNvPr id="8" name="Text 6"/>
          <p:cNvSpPr/>
          <p:nvPr/>
        </p:nvSpPr>
        <p:spPr>
          <a:xfrm>
            <a:off x="676656" y="2416942"/>
            <a:ext cx="3072384" cy="566196"/>
          </a:xfrm>
          <a:prstGeom prst="rect">
            <a:avLst/>
          </a:prstGeom>
          <a:noFill/>
          <a:ln/>
        </p:spPr>
        <p:txBody>
          <a:bodyPr wrap="square" lIns="0" tIns="0" rIns="0" bIns="0" rtlCol="0" anchor="t"/>
          <a:lstStyle/>
          <a:p>
            <a:pPr marL="0" indent="0" algn="ctr">
              <a:buNone/>
            </a:pPr>
            <a:r>
              <a:rPr lang="en-US" sz="1100" dirty="0">
                <a:solidFill>
                  <a:srgbClr val="231E1A"/>
                </a:solidFill>
                <a:latin typeface="Calibri" pitchFamily="34" charset="0"/>
                <a:ea typeface="Calibri" pitchFamily="34" charset="-122"/>
                <a:cs typeface="Calibri" pitchFamily="34" charset="-120"/>
              </a:rPr>
              <a:t>Global AML compliance spend, 2022</a:t>
            </a:r>
            <a:endParaRPr lang="en-US" sz="1100" dirty="0"/>
          </a:p>
          <a:p>
            <a:pPr marL="0" indent="0" algn="ctr">
              <a:buNone/>
            </a:pPr>
            <a:r>
              <a:rPr lang="en-US" sz="1100" dirty="0">
                <a:solidFill>
                  <a:srgbClr val="231E1A"/>
                </a:solidFill>
                <a:latin typeface="Calibri" pitchFamily="34" charset="0"/>
                <a:ea typeface="Calibri" pitchFamily="34" charset="-122"/>
                <a:cs typeface="Calibri" pitchFamily="34" charset="-120"/>
              </a:rPr>
              <a:t>(LexisNexis Risk Solutions)</a:t>
            </a:r>
            <a:endParaRPr lang="en-US" sz="1100" dirty="0"/>
          </a:p>
        </p:txBody>
      </p:sp>
      <p:sp>
        <p:nvSpPr>
          <p:cNvPr id="9" name="Shape 7"/>
          <p:cNvSpPr/>
          <p:nvPr/>
        </p:nvSpPr>
        <p:spPr>
          <a:xfrm>
            <a:off x="4041648" y="1536192"/>
            <a:ext cx="3291840" cy="1572768"/>
          </a:xfrm>
          <a:prstGeom prst="rect">
            <a:avLst/>
          </a:prstGeom>
          <a:solidFill>
            <a:srgbClr val="EFE9E0"/>
          </a:solidFill>
          <a:ln/>
        </p:spPr>
      </p:sp>
      <p:sp>
        <p:nvSpPr>
          <p:cNvPr id="10" name="Text 8"/>
          <p:cNvSpPr/>
          <p:nvPr/>
        </p:nvSpPr>
        <p:spPr>
          <a:xfrm>
            <a:off x="4041648" y="1700784"/>
            <a:ext cx="3291840" cy="786384"/>
          </a:xfrm>
          <a:prstGeom prst="rect">
            <a:avLst/>
          </a:prstGeom>
          <a:noFill/>
          <a:ln/>
        </p:spPr>
        <p:txBody>
          <a:bodyPr wrap="square" lIns="0" tIns="0" rIns="0" bIns="0" rtlCol="0" anchor="ctr"/>
          <a:lstStyle/>
          <a:p>
            <a:pPr marL="0" indent="0" algn="ctr">
              <a:buNone/>
            </a:pPr>
            <a:r>
              <a:rPr lang="en-US" sz="3400" b="1" dirty="0">
                <a:solidFill>
                  <a:srgbClr val="5E4A3C"/>
                </a:solidFill>
                <a:latin typeface="Cambria" pitchFamily="34" charset="0"/>
                <a:ea typeface="Cambria" pitchFamily="34" charset="-122"/>
                <a:cs typeface="Cambria" pitchFamily="34" charset="-120"/>
              </a:rPr>
              <a:t>&gt; 90%</a:t>
            </a:r>
            <a:endParaRPr lang="en-US" sz="3400" dirty="0"/>
          </a:p>
        </p:txBody>
      </p:sp>
      <p:sp>
        <p:nvSpPr>
          <p:cNvPr id="11" name="Text 9"/>
          <p:cNvSpPr/>
          <p:nvPr/>
        </p:nvSpPr>
        <p:spPr>
          <a:xfrm>
            <a:off x="4151376" y="2416942"/>
            <a:ext cx="3072384" cy="566196"/>
          </a:xfrm>
          <a:prstGeom prst="rect">
            <a:avLst/>
          </a:prstGeom>
          <a:noFill/>
          <a:ln/>
        </p:spPr>
        <p:txBody>
          <a:bodyPr wrap="square" lIns="0" tIns="0" rIns="0" bIns="0" rtlCol="0" anchor="t"/>
          <a:lstStyle/>
          <a:p>
            <a:pPr marL="0" indent="0" algn="ctr">
              <a:buNone/>
            </a:pPr>
            <a:r>
              <a:rPr lang="en-US" sz="1100" dirty="0">
                <a:solidFill>
                  <a:srgbClr val="231E1A"/>
                </a:solidFill>
                <a:latin typeface="Calibri" pitchFamily="34" charset="0"/>
                <a:ea typeface="Calibri" pitchFamily="34" charset="-122"/>
                <a:cs typeface="Calibri" pitchFamily="34" charset="-120"/>
              </a:rPr>
              <a:t>False-positive rate in operational</a:t>
            </a:r>
            <a:endParaRPr lang="en-US" sz="1100" dirty="0"/>
          </a:p>
          <a:p>
            <a:pPr marL="0" indent="0" algn="ctr">
              <a:buNone/>
            </a:pPr>
            <a:r>
              <a:rPr lang="en-US" sz="1100" dirty="0">
                <a:solidFill>
                  <a:srgbClr val="231E1A"/>
                </a:solidFill>
                <a:latin typeface="Calibri" pitchFamily="34" charset="0"/>
                <a:ea typeface="Calibri" pitchFamily="34" charset="-122"/>
                <a:cs typeface="Calibri" pitchFamily="34" charset="-120"/>
              </a:rPr>
              <a:t>rule-based systems (Oztas et al., 2024)</a:t>
            </a:r>
            <a:endParaRPr lang="en-US" sz="1100" dirty="0"/>
          </a:p>
        </p:txBody>
      </p:sp>
      <p:sp>
        <p:nvSpPr>
          <p:cNvPr id="12" name="Shape 10"/>
          <p:cNvSpPr/>
          <p:nvPr/>
        </p:nvSpPr>
        <p:spPr>
          <a:xfrm>
            <a:off x="7516368" y="1536192"/>
            <a:ext cx="4078224" cy="1572768"/>
          </a:xfrm>
          <a:prstGeom prst="rect">
            <a:avLst/>
          </a:prstGeom>
          <a:solidFill>
            <a:srgbClr val="EFE9E0"/>
          </a:solidFill>
          <a:ln/>
        </p:spPr>
      </p:sp>
      <p:sp>
        <p:nvSpPr>
          <p:cNvPr id="13" name="Text 11"/>
          <p:cNvSpPr/>
          <p:nvPr/>
        </p:nvSpPr>
        <p:spPr>
          <a:xfrm>
            <a:off x="7516368" y="1700784"/>
            <a:ext cx="4078224" cy="786384"/>
          </a:xfrm>
          <a:prstGeom prst="rect">
            <a:avLst/>
          </a:prstGeom>
          <a:noFill/>
          <a:ln/>
        </p:spPr>
        <p:txBody>
          <a:bodyPr wrap="square" lIns="0" tIns="0" rIns="0" bIns="0" rtlCol="0" anchor="ctr"/>
          <a:lstStyle/>
          <a:p>
            <a:pPr marL="0" indent="0" algn="ctr">
              <a:buNone/>
            </a:pPr>
            <a:r>
              <a:rPr lang="en-US" sz="3400" b="1" dirty="0">
                <a:solidFill>
                  <a:srgbClr val="5E4A3C"/>
                </a:solidFill>
                <a:latin typeface="Cambria" pitchFamily="34" charset="0"/>
                <a:ea typeface="Cambria" pitchFamily="34" charset="-122"/>
                <a:cs typeface="Cambria" pitchFamily="34" charset="-120"/>
              </a:rPr>
              <a:t>2–5%</a:t>
            </a:r>
            <a:endParaRPr lang="en-US" sz="3400" dirty="0"/>
          </a:p>
        </p:txBody>
      </p:sp>
      <p:sp>
        <p:nvSpPr>
          <p:cNvPr id="14" name="Text 12"/>
          <p:cNvSpPr/>
          <p:nvPr/>
        </p:nvSpPr>
        <p:spPr>
          <a:xfrm>
            <a:off x="7626096" y="2416942"/>
            <a:ext cx="3858768" cy="566196"/>
          </a:xfrm>
          <a:prstGeom prst="rect">
            <a:avLst/>
          </a:prstGeom>
          <a:noFill/>
          <a:ln/>
        </p:spPr>
        <p:txBody>
          <a:bodyPr wrap="square" lIns="0" tIns="0" rIns="0" bIns="0" rtlCol="0" anchor="t"/>
          <a:lstStyle/>
          <a:p>
            <a:pPr marL="0" indent="0" algn="ctr">
              <a:buNone/>
            </a:pPr>
            <a:r>
              <a:rPr lang="en-US" sz="1100" dirty="0">
                <a:solidFill>
                  <a:srgbClr val="231E1A"/>
                </a:solidFill>
                <a:latin typeface="Calibri" pitchFamily="34" charset="0"/>
                <a:ea typeface="Calibri" pitchFamily="34" charset="-122"/>
                <a:cs typeface="Calibri" pitchFamily="34" charset="-120"/>
              </a:rPr>
              <a:t>Share of global GDP laundered</a:t>
            </a:r>
            <a:endParaRPr lang="en-US" sz="1100" dirty="0"/>
          </a:p>
          <a:p>
            <a:pPr marL="0" indent="0" algn="ctr">
              <a:buNone/>
            </a:pPr>
            <a:r>
              <a:rPr lang="en-US" sz="1100" dirty="0">
                <a:solidFill>
                  <a:srgbClr val="231E1A"/>
                </a:solidFill>
                <a:latin typeface="Calibri" pitchFamily="34" charset="0"/>
                <a:ea typeface="Calibri" pitchFamily="34" charset="-122"/>
                <a:cs typeface="Calibri" pitchFamily="34" charset="-120"/>
              </a:rPr>
              <a:t>annually (FATF, 2022)</a:t>
            </a:r>
            <a:endParaRPr lang="en-US" sz="1100" dirty="0"/>
          </a:p>
        </p:txBody>
      </p:sp>
      <p:sp>
        <p:nvSpPr>
          <p:cNvPr id="15" name="Text 13"/>
          <p:cNvSpPr/>
          <p:nvPr/>
        </p:nvSpPr>
        <p:spPr>
          <a:xfrm>
            <a:off x="566928" y="3401568"/>
            <a:ext cx="5212080" cy="310896"/>
          </a:xfrm>
          <a:prstGeom prst="rect">
            <a:avLst/>
          </a:prstGeom>
          <a:noFill/>
          <a:ln/>
        </p:spPr>
        <p:txBody>
          <a:bodyPr wrap="square" lIns="0" tIns="0" rIns="0" bIns="0" rtlCol="0" anchor="ctr"/>
          <a:lstStyle/>
          <a:p>
            <a:pPr marL="0" indent="0" algn="l">
              <a:buNone/>
            </a:pPr>
            <a:r>
              <a:rPr lang="en-US" sz="1700" b="1" dirty="0">
                <a:solidFill>
                  <a:srgbClr val="5E4A3C"/>
                </a:solidFill>
                <a:latin typeface="Cambria" pitchFamily="34" charset="0"/>
                <a:ea typeface="Cambria" pitchFamily="34" charset="-122"/>
                <a:cs typeface="Cambria" pitchFamily="34" charset="-120"/>
              </a:rPr>
              <a:t>Why rules fail</a:t>
            </a:r>
            <a:endParaRPr lang="en-US" sz="1700" dirty="0"/>
          </a:p>
        </p:txBody>
      </p:sp>
      <p:sp>
        <p:nvSpPr>
          <p:cNvPr id="16" name="Text 14"/>
          <p:cNvSpPr/>
          <p:nvPr/>
        </p:nvSpPr>
        <p:spPr>
          <a:xfrm>
            <a:off x="566928" y="3785616"/>
            <a:ext cx="5212080" cy="1828800"/>
          </a:xfrm>
          <a:prstGeom prst="rect">
            <a:avLst/>
          </a:prstGeom>
          <a:noFill/>
          <a:ln/>
        </p:spPr>
        <p:txBody>
          <a:bodyPr wrap="square" lIns="0" tIns="0" rIns="0" bIns="0" rtlCol="0" anchor="ctr"/>
          <a:lstStyle/>
          <a:p>
            <a:pPr marL="342900" indent="-342900" algn="l">
              <a:spcAft>
                <a:spcPts val="800"/>
              </a:spcAft>
              <a:buSzPct val="100000"/>
              <a:buChar char="•"/>
            </a:pPr>
            <a:r>
              <a:rPr lang="en-US" sz="1350" dirty="0">
                <a:solidFill>
                  <a:srgbClr val="231E1A"/>
                </a:solidFill>
                <a:latin typeface="Calibri" pitchFamily="34" charset="0"/>
                <a:ea typeface="Calibri" pitchFamily="34" charset="-122"/>
                <a:cs typeface="Calibri" pitchFamily="34" charset="-120"/>
              </a:rPr>
              <a:t>Static thresholds calibrated on historical typologies</a:t>
            </a:r>
            <a:endParaRPr lang="en-US" sz="1350" dirty="0"/>
          </a:p>
          <a:p>
            <a:pPr marL="342900" indent="-342900" algn="l">
              <a:spcAft>
                <a:spcPts val="800"/>
              </a:spcAft>
              <a:buSzPct val="100000"/>
              <a:buChar char="•"/>
            </a:pPr>
            <a:r>
              <a:rPr lang="en-US" sz="1350" dirty="0">
                <a:solidFill>
                  <a:srgbClr val="231E1A"/>
                </a:solidFill>
                <a:latin typeface="Calibri" pitchFamily="34" charset="0"/>
                <a:ea typeface="Calibri" pitchFamily="34" charset="-122"/>
                <a:cs typeface="Calibri" pitchFamily="34" charset="-120"/>
              </a:rPr>
              <a:t>Multi-hop layering across dozens of accounts is missed</a:t>
            </a:r>
            <a:endParaRPr lang="en-US" sz="1350" dirty="0"/>
          </a:p>
          <a:p>
            <a:pPr marL="342900" indent="-342900" algn="l">
              <a:spcAft>
                <a:spcPts val="800"/>
              </a:spcAft>
              <a:buSzPct val="100000"/>
              <a:buChar char="•"/>
            </a:pPr>
            <a:r>
              <a:rPr lang="en-US" sz="1350" dirty="0">
                <a:solidFill>
                  <a:srgbClr val="231E1A"/>
                </a:solidFill>
                <a:latin typeface="Calibri" pitchFamily="34" charset="0"/>
                <a:ea typeface="Calibri" pitchFamily="34" charset="-122"/>
                <a:cs typeface="Calibri" pitchFamily="34" charset="-120"/>
              </a:rPr>
              <a:t>Structuring just outside a threshold goes undetected</a:t>
            </a:r>
            <a:endParaRPr lang="en-US" sz="1350" dirty="0"/>
          </a:p>
          <a:p>
            <a:pPr marL="342900" indent="-342900" algn="l">
              <a:spcAft>
                <a:spcPts val="800"/>
              </a:spcAft>
              <a:buSzPct val="100000"/>
              <a:buChar char="•"/>
            </a:pPr>
            <a:r>
              <a:rPr lang="en-US" sz="1350" dirty="0">
                <a:solidFill>
                  <a:srgbClr val="231E1A"/>
                </a:solidFill>
                <a:latin typeface="Calibri" pitchFamily="34" charset="0"/>
                <a:ea typeface="Calibri" pitchFamily="34" charset="-122"/>
                <a:cs typeface="Calibri" pitchFamily="34" charset="-120"/>
              </a:rPr>
              <a:t>Continuous expert maintenance as guidance changes</a:t>
            </a:r>
            <a:endParaRPr lang="en-US" sz="1350" dirty="0"/>
          </a:p>
        </p:txBody>
      </p:sp>
      <p:sp>
        <p:nvSpPr>
          <p:cNvPr id="17" name="Text 15"/>
          <p:cNvSpPr/>
          <p:nvPr/>
        </p:nvSpPr>
        <p:spPr>
          <a:xfrm>
            <a:off x="6263640" y="3401568"/>
            <a:ext cx="5330952" cy="310896"/>
          </a:xfrm>
          <a:prstGeom prst="rect">
            <a:avLst/>
          </a:prstGeom>
          <a:noFill/>
          <a:ln/>
        </p:spPr>
        <p:txBody>
          <a:bodyPr wrap="square" lIns="0" tIns="0" rIns="0" bIns="0" rtlCol="0" anchor="ctr"/>
          <a:lstStyle/>
          <a:p>
            <a:pPr marL="0" indent="0" algn="l">
              <a:buNone/>
            </a:pPr>
            <a:r>
              <a:rPr lang="en-US" sz="1700" b="1" dirty="0">
                <a:solidFill>
                  <a:srgbClr val="5E4A3C"/>
                </a:solidFill>
                <a:latin typeface="Cambria" pitchFamily="34" charset="0"/>
                <a:ea typeface="Cambria" pitchFamily="34" charset="-122"/>
                <a:cs typeface="Cambria" pitchFamily="34" charset="-120"/>
              </a:rPr>
              <a:t>Why machine learning alone is not enough</a:t>
            </a:r>
            <a:endParaRPr lang="en-US" sz="1700" dirty="0"/>
          </a:p>
        </p:txBody>
      </p:sp>
      <p:sp>
        <p:nvSpPr>
          <p:cNvPr id="18" name="Shape 16"/>
          <p:cNvSpPr/>
          <p:nvPr/>
        </p:nvSpPr>
        <p:spPr>
          <a:xfrm>
            <a:off x="6263640" y="3785616"/>
            <a:ext cx="5330952" cy="1572768"/>
          </a:xfrm>
          <a:prstGeom prst="rect">
            <a:avLst/>
          </a:prstGeom>
          <a:solidFill>
            <a:srgbClr val="EFE9E0"/>
          </a:solidFill>
          <a:ln/>
        </p:spPr>
      </p:sp>
      <p:sp>
        <p:nvSpPr>
          <p:cNvPr id="19" name="Text 17"/>
          <p:cNvSpPr/>
          <p:nvPr/>
        </p:nvSpPr>
        <p:spPr>
          <a:xfrm>
            <a:off x="6473952" y="3950208"/>
            <a:ext cx="4910328" cy="1243584"/>
          </a:xfrm>
          <a:prstGeom prst="rect">
            <a:avLst/>
          </a:prstGeom>
          <a:noFill/>
          <a:ln/>
        </p:spPr>
        <p:txBody>
          <a:bodyPr wrap="square" lIns="0" tIns="0" rIns="0" bIns="0" rtlCol="0" anchor="ctr"/>
          <a:lstStyle/>
          <a:p>
            <a:pPr marL="0" indent="0" algn="l">
              <a:buNone/>
            </a:pPr>
            <a:r>
              <a:rPr lang="en-US" sz="1350" i="1" dirty="0">
                <a:solidFill>
                  <a:srgbClr val="231E1A"/>
                </a:solidFill>
                <a:latin typeface="Calibri" pitchFamily="34" charset="0"/>
                <a:ea typeface="Calibri" pitchFamily="34" charset="-122"/>
                <a:cs typeface="Calibri" pitchFamily="34" charset="-120"/>
              </a:rPr>
              <a:t>Regulators require an explainable basis for every escalation decision. A model that cannot explain itself is unusable in a regulated environment, regardless of how well it performs.</a:t>
            </a:r>
            <a:endParaRPr lang="en-US" sz="1350" dirty="0"/>
          </a:p>
        </p:txBody>
      </p:sp>
      <p:sp>
        <p:nvSpPr>
          <p:cNvPr id="20" name="Text 18"/>
          <p:cNvSpPr/>
          <p:nvPr/>
        </p:nvSpPr>
        <p:spPr>
          <a:xfrm>
            <a:off x="6263640" y="5431536"/>
            <a:ext cx="5330952" cy="256032"/>
          </a:xfrm>
          <a:prstGeom prst="rect">
            <a:avLst/>
          </a:prstGeom>
          <a:noFill/>
          <a:ln/>
        </p:spPr>
        <p:txBody>
          <a:bodyPr wrap="square" lIns="0" tIns="0" rIns="0" bIns="0" rtlCol="0" anchor="ctr"/>
          <a:lstStyle/>
          <a:p>
            <a:pPr marL="0" indent="0" algn="l">
              <a:buNone/>
            </a:pPr>
            <a:r>
              <a:rPr lang="en-US" sz="1050" dirty="0">
                <a:solidFill>
                  <a:srgbClr val="8A7C6E"/>
                </a:solidFill>
                <a:latin typeface="Calibri" pitchFamily="34" charset="0"/>
                <a:ea typeface="Calibri" pitchFamily="34" charset="-122"/>
                <a:cs typeface="Calibri" pitchFamily="34" charset="-120"/>
              </a:rPr>
              <a:t>Adadi and Berrada (2018); FCA PS7/23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rect">
            <a:avLst/>
          </a:prstGeom>
          <a:solidFill>
            <a:srgbClr val="5E4A3C"/>
          </a:solidFill>
          <a:ln/>
        </p:spPr>
      </p:sp>
      <p:sp>
        <p:nvSpPr>
          <p:cNvPr id="3" name="Text 1"/>
          <p:cNvSpPr/>
          <p:nvPr/>
        </p:nvSpPr>
        <p:spPr>
          <a:xfrm>
            <a:off x="548640" y="384048"/>
            <a:ext cx="566928" cy="566928"/>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4" name="Text 2"/>
          <p:cNvSpPr/>
          <p:nvPr/>
        </p:nvSpPr>
        <p:spPr>
          <a:xfrm>
            <a:off x="1298448" y="365760"/>
            <a:ext cx="10241280" cy="457200"/>
          </a:xfrm>
          <a:prstGeom prst="rect">
            <a:avLst/>
          </a:prstGeom>
          <a:noFill/>
          <a:ln/>
        </p:spPr>
        <p:txBody>
          <a:bodyPr wrap="square" lIns="0" tIns="0" rIns="0" bIns="0" rtlCol="0" anchor="ctr"/>
          <a:lstStyle/>
          <a:p>
            <a:pPr marL="0" indent="0" algn="l">
              <a:buNone/>
            </a:pPr>
            <a:r>
              <a:rPr lang="en-US" sz="3000" b="1" dirty="0">
                <a:solidFill>
                  <a:srgbClr val="231E1A"/>
                </a:solidFill>
                <a:latin typeface="Cambria" pitchFamily="34" charset="0"/>
                <a:ea typeface="Cambria" pitchFamily="34" charset="-122"/>
                <a:cs typeface="Cambria" pitchFamily="34" charset="-120"/>
              </a:rPr>
              <a:t>Research Questions</a:t>
            </a:r>
            <a:endParaRPr lang="en-US" sz="3000" dirty="0"/>
          </a:p>
        </p:txBody>
      </p:sp>
      <p:sp>
        <p:nvSpPr>
          <p:cNvPr id="5" name="Text 3"/>
          <p:cNvSpPr/>
          <p:nvPr/>
        </p:nvSpPr>
        <p:spPr>
          <a:xfrm>
            <a:off x="1298448" y="841248"/>
            <a:ext cx="10241280" cy="292608"/>
          </a:xfrm>
          <a:prstGeom prst="rect">
            <a:avLst/>
          </a:prstGeom>
          <a:noFill/>
          <a:ln/>
        </p:spPr>
        <p:txBody>
          <a:bodyPr wrap="square" lIns="0" tIns="0" rIns="0" bIns="0" rtlCol="0" anchor="ctr"/>
          <a:lstStyle/>
          <a:p>
            <a:pPr marL="0" indent="0" algn="l">
              <a:buNone/>
            </a:pPr>
            <a:r>
              <a:rPr lang="en-US" sz="1300" i="1" dirty="0">
                <a:solidFill>
                  <a:srgbClr val="8A7C6E"/>
                </a:solidFill>
                <a:latin typeface="Calibri" pitchFamily="34" charset="0"/>
                <a:ea typeface="Calibri" pitchFamily="34" charset="-122"/>
                <a:cs typeface="Calibri" pitchFamily="34" charset="-120"/>
              </a:rPr>
              <a:t>Three questions, each answered empirically</a:t>
            </a:r>
            <a:endParaRPr lang="en-US" sz="1300" dirty="0"/>
          </a:p>
        </p:txBody>
      </p:sp>
      <p:sp>
        <p:nvSpPr>
          <p:cNvPr id="6" name="Shape 4"/>
          <p:cNvSpPr/>
          <p:nvPr/>
        </p:nvSpPr>
        <p:spPr>
          <a:xfrm>
            <a:off x="566928" y="1517904"/>
            <a:ext cx="11027664" cy="1097280"/>
          </a:xfrm>
          <a:prstGeom prst="rect">
            <a:avLst/>
          </a:prstGeom>
          <a:solidFill>
            <a:srgbClr val="EFE9E0"/>
          </a:solidFill>
          <a:ln/>
        </p:spPr>
      </p:sp>
      <p:sp>
        <p:nvSpPr>
          <p:cNvPr id="7" name="Text 5"/>
          <p:cNvSpPr/>
          <p:nvPr/>
        </p:nvSpPr>
        <p:spPr>
          <a:xfrm>
            <a:off x="786384" y="1517904"/>
            <a:ext cx="1051560" cy="1097280"/>
          </a:xfrm>
          <a:prstGeom prst="rect">
            <a:avLst/>
          </a:prstGeom>
          <a:noFill/>
          <a:ln/>
        </p:spPr>
        <p:txBody>
          <a:bodyPr wrap="square" lIns="0" tIns="0" rIns="0" bIns="0" rtlCol="0" anchor="ctr"/>
          <a:lstStyle/>
          <a:p>
            <a:pPr marL="0" indent="0" algn="l">
              <a:buNone/>
            </a:pPr>
            <a:r>
              <a:rPr lang="en-US" sz="2600" b="1" dirty="0">
                <a:solidFill>
                  <a:srgbClr val="5E4A3C"/>
                </a:solidFill>
                <a:latin typeface="Cambria" pitchFamily="34" charset="0"/>
                <a:ea typeface="Cambria" pitchFamily="34" charset="-122"/>
                <a:cs typeface="Cambria" pitchFamily="34" charset="-120"/>
              </a:rPr>
              <a:t>RQ1</a:t>
            </a:r>
            <a:endParaRPr lang="en-US" sz="2600" dirty="0"/>
          </a:p>
        </p:txBody>
      </p:sp>
      <p:sp>
        <p:nvSpPr>
          <p:cNvPr id="8" name="Text 6"/>
          <p:cNvSpPr/>
          <p:nvPr/>
        </p:nvSpPr>
        <p:spPr>
          <a:xfrm>
            <a:off x="1874520" y="1627632"/>
            <a:ext cx="9464040" cy="877824"/>
          </a:xfrm>
          <a:prstGeom prst="rect">
            <a:avLst/>
          </a:prstGeom>
          <a:noFill/>
          <a:ln/>
        </p:spPr>
        <p:txBody>
          <a:bodyPr wrap="square" lIns="0" tIns="0" rIns="0" bIns="0" rtlCol="0" anchor="ctr"/>
          <a:lstStyle/>
          <a:p>
            <a:pPr marL="0" indent="0" algn="l">
              <a:buNone/>
            </a:pPr>
            <a:r>
              <a:rPr lang="en-US" sz="1350" dirty="0">
                <a:solidFill>
                  <a:srgbClr val="231E1A"/>
                </a:solidFill>
                <a:latin typeface="Calibri" pitchFamily="34" charset="0"/>
                <a:ea typeface="Calibri" pitchFamily="34" charset="-122"/>
                <a:cs typeface="Calibri" pitchFamily="34" charset="-120"/>
              </a:rPr>
              <a:t>Can cost-sensitive, explainable machine learning increase laundering detection and reduce false positives at a fixed alert capacity, compared with a typology-based rules baseline?</a:t>
            </a:r>
            <a:endParaRPr lang="en-US" sz="1350" dirty="0"/>
          </a:p>
        </p:txBody>
      </p:sp>
      <p:sp>
        <p:nvSpPr>
          <p:cNvPr id="9" name="Shape 7"/>
          <p:cNvSpPr/>
          <p:nvPr/>
        </p:nvSpPr>
        <p:spPr>
          <a:xfrm>
            <a:off x="566928" y="2816352"/>
            <a:ext cx="11027664" cy="1097280"/>
          </a:xfrm>
          <a:prstGeom prst="rect">
            <a:avLst/>
          </a:prstGeom>
          <a:solidFill>
            <a:srgbClr val="F7F4EF"/>
          </a:solidFill>
          <a:ln/>
        </p:spPr>
      </p:sp>
      <p:sp>
        <p:nvSpPr>
          <p:cNvPr id="10" name="Text 8"/>
          <p:cNvSpPr/>
          <p:nvPr/>
        </p:nvSpPr>
        <p:spPr>
          <a:xfrm>
            <a:off x="786384" y="2816352"/>
            <a:ext cx="1051560" cy="1097280"/>
          </a:xfrm>
          <a:prstGeom prst="rect">
            <a:avLst/>
          </a:prstGeom>
          <a:noFill/>
          <a:ln/>
        </p:spPr>
        <p:txBody>
          <a:bodyPr wrap="square" lIns="0" tIns="0" rIns="0" bIns="0" rtlCol="0" anchor="ctr"/>
          <a:lstStyle/>
          <a:p>
            <a:pPr marL="0" indent="0" algn="l">
              <a:buNone/>
            </a:pPr>
            <a:r>
              <a:rPr lang="en-US" sz="2600" b="1" dirty="0">
                <a:solidFill>
                  <a:srgbClr val="5E4A3C"/>
                </a:solidFill>
                <a:latin typeface="Cambria" pitchFamily="34" charset="0"/>
                <a:ea typeface="Cambria" pitchFamily="34" charset="-122"/>
                <a:cs typeface="Cambria" pitchFamily="34" charset="-120"/>
              </a:rPr>
              <a:t>RQ2</a:t>
            </a:r>
            <a:endParaRPr lang="en-US" sz="2600" dirty="0"/>
          </a:p>
        </p:txBody>
      </p:sp>
      <p:sp>
        <p:nvSpPr>
          <p:cNvPr id="11" name="Text 9"/>
          <p:cNvSpPr/>
          <p:nvPr/>
        </p:nvSpPr>
        <p:spPr>
          <a:xfrm>
            <a:off x="1874520" y="2926080"/>
            <a:ext cx="9464040" cy="877824"/>
          </a:xfrm>
          <a:prstGeom prst="rect">
            <a:avLst/>
          </a:prstGeom>
          <a:noFill/>
          <a:ln/>
        </p:spPr>
        <p:txBody>
          <a:bodyPr wrap="square" lIns="0" tIns="0" rIns="0" bIns="0" rtlCol="0" anchor="ctr"/>
          <a:lstStyle/>
          <a:p>
            <a:pPr marL="0" indent="0" algn="l">
              <a:buNone/>
            </a:pPr>
            <a:r>
              <a:rPr lang="en-US" sz="1350" dirty="0">
                <a:solidFill>
                  <a:srgbClr val="231E1A"/>
                </a:solidFill>
                <a:latin typeface="Calibri" pitchFamily="34" charset="0"/>
                <a:ea typeface="Calibri" pitchFamily="34" charset="-122"/>
                <a:cs typeface="Calibri" pitchFamily="34" charset="-120"/>
              </a:rPr>
              <a:t>Can SHAP explanations be translated into regulator-friendly reason codes without detrimentally affecting model performance?</a:t>
            </a:r>
            <a:endParaRPr lang="en-US" sz="1350" dirty="0"/>
          </a:p>
        </p:txBody>
      </p:sp>
      <p:sp>
        <p:nvSpPr>
          <p:cNvPr id="12" name="Shape 10"/>
          <p:cNvSpPr/>
          <p:nvPr/>
        </p:nvSpPr>
        <p:spPr>
          <a:xfrm>
            <a:off x="566928" y="4114800"/>
            <a:ext cx="11027664" cy="1097280"/>
          </a:xfrm>
          <a:prstGeom prst="rect">
            <a:avLst/>
          </a:prstGeom>
          <a:solidFill>
            <a:srgbClr val="EFE9E0"/>
          </a:solidFill>
          <a:ln/>
        </p:spPr>
      </p:sp>
      <p:sp>
        <p:nvSpPr>
          <p:cNvPr id="13" name="Text 11"/>
          <p:cNvSpPr/>
          <p:nvPr/>
        </p:nvSpPr>
        <p:spPr>
          <a:xfrm>
            <a:off x="786384" y="4114800"/>
            <a:ext cx="1051560" cy="1097280"/>
          </a:xfrm>
          <a:prstGeom prst="rect">
            <a:avLst/>
          </a:prstGeom>
          <a:noFill/>
          <a:ln/>
        </p:spPr>
        <p:txBody>
          <a:bodyPr wrap="square" lIns="0" tIns="0" rIns="0" bIns="0" rtlCol="0" anchor="ctr"/>
          <a:lstStyle/>
          <a:p>
            <a:pPr marL="0" indent="0" algn="l">
              <a:buNone/>
            </a:pPr>
            <a:r>
              <a:rPr lang="en-US" sz="2600" b="1" dirty="0">
                <a:solidFill>
                  <a:srgbClr val="5E4A3C"/>
                </a:solidFill>
                <a:latin typeface="Cambria" pitchFamily="34" charset="0"/>
                <a:ea typeface="Cambria" pitchFamily="34" charset="-122"/>
                <a:cs typeface="Cambria" pitchFamily="34" charset="-120"/>
              </a:rPr>
              <a:t>RQ3</a:t>
            </a:r>
            <a:endParaRPr lang="en-US" sz="2600" dirty="0"/>
          </a:p>
        </p:txBody>
      </p:sp>
      <p:sp>
        <p:nvSpPr>
          <p:cNvPr id="14" name="Text 12"/>
          <p:cNvSpPr/>
          <p:nvPr/>
        </p:nvSpPr>
        <p:spPr>
          <a:xfrm>
            <a:off x="1874520" y="4224528"/>
            <a:ext cx="9464040" cy="877824"/>
          </a:xfrm>
          <a:prstGeom prst="rect">
            <a:avLst/>
          </a:prstGeom>
          <a:noFill/>
          <a:ln/>
        </p:spPr>
        <p:txBody>
          <a:bodyPr wrap="square" lIns="0" tIns="0" rIns="0" bIns="0" rtlCol="0" anchor="ctr"/>
          <a:lstStyle/>
          <a:p>
            <a:pPr marL="0" indent="0" algn="l">
              <a:buNone/>
            </a:pPr>
            <a:r>
              <a:rPr lang="en-US" sz="1350" dirty="0">
                <a:solidFill>
                  <a:srgbClr val="231E1A"/>
                </a:solidFill>
                <a:latin typeface="Calibri" pitchFamily="34" charset="0"/>
                <a:ea typeface="Calibri" pitchFamily="34" charset="-122"/>
                <a:cs typeface="Calibri" pitchFamily="34" charset="-120"/>
              </a:rPr>
              <a:t>Which sampling regime — 1:10, 1:5 or 1:1 — most improves model performance, and does that improvement remain operationally realistic?</a:t>
            </a:r>
            <a:endParaRPr lang="en-US" sz="1350" dirty="0"/>
          </a:p>
        </p:txBody>
      </p:sp>
      <p:sp>
        <p:nvSpPr>
          <p:cNvPr id="15" name="Text 13"/>
          <p:cNvSpPr/>
          <p:nvPr/>
        </p:nvSpPr>
        <p:spPr>
          <a:xfrm>
            <a:off x="566928" y="5504688"/>
            <a:ext cx="11027664" cy="365760"/>
          </a:xfrm>
          <a:prstGeom prst="rect">
            <a:avLst/>
          </a:prstGeom>
          <a:noFill/>
          <a:ln/>
        </p:spPr>
        <p:txBody>
          <a:bodyPr wrap="square" lIns="0" tIns="0" rIns="0" bIns="0" rtlCol="0" anchor="ctr"/>
          <a:lstStyle/>
          <a:p>
            <a:pPr marL="0" indent="0" algn="l">
              <a:buNone/>
            </a:pPr>
            <a:r>
              <a:rPr lang="en-US" sz="1300" i="1" dirty="0">
                <a:solidFill>
                  <a:srgbClr val="5E4A3C"/>
                </a:solidFill>
                <a:latin typeface="Calibri" pitchFamily="34" charset="0"/>
                <a:ea typeface="Calibri" pitchFamily="34" charset="-122"/>
                <a:cs typeface="Calibri" pitchFamily="34" charset="-120"/>
              </a:rPr>
              <a:t>Evaluation priority:  Precision-Recall AUC and capacity-constrained operational metrics — not aggregate accuracy.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rect">
            <a:avLst/>
          </a:prstGeom>
          <a:solidFill>
            <a:srgbClr val="5E4A3C"/>
          </a:solidFill>
          <a:ln/>
        </p:spPr>
      </p:sp>
      <p:sp>
        <p:nvSpPr>
          <p:cNvPr id="3" name="Text 1"/>
          <p:cNvSpPr/>
          <p:nvPr/>
        </p:nvSpPr>
        <p:spPr>
          <a:xfrm>
            <a:off x="548640" y="384048"/>
            <a:ext cx="566928" cy="566928"/>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5</a:t>
            </a:r>
            <a:endParaRPr lang="en-US" sz="2400" dirty="0"/>
          </a:p>
        </p:txBody>
      </p:sp>
      <p:sp>
        <p:nvSpPr>
          <p:cNvPr id="4" name="Text 2"/>
          <p:cNvSpPr/>
          <p:nvPr/>
        </p:nvSpPr>
        <p:spPr>
          <a:xfrm>
            <a:off x="1298448" y="365760"/>
            <a:ext cx="10241280" cy="457200"/>
          </a:xfrm>
          <a:prstGeom prst="rect">
            <a:avLst/>
          </a:prstGeom>
          <a:noFill/>
          <a:ln/>
        </p:spPr>
        <p:txBody>
          <a:bodyPr wrap="square" lIns="0" tIns="0" rIns="0" bIns="0" rtlCol="0" anchor="ctr"/>
          <a:lstStyle/>
          <a:p>
            <a:pPr marL="0" indent="0" algn="l">
              <a:buNone/>
            </a:pPr>
            <a:r>
              <a:rPr lang="en-US" sz="3000" b="1" dirty="0">
                <a:solidFill>
                  <a:srgbClr val="231E1A"/>
                </a:solidFill>
                <a:latin typeface="Cambria" pitchFamily="34" charset="0"/>
                <a:ea typeface="Cambria" pitchFamily="34" charset="-122"/>
                <a:cs typeface="Cambria" pitchFamily="34" charset="-120"/>
              </a:rPr>
              <a:t>Dataset and Sampling Regimes</a:t>
            </a:r>
            <a:endParaRPr lang="en-US" sz="3000" dirty="0"/>
          </a:p>
        </p:txBody>
      </p:sp>
      <p:sp>
        <p:nvSpPr>
          <p:cNvPr id="5" name="Text 3"/>
          <p:cNvSpPr/>
          <p:nvPr/>
        </p:nvSpPr>
        <p:spPr>
          <a:xfrm>
            <a:off x="1298448" y="841248"/>
            <a:ext cx="10241280" cy="292608"/>
          </a:xfrm>
          <a:prstGeom prst="rect">
            <a:avLst/>
          </a:prstGeom>
          <a:noFill/>
          <a:ln/>
        </p:spPr>
        <p:txBody>
          <a:bodyPr wrap="square" lIns="0" tIns="0" rIns="0" bIns="0" rtlCol="0" anchor="ctr"/>
          <a:lstStyle/>
          <a:p>
            <a:pPr marL="0" indent="0" algn="l">
              <a:buNone/>
            </a:pPr>
            <a:r>
              <a:rPr lang="en-US" sz="1300" i="1" dirty="0">
                <a:solidFill>
                  <a:srgbClr val="8A7C6E"/>
                </a:solidFill>
                <a:latin typeface="Calibri" pitchFamily="34" charset="0"/>
                <a:ea typeface="Calibri" pitchFamily="34" charset="-122"/>
                <a:cs typeface="Calibri" pitchFamily="34" charset="-120"/>
              </a:rPr>
              <a:t>IBM Transactions for Anti-Money Laundering (Altman et al., 2023)</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11027664" cy="1609344"/>
        </p:xfrm>
        <a:graphic>
          <a:graphicData uri="http://schemas.openxmlformats.org/drawingml/2006/table">
            <a:tbl>
              <a:tblPr/>
              <a:tblGrid>
                <a:gridCol w="21031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gridCol w="1792224">
                  <a:extLst>
                    <a:ext uri="{9D8B030D-6E8A-4147-A177-3AD203B41FA5}">
                      <a16:colId xmlns:a16="http://schemas.microsoft.com/office/drawing/2014/main" val="20005"/>
                    </a:ext>
                  </a:extLst>
                </a:gridCol>
              </a:tblGrid>
              <a:tr h="402336">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Regime</a:t>
                      </a:r>
                      <a:endParaRPr lang="en-US" sz="12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5E4A3C"/>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Ratio</a:t>
                      </a:r>
                      <a:endParaRPr lang="en-US" sz="12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5E4A3C"/>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Laundering</a:t>
                      </a:r>
                      <a:endParaRPr lang="en-US" sz="12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5E4A3C"/>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Legitimate</a:t>
                      </a:r>
                      <a:endParaRPr lang="en-US" sz="12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5E4A3C"/>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Total rows</a:t>
                      </a:r>
                      <a:endParaRPr lang="en-US" sz="12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5E4A3C"/>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Prevalence</a:t>
                      </a:r>
                      <a:endParaRPr lang="en-US" sz="12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5E4A3C"/>
                    </a:solidFill>
                  </a:tcPr>
                </a:tc>
                <a:extLst>
                  <a:ext uri="{0D108BD9-81ED-4DB2-BD59-A6C34878D82A}">
                    <a16:rowId xmlns:a16="http://schemas.microsoft.com/office/drawing/2014/main" val="10000"/>
                  </a:ext>
                </a:extLst>
              </a:tr>
              <a:tr h="402336">
                <a:tc>
                  <a:txBody>
                    <a:bodyPr/>
                    <a:lstStyle/>
                    <a:p>
                      <a:pPr marL="0" indent="0" algn="ctr">
                        <a:buNone/>
                      </a:pPr>
                      <a:r>
                        <a:rPr lang="en-US" sz="1250" dirty="0">
                          <a:solidFill>
                            <a:srgbClr val="231E1A"/>
                          </a:solidFill>
                          <a:latin typeface="Calibri" pitchFamily="34" charset="0"/>
                          <a:ea typeface="Calibri" pitchFamily="34" charset="-122"/>
                          <a:cs typeface="Calibri" pitchFamily="34" charset="-120"/>
                        </a:rPr>
                        <a:t>HI-Small</a:t>
                      </a:r>
                      <a:endParaRPr lang="en-US" sz="12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tc>
                  <a:txBody>
                    <a:bodyPr/>
                    <a:lstStyle/>
                    <a:p>
                      <a:pPr marL="0" indent="0" algn="ctr">
                        <a:buNone/>
                      </a:pPr>
                      <a:r>
                        <a:rPr lang="en-US" sz="1250" dirty="0">
                          <a:solidFill>
                            <a:srgbClr val="231E1A"/>
                          </a:solidFill>
                          <a:latin typeface="Calibri" pitchFamily="34" charset="0"/>
                          <a:ea typeface="Calibri" pitchFamily="34" charset="-122"/>
                          <a:cs typeface="Calibri" pitchFamily="34" charset="-120"/>
                        </a:rPr>
                        <a:t>1:10</a:t>
                      </a:r>
                      <a:endParaRPr lang="en-US" sz="12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tc>
                  <a:txBody>
                    <a:bodyPr/>
                    <a:lstStyle/>
                    <a:p>
                      <a:pPr marL="0" indent="0" algn="ctr">
                        <a:buNone/>
                      </a:pPr>
                      <a:r>
                        <a:rPr lang="en-US" sz="1250" dirty="0">
                          <a:solidFill>
                            <a:srgbClr val="231E1A"/>
                          </a:solidFill>
                          <a:latin typeface="Calibri" pitchFamily="34" charset="0"/>
                          <a:ea typeface="Calibri" pitchFamily="34" charset="-122"/>
                          <a:cs typeface="Calibri" pitchFamily="34" charset="-120"/>
                        </a:rPr>
                        <a:t>5,177</a:t>
                      </a:r>
                      <a:endParaRPr lang="en-US" sz="12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tc>
                  <a:txBody>
                    <a:bodyPr/>
                    <a:lstStyle/>
                    <a:p>
                      <a:pPr marL="0" indent="0" algn="ctr">
                        <a:buNone/>
                      </a:pPr>
                      <a:r>
                        <a:rPr lang="en-US" sz="1250" dirty="0">
                          <a:solidFill>
                            <a:srgbClr val="231E1A"/>
                          </a:solidFill>
                          <a:latin typeface="Calibri" pitchFamily="34" charset="0"/>
                          <a:ea typeface="Calibri" pitchFamily="34" charset="-122"/>
                          <a:cs typeface="Calibri" pitchFamily="34" charset="-120"/>
                        </a:rPr>
                        <a:t>51,770</a:t>
                      </a:r>
                      <a:endParaRPr lang="en-US" sz="12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tc>
                  <a:txBody>
                    <a:bodyPr/>
                    <a:lstStyle/>
                    <a:p>
                      <a:pPr marL="0" indent="0" algn="ctr">
                        <a:buNone/>
                      </a:pPr>
                      <a:r>
                        <a:rPr lang="en-US" sz="1250" dirty="0">
                          <a:solidFill>
                            <a:srgbClr val="231E1A"/>
                          </a:solidFill>
                          <a:latin typeface="Calibri" pitchFamily="34" charset="0"/>
                          <a:ea typeface="Calibri" pitchFamily="34" charset="-122"/>
                          <a:cs typeface="Calibri" pitchFamily="34" charset="-120"/>
                        </a:rPr>
                        <a:t>56,947</a:t>
                      </a:r>
                      <a:endParaRPr lang="en-US" sz="12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tc>
                  <a:txBody>
                    <a:bodyPr/>
                    <a:lstStyle/>
                    <a:p>
                      <a:pPr marL="0" indent="0" algn="ctr">
                        <a:buNone/>
                      </a:pPr>
                      <a:r>
                        <a:rPr lang="en-US" sz="1250" dirty="0">
                          <a:solidFill>
                            <a:srgbClr val="231E1A"/>
                          </a:solidFill>
                          <a:latin typeface="Calibri" pitchFamily="34" charset="0"/>
                          <a:ea typeface="Calibri" pitchFamily="34" charset="-122"/>
                          <a:cs typeface="Calibri" pitchFamily="34" charset="-120"/>
                        </a:rPr>
                        <a:t>9.09%</a:t>
                      </a:r>
                      <a:endParaRPr lang="en-US" sz="12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extLst>
                  <a:ext uri="{0D108BD9-81ED-4DB2-BD59-A6C34878D82A}">
                    <a16:rowId xmlns:a16="http://schemas.microsoft.com/office/drawing/2014/main" val="10001"/>
                  </a:ext>
                </a:extLst>
              </a:tr>
              <a:tr h="402336">
                <a:tc>
                  <a:txBody>
                    <a:bodyPr/>
                    <a:lstStyle/>
                    <a:p>
                      <a:pPr marL="0" indent="0" algn="ctr">
                        <a:buNone/>
                      </a:pPr>
                      <a:r>
                        <a:rPr lang="en-US" sz="1250" dirty="0">
                          <a:solidFill>
                            <a:srgbClr val="231E1A"/>
                          </a:solidFill>
                          <a:latin typeface="Calibri" pitchFamily="34" charset="0"/>
                          <a:ea typeface="Calibri" pitchFamily="34" charset="-122"/>
                          <a:cs typeface="Calibri" pitchFamily="34" charset="-120"/>
                        </a:rPr>
                        <a:t>HI-Medium</a:t>
                      </a:r>
                      <a:endParaRPr lang="en-US" sz="12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tc>
                  <a:txBody>
                    <a:bodyPr/>
                    <a:lstStyle/>
                    <a:p>
                      <a:pPr marL="0" indent="0" algn="ctr">
                        <a:buNone/>
                      </a:pPr>
                      <a:r>
                        <a:rPr lang="en-US" sz="1250" dirty="0">
                          <a:solidFill>
                            <a:srgbClr val="231E1A"/>
                          </a:solidFill>
                          <a:latin typeface="Calibri" pitchFamily="34" charset="0"/>
                          <a:ea typeface="Calibri" pitchFamily="34" charset="-122"/>
                          <a:cs typeface="Calibri" pitchFamily="34" charset="-120"/>
                        </a:rPr>
                        <a:t>1:5</a:t>
                      </a:r>
                      <a:endParaRPr lang="en-US" sz="12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tc>
                  <a:txBody>
                    <a:bodyPr/>
                    <a:lstStyle/>
                    <a:p>
                      <a:pPr marL="0" indent="0" algn="ctr">
                        <a:buNone/>
                      </a:pPr>
                      <a:r>
                        <a:rPr lang="en-US" sz="1250" dirty="0">
                          <a:solidFill>
                            <a:srgbClr val="231E1A"/>
                          </a:solidFill>
                          <a:latin typeface="Calibri" pitchFamily="34" charset="0"/>
                          <a:ea typeface="Calibri" pitchFamily="34" charset="-122"/>
                          <a:cs typeface="Calibri" pitchFamily="34" charset="-120"/>
                        </a:rPr>
                        <a:t>35,230</a:t>
                      </a:r>
                      <a:endParaRPr lang="en-US" sz="12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tc>
                  <a:txBody>
                    <a:bodyPr/>
                    <a:lstStyle/>
                    <a:p>
                      <a:pPr marL="0" indent="0" algn="ctr">
                        <a:buNone/>
                      </a:pPr>
                      <a:r>
                        <a:rPr lang="en-US" sz="1250" dirty="0">
                          <a:solidFill>
                            <a:srgbClr val="231E1A"/>
                          </a:solidFill>
                          <a:latin typeface="Calibri" pitchFamily="34" charset="0"/>
                          <a:ea typeface="Calibri" pitchFamily="34" charset="-122"/>
                          <a:cs typeface="Calibri" pitchFamily="34" charset="-120"/>
                        </a:rPr>
                        <a:t>176,150</a:t>
                      </a:r>
                      <a:endParaRPr lang="en-US" sz="12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tc>
                  <a:txBody>
                    <a:bodyPr/>
                    <a:lstStyle/>
                    <a:p>
                      <a:pPr marL="0" indent="0" algn="ctr">
                        <a:buNone/>
                      </a:pPr>
                      <a:r>
                        <a:rPr lang="en-US" sz="1250" dirty="0">
                          <a:solidFill>
                            <a:srgbClr val="231E1A"/>
                          </a:solidFill>
                          <a:latin typeface="Calibri" pitchFamily="34" charset="0"/>
                          <a:ea typeface="Calibri" pitchFamily="34" charset="-122"/>
                          <a:cs typeface="Calibri" pitchFamily="34" charset="-120"/>
                        </a:rPr>
                        <a:t>211,380</a:t>
                      </a:r>
                      <a:endParaRPr lang="en-US" sz="12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tc>
                  <a:txBody>
                    <a:bodyPr/>
                    <a:lstStyle/>
                    <a:p>
                      <a:pPr marL="0" indent="0" algn="ctr">
                        <a:buNone/>
                      </a:pPr>
                      <a:r>
                        <a:rPr lang="en-US" sz="1250" dirty="0">
                          <a:solidFill>
                            <a:srgbClr val="231E1A"/>
                          </a:solidFill>
                          <a:latin typeface="Calibri" pitchFamily="34" charset="0"/>
                          <a:ea typeface="Calibri" pitchFamily="34" charset="-122"/>
                          <a:cs typeface="Calibri" pitchFamily="34" charset="-120"/>
                        </a:rPr>
                        <a:t>16.67%</a:t>
                      </a:r>
                      <a:endParaRPr lang="en-US" sz="12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extLst>
                  <a:ext uri="{0D108BD9-81ED-4DB2-BD59-A6C34878D82A}">
                    <a16:rowId xmlns:a16="http://schemas.microsoft.com/office/drawing/2014/main" val="10002"/>
                  </a:ext>
                </a:extLst>
              </a:tr>
              <a:tr h="402336">
                <a:tc>
                  <a:txBody>
                    <a:bodyPr/>
                    <a:lstStyle/>
                    <a:p>
                      <a:pPr marL="0" indent="0" algn="ctr">
                        <a:buNone/>
                      </a:pPr>
                      <a:r>
                        <a:rPr lang="en-US" sz="1250" dirty="0">
                          <a:solidFill>
                            <a:srgbClr val="231E1A"/>
                          </a:solidFill>
                          <a:latin typeface="Calibri" pitchFamily="34" charset="0"/>
                          <a:ea typeface="Calibri" pitchFamily="34" charset="-122"/>
                          <a:cs typeface="Calibri" pitchFamily="34" charset="-120"/>
                        </a:rPr>
                        <a:t>HI-Large</a:t>
                      </a:r>
                      <a:endParaRPr lang="en-US" sz="12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tc>
                  <a:txBody>
                    <a:bodyPr/>
                    <a:lstStyle/>
                    <a:p>
                      <a:pPr marL="0" indent="0" algn="ctr">
                        <a:buNone/>
                      </a:pPr>
                      <a:r>
                        <a:rPr lang="en-US" sz="1250" dirty="0">
                          <a:solidFill>
                            <a:srgbClr val="231E1A"/>
                          </a:solidFill>
                          <a:latin typeface="Calibri" pitchFamily="34" charset="0"/>
                          <a:ea typeface="Calibri" pitchFamily="34" charset="-122"/>
                          <a:cs typeface="Calibri" pitchFamily="34" charset="-120"/>
                        </a:rPr>
                        <a:t>1:1</a:t>
                      </a:r>
                      <a:endParaRPr lang="en-US" sz="12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tc>
                  <a:txBody>
                    <a:bodyPr/>
                    <a:lstStyle/>
                    <a:p>
                      <a:pPr marL="0" indent="0" algn="ctr">
                        <a:buNone/>
                      </a:pPr>
                      <a:r>
                        <a:rPr lang="en-US" sz="1250" dirty="0">
                          <a:solidFill>
                            <a:srgbClr val="231E1A"/>
                          </a:solidFill>
                          <a:latin typeface="Calibri" pitchFamily="34" charset="0"/>
                          <a:ea typeface="Calibri" pitchFamily="34" charset="-122"/>
                          <a:cs typeface="Calibri" pitchFamily="34" charset="-120"/>
                        </a:rPr>
                        <a:t>225,546</a:t>
                      </a:r>
                      <a:endParaRPr lang="en-US" sz="12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tc>
                  <a:txBody>
                    <a:bodyPr/>
                    <a:lstStyle/>
                    <a:p>
                      <a:pPr marL="0" indent="0" algn="ctr">
                        <a:buNone/>
                      </a:pPr>
                      <a:r>
                        <a:rPr lang="en-US" sz="1250" dirty="0">
                          <a:solidFill>
                            <a:srgbClr val="231E1A"/>
                          </a:solidFill>
                          <a:latin typeface="Calibri" pitchFamily="34" charset="0"/>
                          <a:ea typeface="Calibri" pitchFamily="34" charset="-122"/>
                          <a:cs typeface="Calibri" pitchFamily="34" charset="-120"/>
                        </a:rPr>
                        <a:t>225,546</a:t>
                      </a:r>
                      <a:endParaRPr lang="en-US" sz="12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tc>
                  <a:txBody>
                    <a:bodyPr/>
                    <a:lstStyle/>
                    <a:p>
                      <a:pPr marL="0" indent="0" algn="ctr">
                        <a:buNone/>
                      </a:pPr>
                      <a:r>
                        <a:rPr lang="en-US" sz="1250" dirty="0">
                          <a:solidFill>
                            <a:srgbClr val="231E1A"/>
                          </a:solidFill>
                          <a:latin typeface="Calibri" pitchFamily="34" charset="0"/>
                          <a:ea typeface="Calibri" pitchFamily="34" charset="-122"/>
                          <a:cs typeface="Calibri" pitchFamily="34" charset="-120"/>
                        </a:rPr>
                        <a:t>451,092</a:t>
                      </a:r>
                      <a:endParaRPr lang="en-US" sz="12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tc>
                  <a:txBody>
                    <a:bodyPr/>
                    <a:lstStyle/>
                    <a:p>
                      <a:pPr marL="0" indent="0" algn="ctr">
                        <a:buNone/>
                      </a:pPr>
                      <a:r>
                        <a:rPr lang="en-US" sz="1250" dirty="0">
                          <a:solidFill>
                            <a:srgbClr val="231E1A"/>
                          </a:solidFill>
                          <a:latin typeface="Calibri" pitchFamily="34" charset="0"/>
                          <a:ea typeface="Calibri" pitchFamily="34" charset="-122"/>
                          <a:cs typeface="Calibri" pitchFamily="34" charset="-120"/>
                        </a:rPr>
                        <a:t>50.00%</a:t>
                      </a:r>
                      <a:endParaRPr lang="en-US" sz="12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extLst>
                  <a:ext uri="{0D108BD9-81ED-4DB2-BD59-A6C34878D82A}">
                    <a16:rowId xmlns:a16="http://schemas.microsoft.com/office/drawing/2014/main" val="10003"/>
                  </a:ext>
                </a:extLst>
              </a:tr>
            </a:tbl>
          </a:graphicData>
        </a:graphic>
      </p:graphicFrame>
      <p:sp>
        <p:nvSpPr>
          <p:cNvPr id="7" name="Text 4"/>
          <p:cNvSpPr/>
          <p:nvPr/>
        </p:nvSpPr>
        <p:spPr>
          <a:xfrm>
            <a:off x="566928" y="3529584"/>
            <a:ext cx="5349240" cy="292608"/>
          </a:xfrm>
          <a:prstGeom prst="rect">
            <a:avLst/>
          </a:prstGeom>
          <a:noFill/>
          <a:ln/>
        </p:spPr>
        <p:txBody>
          <a:bodyPr wrap="square" lIns="0" tIns="0" rIns="0" bIns="0" rtlCol="0" anchor="ctr"/>
          <a:lstStyle/>
          <a:p>
            <a:pPr marL="0" indent="0" algn="l">
              <a:buNone/>
            </a:pPr>
            <a:r>
              <a:rPr lang="en-US" sz="1600" b="1" dirty="0">
                <a:solidFill>
                  <a:srgbClr val="5E4A3C"/>
                </a:solidFill>
                <a:latin typeface="Cambria" pitchFamily="34" charset="0"/>
                <a:ea typeface="Cambria" pitchFamily="34" charset="-122"/>
                <a:cs typeface="Cambria" pitchFamily="34" charset="-120"/>
              </a:rPr>
              <a:t>Why synthetic data</a:t>
            </a:r>
            <a:endParaRPr lang="en-US" sz="1600" dirty="0"/>
          </a:p>
        </p:txBody>
      </p:sp>
      <p:sp>
        <p:nvSpPr>
          <p:cNvPr id="8" name="Text 5"/>
          <p:cNvSpPr/>
          <p:nvPr/>
        </p:nvSpPr>
        <p:spPr>
          <a:xfrm>
            <a:off x="566928" y="3877056"/>
            <a:ext cx="5349240" cy="1554480"/>
          </a:xfrm>
          <a:prstGeom prst="rect">
            <a:avLst/>
          </a:prstGeom>
          <a:noFill/>
          <a:ln/>
        </p:spPr>
        <p:txBody>
          <a:bodyPr wrap="square" lIns="0" tIns="0" rIns="0" bIns="0" rtlCol="0" anchor="ctr"/>
          <a:lstStyle/>
          <a:p>
            <a:pPr marL="342900" indent="-342900" algn="l">
              <a:spcAft>
                <a:spcPts val="700"/>
              </a:spcAft>
              <a:buSzPct val="100000"/>
              <a:buChar char="•"/>
            </a:pPr>
            <a:r>
              <a:rPr lang="en-US" sz="1250" dirty="0">
                <a:solidFill>
                  <a:srgbClr val="231E1A"/>
                </a:solidFill>
                <a:latin typeface="Calibri" pitchFamily="34" charset="0"/>
                <a:ea typeface="Calibri" pitchFamily="34" charset="-122"/>
                <a:cs typeface="Calibri" pitchFamily="34" charset="-120"/>
              </a:rPr>
              <a:t>Real labelled transaction data is legally and competitively restricted</a:t>
            </a:r>
            <a:endParaRPr lang="en-US" sz="1250" dirty="0"/>
          </a:p>
          <a:p>
            <a:pPr marL="342900" indent="-342900" algn="l">
              <a:spcAft>
                <a:spcPts val="700"/>
              </a:spcAft>
              <a:buSzPct val="100000"/>
              <a:buChar char="•"/>
            </a:pPr>
            <a:r>
              <a:rPr lang="en-US" sz="1250" dirty="0">
                <a:solidFill>
                  <a:srgbClr val="231E1A"/>
                </a:solidFill>
                <a:latin typeface="Calibri" pitchFamily="34" charset="0"/>
                <a:ea typeface="Calibri" pitchFamily="34" charset="-122"/>
                <a:cs typeface="Calibri" pitchFamily="34" charset="-120"/>
              </a:rPr>
              <a:t>Ground-truth labels only exist after prosecution — small, skewed, delayed</a:t>
            </a:r>
            <a:endParaRPr lang="en-US" sz="1250" dirty="0"/>
          </a:p>
          <a:p>
            <a:pPr marL="342900" indent="-342900" algn="l">
              <a:spcAft>
                <a:spcPts val="700"/>
              </a:spcAft>
              <a:buSzPct val="100000"/>
              <a:buChar char="•"/>
            </a:pPr>
            <a:r>
              <a:rPr lang="en-US" sz="1250" dirty="0">
                <a:solidFill>
                  <a:srgbClr val="231E1A"/>
                </a:solidFill>
                <a:latin typeface="Calibri" pitchFamily="34" charset="0"/>
                <a:ea typeface="Calibri" pitchFamily="34" charset="-122"/>
                <a:cs typeface="Calibri" pitchFamily="34" charset="-120"/>
              </a:rPr>
              <a:t>AMLworld simulates banks, firms and criminal networks with full labels</a:t>
            </a:r>
            <a:endParaRPr lang="en-US" sz="1250" dirty="0"/>
          </a:p>
        </p:txBody>
      </p:sp>
      <p:sp>
        <p:nvSpPr>
          <p:cNvPr id="9" name="Text 6"/>
          <p:cNvSpPr/>
          <p:nvPr/>
        </p:nvSpPr>
        <p:spPr>
          <a:xfrm>
            <a:off x="6263640" y="3529584"/>
            <a:ext cx="5330952" cy="292608"/>
          </a:xfrm>
          <a:prstGeom prst="rect">
            <a:avLst/>
          </a:prstGeom>
          <a:noFill/>
          <a:ln/>
        </p:spPr>
        <p:txBody>
          <a:bodyPr wrap="square" lIns="0" tIns="0" rIns="0" bIns="0" rtlCol="0" anchor="ctr"/>
          <a:lstStyle/>
          <a:p>
            <a:pPr marL="0" indent="0" algn="l">
              <a:buNone/>
            </a:pPr>
            <a:r>
              <a:rPr lang="en-US" sz="1600" b="1" dirty="0">
                <a:solidFill>
                  <a:srgbClr val="5E4A3C"/>
                </a:solidFill>
                <a:latin typeface="Cambria" pitchFamily="34" charset="0"/>
                <a:ea typeface="Cambria" pitchFamily="34" charset="-122"/>
                <a:cs typeface="Cambria" pitchFamily="34" charset="-120"/>
              </a:rPr>
              <a:t>Why three ratios</a:t>
            </a:r>
            <a:endParaRPr lang="en-US" sz="1600" dirty="0"/>
          </a:p>
        </p:txBody>
      </p:sp>
      <p:sp>
        <p:nvSpPr>
          <p:cNvPr id="10" name="Text 7"/>
          <p:cNvSpPr/>
          <p:nvPr/>
        </p:nvSpPr>
        <p:spPr>
          <a:xfrm>
            <a:off x="6263640" y="3877056"/>
            <a:ext cx="5330952" cy="1554480"/>
          </a:xfrm>
          <a:prstGeom prst="rect">
            <a:avLst/>
          </a:prstGeom>
          <a:noFill/>
          <a:ln/>
        </p:spPr>
        <p:txBody>
          <a:bodyPr wrap="square" lIns="0" tIns="0" rIns="0" bIns="0" rtlCol="0" anchor="ctr"/>
          <a:lstStyle/>
          <a:p>
            <a:pPr marL="342900" indent="-342900" algn="l">
              <a:spcAft>
                <a:spcPts val="700"/>
              </a:spcAft>
              <a:buSzPct val="100000"/>
              <a:buChar char="•"/>
            </a:pPr>
            <a:r>
              <a:rPr lang="en-US" sz="1250" dirty="0">
                <a:solidFill>
                  <a:srgbClr val="231E1A"/>
                </a:solidFill>
                <a:latin typeface="Calibri" pitchFamily="34" charset="0"/>
                <a:ea typeface="Calibri" pitchFamily="34" charset="-122"/>
                <a:cs typeface="Calibri" pitchFamily="34" charset="-120"/>
              </a:rPr>
              <a:t>All laundering rows kept; legitimate rows undersampled</a:t>
            </a:r>
            <a:endParaRPr lang="en-US" sz="1250" dirty="0"/>
          </a:p>
          <a:p>
            <a:pPr marL="342900" indent="-342900" algn="l">
              <a:spcAft>
                <a:spcPts val="700"/>
              </a:spcAft>
              <a:buSzPct val="100000"/>
              <a:buChar char="•"/>
            </a:pPr>
            <a:r>
              <a:rPr lang="en-US" sz="1250" dirty="0">
                <a:solidFill>
                  <a:srgbClr val="231E1A"/>
                </a:solidFill>
                <a:latin typeface="Calibri" pitchFamily="34" charset="0"/>
                <a:ea typeface="Calibri" pitchFamily="34" charset="-122"/>
                <a:cs typeface="Calibri" pitchFamily="34" charset="-120"/>
              </a:rPr>
              <a:t>1:10 and 1:5 stay closer to post-filter operational reality</a:t>
            </a:r>
            <a:endParaRPr lang="en-US" sz="1250" dirty="0"/>
          </a:p>
          <a:p>
            <a:pPr marL="342900" indent="-342900" algn="l">
              <a:spcAft>
                <a:spcPts val="700"/>
              </a:spcAft>
              <a:buSzPct val="100000"/>
              <a:buChar char="•"/>
            </a:pPr>
            <a:r>
              <a:rPr lang="en-US" sz="1250" dirty="0">
                <a:solidFill>
                  <a:srgbClr val="231E1A"/>
                </a:solidFill>
                <a:latin typeface="Calibri" pitchFamily="34" charset="0"/>
                <a:ea typeface="Calibri" pitchFamily="34" charset="-122"/>
                <a:cs typeface="Calibri" pitchFamily="34" charset="-120"/>
              </a:rPr>
              <a:t>1:1 removes majority dominance — best metrics, least realism</a:t>
            </a:r>
            <a:endParaRPr lang="en-US" sz="1250" dirty="0"/>
          </a:p>
        </p:txBody>
      </p:sp>
      <p:sp>
        <p:nvSpPr>
          <p:cNvPr id="11" name="Text 8"/>
          <p:cNvSpPr/>
          <p:nvPr/>
        </p:nvSpPr>
        <p:spPr>
          <a:xfrm>
            <a:off x="566928" y="5614416"/>
            <a:ext cx="11027664" cy="274320"/>
          </a:xfrm>
          <a:prstGeom prst="rect">
            <a:avLst/>
          </a:prstGeom>
          <a:noFill/>
          <a:ln/>
        </p:spPr>
        <p:txBody>
          <a:bodyPr wrap="square" lIns="0" tIns="0" rIns="0" bIns="0" rtlCol="0" anchor="ctr"/>
          <a:lstStyle/>
          <a:p>
            <a:pPr marL="0" indent="0" algn="l">
              <a:buNone/>
            </a:pPr>
            <a:r>
              <a:rPr lang="en-US" sz="1100" i="1" dirty="0">
                <a:solidFill>
                  <a:srgbClr val="8A7C6E"/>
                </a:solidFill>
                <a:latin typeface="Calibri" pitchFamily="34" charset="0"/>
                <a:ea typeface="Calibri" pitchFamily="34" charset="-122"/>
                <a:cs typeface="Calibri" pitchFamily="34" charset="-120"/>
              </a:rPr>
              <a:t>Natural laundering prevalence in the raw HI datasets is approximately 0.12%.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rect">
            <a:avLst/>
          </a:prstGeom>
          <a:solidFill>
            <a:srgbClr val="5E4A3C"/>
          </a:solidFill>
          <a:ln/>
        </p:spPr>
      </p:sp>
      <p:sp>
        <p:nvSpPr>
          <p:cNvPr id="3" name="Text 1"/>
          <p:cNvSpPr/>
          <p:nvPr/>
        </p:nvSpPr>
        <p:spPr>
          <a:xfrm>
            <a:off x="548640" y="384048"/>
            <a:ext cx="566928" cy="566928"/>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6</a:t>
            </a:r>
            <a:endParaRPr lang="en-US" sz="2400" dirty="0"/>
          </a:p>
        </p:txBody>
      </p:sp>
      <p:sp>
        <p:nvSpPr>
          <p:cNvPr id="4" name="Text 2"/>
          <p:cNvSpPr/>
          <p:nvPr/>
        </p:nvSpPr>
        <p:spPr>
          <a:xfrm>
            <a:off x="1298448" y="365760"/>
            <a:ext cx="10241280" cy="457200"/>
          </a:xfrm>
          <a:prstGeom prst="rect">
            <a:avLst/>
          </a:prstGeom>
          <a:noFill/>
          <a:ln/>
        </p:spPr>
        <p:txBody>
          <a:bodyPr wrap="square" lIns="0" tIns="0" rIns="0" bIns="0" rtlCol="0" anchor="ctr"/>
          <a:lstStyle/>
          <a:p>
            <a:pPr marL="0" indent="0" algn="l">
              <a:buNone/>
            </a:pPr>
            <a:r>
              <a:rPr lang="en-US" sz="3000" b="1" dirty="0">
                <a:solidFill>
                  <a:srgbClr val="231E1A"/>
                </a:solidFill>
                <a:latin typeface="Cambria" pitchFamily="34" charset="0"/>
                <a:ea typeface="Cambria" pitchFamily="34" charset="-122"/>
                <a:cs typeface="Cambria" pitchFamily="34" charset="-120"/>
              </a:rPr>
              <a:t>Leakage-Safe Experimental Design</a:t>
            </a:r>
            <a:endParaRPr lang="en-US" sz="3000" dirty="0"/>
          </a:p>
        </p:txBody>
      </p:sp>
      <p:sp>
        <p:nvSpPr>
          <p:cNvPr id="5" name="Text 3"/>
          <p:cNvSpPr/>
          <p:nvPr/>
        </p:nvSpPr>
        <p:spPr>
          <a:xfrm>
            <a:off x="1298448" y="841248"/>
            <a:ext cx="10241280" cy="292608"/>
          </a:xfrm>
          <a:prstGeom prst="rect">
            <a:avLst/>
          </a:prstGeom>
          <a:noFill/>
          <a:ln/>
        </p:spPr>
        <p:txBody>
          <a:bodyPr wrap="square" lIns="0" tIns="0" rIns="0" bIns="0" rtlCol="0" anchor="ctr"/>
          <a:lstStyle/>
          <a:p>
            <a:pPr marL="0" indent="0" algn="l">
              <a:buNone/>
            </a:pPr>
            <a:r>
              <a:rPr lang="en-US" sz="1300" i="1" dirty="0">
                <a:solidFill>
                  <a:srgbClr val="8A7C6E"/>
                </a:solidFill>
                <a:latin typeface="Calibri" pitchFamily="34" charset="0"/>
                <a:ea typeface="Calibri" pitchFamily="34" charset="-122"/>
                <a:cs typeface="Calibri" pitchFamily="34" charset="-120"/>
              </a:rPr>
              <a:t>Temporal splitting and causal feature construction</a:t>
            </a:r>
            <a:endParaRPr lang="en-US" sz="1300" dirty="0"/>
          </a:p>
        </p:txBody>
      </p:sp>
      <p:sp>
        <p:nvSpPr>
          <p:cNvPr id="6" name="Shape 4"/>
          <p:cNvSpPr/>
          <p:nvPr/>
        </p:nvSpPr>
        <p:spPr>
          <a:xfrm>
            <a:off x="566928" y="1627632"/>
            <a:ext cx="7719365" cy="841248"/>
          </a:xfrm>
          <a:prstGeom prst="rect">
            <a:avLst/>
          </a:prstGeom>
          <a:solidFill>
            <a:srgbClr val="EFE9E0"/>
          </a:solidFill>
          <a:ln/>
        </p:spPr>
      </p:sp>
      <p:sp>
        <p:nvSpPr>
          <p:cNvPr id="7" name="Text 5"/>
          <p:cNvSpPr/>
          <p:nvPr/>
        </p:nvSpPr>
        <p:spPr>
          <a:xfrm>
            <a:off x="566928" y="1719072"/>
            <a:ext cx="7719365" cy="329184"/>
          </a:xfrm>
          <a:prstGeom prst="rect">
            <a:avLst/>
          </a:prstGeom>
          <a:noFill/>
          <a:ln/>
        </p:spPr>
        <p:txBody>
          <a:bodyPr wrap="square" lIns="0" tIns="0" rIns="0" bIns="0" rtlCol="0" anchor="ctr"/>
          <a:lstStyle/>
          <a:p>
            <a:pPr marL="0" indent="0" algn="ctr">
              <a:buNone/>
            </a:pPr>
            <a:r>
              <a:rPr lang="en-US" sz="1600" b="1" dirty="0">
                <a:solidFill>
                  <a:srgbClr val="231E1A"/>
                </a:solidFill>
                <a:latin typeface="Cambria" pitchFamily="34" charset="0"/>
                <a:ea typeface="Cambria" pitchFamily="34" charset="-122"/>
                <a:cs typeface="Cambria" pitchFamily="34" charset="-120"/>
              </a:rPr>
              <a:t>TRAIN</a:t>
            </a:r>
            <a:endParaRPr lang="en-US" sz="1600" dirty="0"/>
          </a:p>
        </p:txBody>
      </p:sp>
      <p:sp>
        <p:nvSpPr>
          <p:cNvPr id="8" name="Text 6"/>
          <p:cNvSpPr/>
          <p:nvPr/>
        </p:nvSpPr>
        <p:spPr>
          <a:xfrm>
            <a:off x="566928" y="2048256"/>
            <a:ext cx="7719365" cy="310896"/>
          </a:xfrm>
          <a:prstGeom prst="rect">
            <a:avLst/>
          </a:prstGeom>
          <a:noFill/>
          <a:ln/>
        </p:spPr>
        <p:txBody>
          <a:bodyPr wrap="square" lIns="0" tIns="0" rIns="0" bIns="0" rtlCol="0" anchor="ctr"/>
          <a:lstStyle/>
          <a:p>
            <a:pPr marL="0" indent="0" algn="ctr">
              <a:buNone/>
            </a:pPr>
            <a:r>
              <a:rPr lang="en-US" sz="1150" dirty="0">
                <a:solidFill>
                  <a:srgbClr val="8A7C6E"/>
                </a:solidFill>
                <a:latin typeface="Calibri" pitchFamily="34" charset="0"/>
                <a:ea typeface="Calibri" pitchFamily="34" charset="-122"/>
                <a:cs typeface="Calibri" pitchFamily="34" charset="-120"/>
              </a:rPr>
              <a:t>315,766 rows  ·  45.6% prevalence</a:t>
            </a:r>
            <a:endParaRPr lang="en-US" sz="1150" dirty="0"/>
          </a:p>
        </p:txBody>
      </p:sp>
      <p:sp>
        <p:nvSpPr>
          <p:cNvPr id="9" name="Shape 7"/>
          <p:cNvSpPr/>
          <p:nvPr/>
        </p:nvSpPr>
        <p:spPr>
          <a:xfrm>
            <a:off x="8286293" y="1627632"/>
            <a:ext cx="1654150" cy="841248"/>
          </a:xfrm>
          <a:prstGeom prst="rect">
            <a:avLst/>
          </a:prstGeom>
          <a:solidFill>
            <a:srgbClr val="E2D9CC"/>
          </a:solidFill>
          <a:ln/>
        </p:spPr>
      </p:sp>
      <p:sp>
        <p:nvSpPr>
          <p:cNvPr id="10" name="Text 8"/>
          <p:cNvSpPr/>
          <p:nvPr/>
        </p:nvSpPr>
        <p:spPr>
          <a:xfrm>
            <a:off x="8286293" y="1719072"/>
            <a:ext cx="1654150" cy="329184"/>
          </a:xfrm>
          <a:prstGeom prst="rect">
            <a:avLst/>
          </a:prstGeom>
          <a:noFill/>
          <a:ln/>
        </p:spPr>
        <p:txBody>
          <a:bodyPr wrap="square" lIns="0" tIns="0" rIns="0" bIns="0" rtlCol="0" anchor="ctr"/>
          <a:lstStyle/>
          <a:p>
            <a:pPr marL="0" indent="0" algn="ctr">
              <a:buNone/>
            </a:pPr>
            <a:r>
              <a:rPr lang="en-US" sz="1300" b="1" dirty="0">
                <a:solidFill>
                  <a:srgbClr val="231E1A"/>
                </a:solidFill>
                <a:latin typeface="Cambria" pitchFamily="34" charset="0"/>
                <a:ea typeface="Cambria" pitchFamily="34" charset="-122"/>
                <a:cs typeface="Cambria" pitchFamily="34" charset="-120"/>
              </a:rPr>
              <a:t>VALIDATION</a:t>
            </a:r>
            <a:endParaRPr lang="en-US" sz="1300" dirty="0"/>
          </a:p>
        </p:txBody>
      </p:sp>
      <p:sp>
        <p:nvSpPr>
          <p:cNvPr id="11" name="Text 9"/>
          <p:cNvSpPr/>
          <p:nvPr/>
        </p:nvSpPr>
        <p:spPr>
          <a:xfrm>
            <a:off x="8286293" y="2048256"/>
            <a:ext cx="1654150" cy="310896"/>
          </a:xfrm>
          <a:prstGeom prst="rect">
            <a:avLst/>
          </a:prstGeom>
          <a:noFill/>
          <a:ln/>
        </p:spPr>
        <p:txBody>
          <a:bodyPr wrap="square" lIns="0" tIns="0" rIns="0" bIns="0" rtlCol="0" anchor="ctr"/>
          <a:lstStyle/>
          <a:p>
            <a:pPr marL="0" indent="0" algn="ctr">
              <a:buNone/>
            </a:pPr>
            <a:r>
              <a:rPr lang="en-US" sz="950" dirty="0">
                <a:solidFill>
                  <a:srgbClr val="8A7C6E"/>
                </a:solidFill>
                <a:latin typeface="Calibri" pitchFamily="34" charset="0"/>
                <a:ea typeface="Calibri" pitchFamily="34" charset="-122"/>
                <a:cs typeface="Calibri" pitchFamily="34" charset="-120"/>
              </a:rPr>
              <a:t>67,663  ·  52.3%</a:t>
            </a:r>
            <a:endParaRPr lang="en-US" sz="950" dirty="0"/>
          </a:p>
        </p:txBody>
      </p:sp>
      <p:sp>
        <p:nvSpPr>
          <p:cNvPr id="12" name="Shape 10"/>
          <p:cNvSpPr/>
          <p:nvPr/>
        </p:nvSpPr>
        <p:spPr>
          <a:xfrm>
            <a:off x="9940442" y="1627632"/>
            <a:ext cx="1654150" cy="841248"/>
          </a:xfrm>
          <a:prstGeom prst="rect">
            <a:avLst/>
          </a:prstGeom>
          <a:solidFill>
            <a:srgbClr val="5E4A3C"/>
          </a:solidFill>
          <a:ln/>
        </p:spPr>
      </p:sp>
      <p:sp>
        <p:nvSpPr>
          <p:cNvPr id="13" name="Text 11"/>
          <p:cNvSpPr/>
          <p:nvPr/>
        </p:nvSpPr>
        <p:spPr>
          <a:xfrm>
            <a:off x="9940442" y="1719072"/>
            <a:ext cx="165415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TEST</a:t>
            </a:r>
            <a:endParaRPr lang="en-US" sz="1300" dirty="0"/>
          </a:p>
        </p:txBody>
      </p:sp>
      <p:sp>
        <p:nvSpPr>
          <p:cNvPr id="14" name="Text 12"/>
          <p:cNvSpPr/>
          <p:nvPr/>
        </p:nvSpPr>
        <p:spPr>
          <a:xfrm>
            <a:off x="9940442" y="2048256"/>
            <a:ext cx="1654150" cy="310896"/>
          </a:xfrm>
          <a:prstGeom prst="rect">
            <a:avLst/>
          </a:prstGeom>
          <a:noFill/>
          <a:ln/>
        </p:spPr>
        <p:txBody>
          <a:bodyPr wrap="square" lIns="0" tIns="0" rIns="0" bIns="0" rtlCol="0" anchor="ctr"/>
          <a:lstStyle/>
          <a:p>
            <a:pPr marL="0" indent="0" algn="ctr">
              <a:buNone/>
            </a:pPr>
            <a:r>
              <a:rPr lang="en-US" sz="950" dirty="0">
                <a:solidFill>
                  <a:srgbClr val="E2D9CC"/>
                </a:solidFill>
                <a:latin typeface="Calibri" pitchFamily="34" charset="0"/>
                <a:ea typeface="Calibri" pitchFamily="34" charset="-122"/>
                <a:cs typeface="Calibri" pitchFamily="34" charset="-120"/>
              </a:rPr>
              <a:t>67,663  ·  68.1%</a:t>
            </a:r>
            <a:endParaRPr lang="en-US" sz="950" dirty="0"/>
          </a:p>
        </p:txBody>
      </p:sp>
      <p:sp>
        <p:nvSpPr>
          <p:cNvPr id="15" name="Text 13"/>
          <p:cNvSpPr/>
          <p:nvPr/>
        </p:nvSpPr>
        <p:spPr>
          <a:xfrm>
            <a:off x="566928" y="2523744"/>
            <a:ext cx="7719365" cy="256032"/>
          </a:xfrm>
          <a:prstGeom prst="rect">
            <a:avLst/>
          </a:prstGeom>
          <a:noFill/>
          <a:ln/>
        </p:spPr>
        <p:txBody>
          <a:bodyPr wrap="square" lIns="0" tIns="0" rIns="0" bIns="0" rtlCol="0" anchor="ctr"/>
          <a:lstStyle/>
          <a:p>
            <a:pPr marL="0" indent="0" algn="ctr">
              <a:buNone/>
            </a:pPr>
            <a:r>
              <a:rPr lang="en-US" sz="1050" i="1" dirty="0">
                <a:solidFill>
                  <a:srgbClr val="8A7C6E"/>
                </a:solidFill>
                <a:latin typeface="Calibri" pitchFamily="34" charset="0"/>
                <a:ea typeface="Calibri" pitchFamily="34" charset="-122"/>
                <a:cs typeface="Calibri" pitchFamily="34" charset="-120"/>
              </a:rPr>
              <a:t>70%  →  first transactions by timestamp</a:t>
            </a:r>
            <a:endParaRPr lang="en-US" sz="1050" dirty="0"/>
          </a:p>
        </p:txBody>
      </p:sp>
      <p:sp>
        <p:nvSpPr>
          <p:cNvPr id="16" name="Text 14"/>
          <p:cNvSpPr/>
          <p:nvPr/>
        </p:nvSpPr>
        <p:spPr>
          <a:xfrm>
            <a:off x="8286293" y="2523744"/>
            <a:ext cx="3308299" cy="256032"/>
          </a:xfrm>
          <a:prstGeom prst="rect">
            <a:avLst/>
          </a:prstGeom>
          <a:noFill/>
          <a:ln/>
        </p:spPr>
        <p:txBody>
          <a:bodyPr wrap="square" lIns="0" tIns="0" rIns="0" bIns="0" rtlCol="0" anchor="ctr"/>
          <a:lstStyle/>
          <a:p>
            <a:pPr marL="0" indent="0" algn="ctr">
              <a:buNone/>
            </a:pPr>
            <a:r>
              <a:rPr lang="en-US" sz="950" i="1" dirty="0">
                <a:solidFill>
                  <a:srgbClr val="8A7C6E"/>
                </a:solidFill>
                <a:latin typeface="Calibri" pitchFamily="34" charset="0"/>
                <a:ea typeface="Calibri" pitchFamily="34" charset="-122"/>
                <a:cs typeface="Calibri" pitchFamily="34" charset="-120"/>
              </a:rPr>
              <a:t>15%  →  threshold selection            15%  →  held out entirely</a:t>
            </a:r>
            <a:endParaRPr lang="en-US" sz="950" dirty="0"/>
          </a:p>
        </p:txBody>
      </p:sp>
      <p:sp>
        <p:nvSpPr>
          <p:cNvPr id="17" name="Text 15"/>
          <p:cNvSpPr/>
          <p:nvPr/>
        </p:nvSpPr>
        <p:spPr>
          <a:xfrm>
            <a:off x="566928" y="3127248"/>
            <a:ext cx="11027664" cy="310896"/>
          </a:xfrm>
          <a:prstGeom prst="rect">
            <a:avLst/>
          </a:prstGeom>
          <a:noFill/>
          <a:ln/>
        </p:spPr>
        <p:txBody>
          <a:bodyPr wrap="square" lIns="0" tIns="0" rIns="0" bIns="0" rtlCol="0" anchor="ctr"/>
          <a:lstStyle/>
          <a:p>
            <a:pPr marL="0" indent="0" algn="l">
              <a:buNone/>
            </a:pPr>
            <a:r>
              <a:rPr lang="en-US" sz="1700" b="1" dirty="0">
                <a:solidFill>
                  <a:srgbClr val="5E4A3C"/>
                </a:solidFill>
                <a:latin typeface="Cambria" pitchFamily="34" charset="0"/>
                <a:ea typeface="Cambria" pitchFamily="34" charset="-122"/>
                <a:cs typeface="Cambria" pitchFamily="34" charset="-120"/>
              </a:rPr>
              <a:t>Two guarantees</a:t>
            </a:r>
            <a:endParaRPr lang="en-US" sz="1700" dirty="0"/>
          </a:p>
        </p:txBody>
      </p:sp>
      <p:sp>
        <p:nvSpPr>
          <p:cNvPr id="18" name="Shape 16"/>
          <p:cNvSpPr/>
          <p:nvPr/>
        </p:nvSpPr>
        <p:spPr>
          <a:xfrm>
            <a:off x="566928" y="3529584"/>
            <a:ext cx="5321808" cy="1572768"/>
          </a:xfrm>
          <a:prstGeom prst="rect">
            <a:avLst/>
          </a:prstGeom>
          <a:solidFill>
            <a:srgbClr val="EFE9E0"/>
          </a:solidFill>
          <a:ln/>
        </p:spPr>
      </p:sp>
      <p:sp>
        <p:nvSpPr>
          <p:cNvPr id="19" name="Text 17"/>
          <p:cNvSpPr/>
          <p:nvPr/>
        </p:nvSpPr>
        <p:spPr>
          <a:xfrm>
            <a:off x="786384" y="3675888"/>
            <a:ext cx="4882896" cy="310896"/>
          </a:xfrm>
          <a:prstGeom prst="rect">
            <a:avLst/>
          </a:prstGeom>
          <a:noFill/>
          <a:ln/>
        </p:spPr>
        <p:txBody>
          <a:bodyPr wrap="square" lIns="0" tIns="0" rIns="0" bIns="0" rtlCol="0" anchor="ctr"/>
          <a:lstStyle/>
          <a:p>
            <a:pPr marL="0" indent="0" algn="l">
              <a:buNone/>
            </a:pPr>
            <a:r>
              <a:rPr lang="en-US" sz="1450" b="1" dirty="0">
                <a:solidFill>
                  <a:srgbClr val="5E4A3C"/>
                </a:solidFill>
                <a:latin typeface="Calibri" pitchFamily="34" charset="0"/>
                <a:ea typeface="Calibri" pitchFamily="34" charset="-122"/>
                <a:cs typeface="Calibri" pitchFamily="34" charset="-120"/>
              </a:rPr>
              <a:t>Temporal split</a:t>
            </a:r>
            <a:endParaRPr lang="en-US" sz="1450" dirty="0"/>
          </a:p>
        </p:txBody>
      </p:sp>
      <p:sp>
        <p:nvSpPr>
          <p:cNvPr id="20" name="Text 18"/>
          <p:cNvSpPr/>
          <p:nvPr/>
        </p:nvSpPr>
        <p:spPr>
          <a:xfrm>
            <a:off x="786384" y="4005072"/>
            <a:ext cx="4882896" cy="987552"/>
          </a:xfrm>
          <a:prstGeom prst="rect">
            <a:avLst/>
          </a:prstGeom>
          <a:noFill/>
          <a:ln/>
        </p:spPr>
        <p:txBody>
          <a:bodyPr wrap="square" lIns="0" tIns="0" rIns="0" bIns="0" rtlCol="0" anchor="t"/>
          <a:lstStyle/>
          <a:p>
            <a:pPr marL="0" indent="0" algn="l">
              <a:buNone/>
            </a:pPr>
            <a:r>
              <a:rPr lang="en-US" sz="1250" dirty="0">
                <a:solidFill>
                  <a:srgbClr val="231E1A"/>
                </a:solidFill>
                <a:latin typeface="Calibri" pitchFamily="34" charset="0"/>
                <a:ea typeface="Calibri" pitchFamily="34" charset="-122"/>
                <a:cs typeface="Calibri" pitchFamily="34" charset="-120"/>
              </a:rPr>
              <a:t>The model trains on the past and is scored on the future, replicating deployment. A random split would leak temporally correlated behaviour into the test set.</a:t>
            </a:r>
            <a:endParaRPr lang="en-US" sz="1250" dirty="0"/>
          </a:p>
        </p:txBody>
      </p:sp>
      <p:sp>
        <p:nvSpPr>
          <p:cNvPr id="21" name="Shape 19"/>
          <p:cNvSpPr/>
          <p:nvPr/>
        </p:nvSpPr>
        <p:spPr>
          <a:xfrm>
            <a:off x="6272784" y="3529584"/>
            <a:ext cx="5321808" cy="1572768"/>
          </a:xfrm>
          <a:prstGeom prst="rect">
            <a:avLst/>
          </a:prstGeom>
          <a:solidFill>
            <a:srgbClr val="EFE9E0"/>
          </a:solidFill>
          <a:ln/>
        </p:spPr>
      </p:sp>
      <p:sp>
        <p:nvSpPr>
          <p:cNvPr id="22" name="Text 20"/>
          <p:cNvSpPr/>
          <p:nvPr/>
        </p:nvSpPr>
        <p:spPr>
          <a:xfrm>
            <a:off x="6492240" y="3675888"/>
            <a:ext cx="4882896" cy="310896"/>
          </a:xfrm>
          <a:prstGeom prst="rect">
            <a:avLst/>
          </a:prstGeom>
          <a:noFill/>
          <a:ln/>
        </p:spPr>
        <p:txBody>
          <a:bodyPr wrap="square" lIns="0" tIns="0" rIns="0" bIns="0" rtlCol="0" anchor="ctr"/>
          <a:lstStyle/>
          <a:p>
            <a:pPr marL="0" indent="0" algn="l">
              <a:buNone/>
            </a:pPr>
            <a:r>
              <a:rPr lang="en-US" sz="1450" b="1" dirty="0">
                <a:solidFill>
                  <a:srgbClr val="5E4A3C"/>
                </a:solidFill>
                <a:latin typeface="Calibri" pitchFamily="34" charset="0"/>
                <a:ea typeface="Calibri" pitchFamily="34" charset="-122"/>
                <a:cs typeface="Calibri" pitchFamily="34" charset="-120"/>
              </a:rPr>
              <a:t>Causal features</a:t>
            </a:r>
            <a:endParaRPr lang="en-US" sz="1450" dirty="0"/>
          </a:p>
        </p:txBody>
      </p:sp>
      <p:sp>
        <p:nvSpPr>
          <p:cNvPr id="23" name="Text 21"/>
          <p:cNvSpPr/>
          <p:nvPr/>
        </p:nvSpPr>
        <p:spPr>
          <a:xfrm>
            <a:off x="6492240" y="4005072"/>
            <a:ext cx="4882896" cy="987552"/>
          </a:xfrm>
          <a:prstGeom prst="rect">
            <a:avLst/>
          </a:prstGeom>
          <a:noFill/>
          <a:ln/>
        </p:spPr>
        <p:txBody>
          <a:bodyPr wrap="square" lIns="0" tIns="0" rIns="0" bIns="0" rtlCol="0" anchor="t"/>
          <a:lstStyle/>
          <a:p>
            <a:pPr marL="0" indent="0" algn="l">
              <a:buNone/>
            </a:pPr>
            <a:r>
              <a:rPr lang="en-US" sz="1250" dirty="0">
                <a:solidFill>
                  <a:srgbClr val="231E1A"/>
                </a:solidFill>
                <a:latin typeface="Calibri" pitchFamily="34" charset="0"/>
                <a:ea typeface="Calibri" pitchFamily="34" charset="-122"/>
                <a:cs typeface="Calibri" pitchFamily="34" charset="-120"/>
              </a:rPr>
              <a:t>Every rolling window uses only data available at or before the transaction timestamp. Enforced structurally through Polars window partitioning, not by convention.</a:t>
            </a:r>
            <a:endParaRPr lang="en-US" sz="1250" dirty="0"/>
          </a:p>
        </p:txBody>
      </p:sp>
      <p:sp>
        <p:nvSpPr>
          <p:cNvPr id="24" name="Text 22"/>
          <p:cNvSpPr/>
          <p:nvPr/>
        </p:nvSpPr>
        <p:spPr>
          <a:xfrm>
            <a:off x="566928" y="5358384"/>
            <a:ext cx="11027664" cy="329184"/>
          </a:xfrm>
          <a:prstGeom prst="rect">
            <a:avLst/>
          </a:prstGeom>
          <a:noFill/>
          <a:ln/>
        </p:spPr>
        <p:txBody>
          <a:bodyPr wrap="square" lIns="0" tIns="0" rIns="0" bIns="0" rtlCol="0" anchor="ctr"/>
          <a:lstStyle/>
          <a:p>
            <a:pPr marL="0" indent="0" algn="l">
              <a:buNone/>
            </a:pPr>
            <a:r>
              <a:rPr lang="en-US" sz="1250" i="1" dirty="0">
                <a:solidFill>
                  <a:srgbClr val="5E4A3C"/>
                </a:solidFill>
                <a:latin typeface="Calibri" pitchFamily="34" charset="0"/>
                <a:ea typeface="Calibri" pitchFamily="34" charset="-122"/>
                <a:cs typeface="Calibri" pitchFamily="34" charset="-120"/>
              </a:rPr>
              <a:t>Feature set:  transaction flags  ·  velocity windows (1h / 24h)  ·  fan-out and fan-in counterparty counts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rect">
            <a:avLst/>
          </a:prstGeom>
          <a:solidFill>
            <a:srgbClr val="5E4A3C"/>
          </a:solidFill>
          <a:ln/>
        </p:spPr>
      </p:sp>
      <p:sp>
        <p:nvSpPr>
          <p:cNvPr id="3" name="Text 1"/>
          <p:cNvSpPr/>
          <p:nvPr/>
        </p:nvSpPr>
        <p:spPr>
          <a:xfrm>
            <a:off x="548640" y="384048"/>
            <a:ext cx="566928" cy="566928"/>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7</a:t>
            </a:r>
            <a:endParaRPr lang="en-US" sz="2400" dirty="0"/>
          </a:p>
        </p:txBody>
      </p:sp>
      <p:sp>
        <p:nvSpPr>
          <p:cNvPr id="4" name="Text 2"/>
          <p:cNvSpPr/>
          <p:nvPr/>
        </p:nvSpPr>
        <p:spPr>
          <a:xfrm>
            <a:off x="1298448" y="365760"/>
            <a:ext cx="10241280" cy="457200"/>
          </a:xfrm>
          <a:prstGeom prst="rect">
            <a:avLst/>
          </a:prstGeom>
          <a:noFill/>
          <a:ln/>
        </p:spPr>
        <p:txBody>
          <a:bodyPr wrap="square" lIns="0" tIns="0" rIns="0" bIns="0" rtlCol="0" anchor="ctr"/>
          <a:lstStyle/>
          <a:p>
            <a:pPr marL="0" indent="0" algn="l">
              <a:buNone/>
            </a:pPr>
            <a:r>
              <a:rPr lang="en-US" sz="3000" b="1" dirty="0">
                <a:solidFill>
                  <a:srgbClr val="231E1A"/>
                </a:solidFill>
                <a:latin typeface="Cambria" pitchFamily="34" charset="0"/>
                <a:ea typeface="Cambria" pitchFamily="34" charset="-122"/>
                <a:cs typeface="Cambria" pitchFamily="34" charset="-120"/>
              </a:rPr>
              <a:t>Pipeline Architecture</a:t>
            </a:r>
            <a:endParaRPr lang="en-US" sz="3000" dirty="0"/>
          </a:p>
        </p:txBody>
      </p:sp>
      <p:sp>
        <p:nvSpPr>
          <p:cNvPr id="5" name="Text 3"/>
          <p:cNvSpPr/>
          <p:nvPr/>
        </p:nvSpPr>
        <p:spPr>
          <a:xfrm>
            <a:off x="1298448" y="841248"/>
            <a:ext cx="10241280" cy="292608"/>
          </a:xfrm>
          <a:prstGeom prst="rect">
            <a:avLst/>
          </a:prstGeom>
          <a:noFill/>
          <a:ln/>
        </p:spPr>
        <p:txBody>
          <a:bodyPr wrap="square" lIns="0" tIns="0" rIns="0" bIns="0" rtlCol="0" anchor="ctr"/>
          <a:lstStyle/>
          <a:p>
            <a:pPr marL="0" indent="0" algn="l">
              <a:buNone/>
            </a:pPr>
            <a:r>
              <a:rPr lang="en-US" sz="1300" i="1" dirty="0">
                <a:solidFill>
                  <a:srgbClr val="8A7C6E"/>
                </a:solidFill>
                <a:latin typeface="Calibri" pitchFamily="34" charset="0"/>
                <a:ea typeface="Calibri" pitchFamily="34" charset="-122"/>
                <a:cs typeface="Calibri" pitchFamily="34" charset="-120"/>
              </a:rPr>
              <a:t>One notebook, five stages, a single DATASET_MODE switch</a:t>
            </a:r>
            <a:endParaRPr lang="en-US" sz="1300" dirty="0"/>
          </a:p>
        </p:txBody>
      </p:sp>
      <p:sp>
        <p:nvSpPr>
          <p:cNvPr id="6" name="Shape 4"/>
          <p:cNvSpPr/>
          <p:nvPr/>
        </p:nvSpPr>
        <p:spPr>
          <a:xfrm>
            <a:off x="566928" y="1700784"/>
            <a:ext cx="2048256" cy="2487168"/>
          </a:xfrm>
          <a:prstGeom prst="rect">
            <a:avLst/>
          </a:prstGeom>
          <a:solidFill>
            <a:srgbClr val="EFE9E0"/>
          </a:solidFill>
          <a:ln/>
        </p:spPr>
      </p:sp>
      <p:sp>
        <p:nvSpPr>
          <p:cNvPr id="7" name="Shape 5"/>
          <p:cNvSpPr/>
          <p:nvPr/>
        </p:nvSpPr>
        <p:spPr>
          <a:xfrm>
            <a:off x="1353312" y="1865376"/>
            <a:ext cx="475488" cy="475488"/>
          </a:xfrm>
          <a:prstGeom prst="rect">
            <a:avLst/>
          </a:prstGeom>
          <a:solidFill>
            <a:srgbClr val="5E4A3C"/>
          </a:solidFill>
          <a:ln/>
        </p:spPr>
      </p:sp>
      <p:sp>
        <p:nvSpPr>
          <p:cNvPr id="8" name="Text 6"/>
          <p:cNvSpPr/>
          <p:nvPr/>
        </p:nvSpPr>
        <p:spPr>
          <a:xfrm>
            <a:off x="1353312" y="1865376"/>
            <a:ext cx="475488" cy="475488"/>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9" name="Text 7"/>
          <p:cNvSpPr/>
          <p:nvPr/>
        </p:nvSpPr>
        <p:spPr>
          <a:xfrm>
            <a:off x="658368" y="2450592"/>
            <a:ext cx="1865376" cy="566928"/>
          </a:xfrm>
          <a:prstGeom prst="rect">
            <a:avLst/>
          </a:prstGeom>
          <a:noFill/>
          <a:ln/>
        </p:spPr>
        <p:txBody>
          <a:bodyPr wrap="square" lIns="0" tIns="0" rIns="0" bIns="0" rtlCol="0" anchor="ctr"/>
          <a:lstStyle/>
          <a:p>
            <a:pPr marL="0" indent="0" algn="ctr">
              <a:lnSpc>
                <a:spcPct val="100000"/>
              </a:lnSpc>
              <a:buNone/>
            </a:pPr>
            <a:r>
              <a:rPr lang="en-US" sz="1350" b="1" dirty="0">
                <a:solidFill>
                  <a:srgbClr val="231E1A"/>
                </a:solidFill>
                <a:latin typeface="Calibri" pitchFamily="34" charset="0"/>
                <a:ea typeface="Calibri" pitchFamily="34" charset="-122"/>
                <a:cs typeface="Calibri" pitchFamily="34" charset="-120"/>
              </a:rPr>
              <a:t>Ingestion</a:t>
            </a:r>
            <a:endParaRPr lang="en-US" sz="1350" dirty="0"/>
          </a:p>
          <a:p>
            <a:pPr marL="0" indent="0" algn="ctr">
              <a:lnSpc>
                <a:spcPct val="100000"/>
              </a:lnSpc>
              <a:buNone/>
            </a:pPr>
            <a:r>
              <a:rPr lang="en-US" sz="1350" b="1" dirty="0">
                <a:solidFill>
                  <a:srgbClr val="231E1A"/>
                </a:solidFill>
                <a:latin typeface="Calibri" pitchFamily="34" charset="0"/>
                <a:ea typeface="Calibri" pitchFamily="34" charset="-122"/>
                <a:cs typeface="Calibri" pitchFamily="34" charset="-120"/>
              </a:rPr>
              <a:t>&amp; Audit</a:t>
            </a:r>
            <a:endParaRPr lang="en-US" sz="1350" dirty="0"/>
          </a:p>
        </p:txBody>
      </p:sp>
      <p:sp>
        <p:nvSpPr>
          <p:cNvPr id="10" name="Text 8"/>
          <p:cNvSpPr/>
          <p:nvPr/>
        </p:nvSpPr>
        <p:spPr>
          <a:xfrm>
            <a:off x="658368" y="3072384"/>
            <a:ext cx="1865376" cy="960120"/>
          </a:xfrm>
          <a:prstGeom prst="rect">
            <a:avLst/>
          </a:prstGeom>
          <a:noFill/>
          <a:ln/>
        </p:spPr>
        <p:txBody>
          <a:bodyPr wrap="square" lIns="0" tIns="0" rIns="0" bIns="0" rtlCol="0" anchor="t"/>
          <a:lstStyle/>
          <a:p>
            <a:pPr marL="0" indent="0" algn="ctr">
              <a:lnSpc>
                <a:spcPct val="118000"/>
              </a:lnSpc>
              <a:buNone/>
            </a:pPr>
            <a:r>
              <a:rPr lang="en-US" sz="1050" dirty="0">
                <a:solidFill>
                  <a:srgbClr val="8A7C6E"/>
                </a:solidFill>
                <a:latin typeface="Calibri" pitchFamily="34" charset="0"/>
                <a:ea typeface="Calibri" pitchFamily="34" charset="-122"/>
                <a:cs typeface="Calibri" pitchFamily="34" charset="-120"/>
              </a:rPr>
              <a:t>Polars lazy scan</a:t>
            </a:r>
            <a:endParaRPr lang="en-US" sz="1050" dirty="0"/>
          </a:p>
          <a:p>
            <a:pPr marL="0" indent="0" algn="ctr">
              <a:lnSpc>
                <a:spcPct val="118000"/>
              </a:lnSpc>
              <a:buNone/>
            </a:pPr>
            <a:r>
              <a:rPr lang="en-US" sz="1050" dirty="0">
                <a:solidFill>
                  <a:srgbClr val="8A7C6E"/>
                </a:solidFill>
                <a:latin typeface="Calibri" pitchFamily="34" charset="0"/>
                <a:ea typeface="Calibri" pitchFamily="34" charset="-122"/>
                <a:cs typeface="Calibri" pitchFamily="34" charset="-120"/>
              </a:rPr>
              <a:t>15.88 GB streamed</a:t>
            </a:r>
            <a:endParaRPr lang="en-US" sz="1050" dirty="0"/>
          </a:p>
          <a:p>
            <a:pPr marL="0" indent="0" algn="ctr">
              <a:lnSpc>
                <a:spcPct val="118000"/>
              </a:lnSpc>
              <a:buNone/>
            </a:pPr>
            <a:r>
              <a:rPr lang="en-US" sz="1050" dirty="0">
                <a:solidFill>
                  <a:srgbClr val="8A7C6E"/>
                </a:solidFill>
                <a:latin typeface="Calibri" pitchFamily="34" charset="0"/>
                <a:ea typeface="Calibri" pitchFamily="34" charset="-122"/>
                <a:cs typeface="Calibri" pitchFamily="34" charset="-120"/>
              </a:rPr>
              <a:t>Null / duplicate audit</a:t>
            </a:r>
            <a:endParaRPr lang="en-US" sz="1050" dirty="0"/>
          </a:p>
        </p:txBody>
      </p:sp>
      <p:sp>
        <p:nvSpPr>
          <p:cNvPr id="11" name="Text 9"/>
          <p:cNvSpPr/>
          <p:nvPr/>
        </p:nvSpPr>
        <p:spPr>
          <a:xfrm>
            <a:off x="2615184" y="2761488"/>
            <a:ext cx="201168" cy="365760"/>
          </a:xfrm>
          <a:prstGeom prst="rect">
            <a:avLst/>
          </a:prstGeom>
          <a:noFill/>
          <a:ln/>
        </p:spPr>
        <p:txBody>
          <a:bodyPr wrap="square" lIns="0" tIns="0" rIns="0" bIns="0" rtlCol="0" anchor="ctr"/>
          <a:lstStyle/>
          <a:p>
            <a:pPr marL="0" indent="0" algn="ctr">
              <a:buNone/>
            </a:pPr>
            <a:r>
              <a:rPr lang="en-US" sz="1600" b="1" dirty="0">
                <a:solidFill>
                  <a:srgbClr val="5E4A3C"/>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2816352" y="1700784"/>
            <a:ext cx="2048256" cy="2487168"/>
          </a:xfrm>
          <a:prstGeom prst="rect">
            <a:avLst/>
          </a:prstGeom>
          <a:solidFill>
            <a:srgbClr val="F7F4EF"/>
          </a:solidFill>
          <a:ln/>
        </p:spPr>
      </p:sp>
      <p:sp>
        <p:nvSpPr>
          <p:cNvPr id="13" name="Shape 11"/>
          <p:cNvSpPr/>
          <p:nvPr/>
        </p:nvSpPr>
        <p:spPr>
          <a:xfrm>
            <a:off x="3602736" y="1865376"/>
            <a:ext cx="475488" cy="475488"/>
          </a:xfrm>
          <a:prstGeom prst="rect">
            <a:avLst/>
          </a:prstGeom>
          <a:solidFill>
            <a:srgbClr val="5E4A3C"/>
          </a:solidFill>
          <a:ln/>
        </p:spPr>
      </p:sp>
      <p:sp>
        <p:nvSpPr>
          <p:cNvPr id="14" name="Text 12"/>
          <p:cNvSpPr/>
          <p:nvPr/>
        </p:nvSpPr>
        <p:spPr>
          <a:xfrm>
            <a:off x="3602736" y="1865376"/>
            <a:ext cx="475488" cy="475488"/>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5" name="Text 13"/>
          <p:cNvSpPr/>
          <p:nvPr/>
        </p:nvSpPr>
        <p:spPr>
          <a:xfrm>
            <a:off x="2907792" y="2450592"/>
            <a:ext cx="1865376" cy="566928"/>
          </a:xfrm>
          <a:prstGeom prst="rect">
            <a:avLst/>
          </a:prstGeom>
          <a:noFill/>
          <a:ln/>
        </p:spPr>
        <p:txBody>
          <a:bodyPr wrap="square" lIns="0" tIns="0" rIns="0" bIns="0" rtlCol="0" anchor="ctr"/>
          <a:lstStyle/>
          <a:p>
            <a:pPr marL="0" indent="0" algn="ctr">
              <a:lnSpc>
                <a:spcPct val="100000"/>
              </a:lnSpc>
              <a:buNone/>
            </a:pPr>
            <a:r>
              <a:rPr lang="en-US" sz="1350" b="1" dirty="0">
                <a:solidFill>
                  <a:srgbClr val="231E1A"/>
                </a:solidFill>
                <a:latin typeface="Calibri" pitchFamily="34" charset="0"/>
                <a:ea typeface="Calibri" pitchFamily="34" charset="-122"/>
                <a:cs typeface="Calibri" pitchFamily="34" charset="-120"/>
              </a:rPr>
              <a:t>Feature</a:t>
            </a:r>
            <a:endParaRPr lang="en-US" sz="1350" dirty="0"/>
          </a:p>
          <a:p>
            <a:pPr marL="0" indent="0" algn="ctr">
              <a:lnSpc>
                <a:spcPct val="100000"/>
              </a:lnSpc>
              <a:buNone/>
            </a:pPr>
            <a:r>
              <a:rPr lang="en-US" sz="1350" b="1" dirty="0">
                <a:solidFill>
                  <a:srgbClr val="231E1A"/>
                </a:solidFill>
                <a:latin typeface="Calibri" pitchFamily="34" charset="0"/>
                <a:ea typeface="Calibri" pitchFamily="34" charset="-122"/>
                <a:cs typeface="Calibri" pitchFamily="34" charset="-120"/>
              </a:rPr>
              <a:t>Engineering</a:t>
            </a:r>
            <a:endParaRPr lang="en-US" sz="1350" dirty="0"/>
          </a:p>
        </p:txBody>
      </p:sp>
      <p:sp>
        <p:nvSpPr>
          <p:cNvPr id="16" name="Text 14"/>
          <p:cNvSpPr/>
          <p:nvPr/>
        </p:nvSpPr>
        <p:spPr>
          <a:xfrm>
            <a:off x="2907792" y="3072384"/>
            <a:ext cx="1865376" cy="960120"/>
          </a:xfrm>
          <a:prstGeom prst="rect">
            <a:avLst/>
          </a:prstGeom>
          <a:noFill/>
          <a:ln/>
        </p:spPr>
        <p:txBody>
          <a:bodyPr wrap="square" lIns="0" tIns="0" rIns="0" bIns="0" rtlCol="0" anchor="t"/>
          <a:lstStyle/>
          <a:p>
            <a:pPr marL="0" indent="0" algn="ctr">
              <a:lnSpc>
                <a:spcPct val="118000"/>
              </a:lnSpc>
              <a:buNone/>
            </a:pPr>
            <a:r>
              <a:rPr lang="en-US" sz="1050" dirty="0">
                <a:solidFill>
                  <a:srgbClr val="8A7C6E"/>
                </a:solidFill>
                <a:latin typeface="Calibri" pitchFamily="34" charset="0"/>
                <a:ea typeface="Calibri" pitchFamily="34" charset="-122"/>
                <a:cs typeface="Calibri" pitchFamily="34" charset="-120"/>
              </a:rPr>
              <a:t>Rolling velocity</a:t>
            </a:r>
            <a:endParaRPr lang="en-US" sz="1050" dirty="0"/>
          </a:p>
          <a:p>
            <a:pPr marL="0" indent="0" algn="ctr">
              <a:lnSpc>
                <a:spcPct val="118000"/>
              </a:lnSpc>
              <a:buNone/>
            </a:pPr>
            <a:r>
              <a:rPr lang="en-US" sz="1050" dirty="0">
                <a:solidFill>
                  <a:srgbClr val="8A7C6E"/>
                </a:solidFill>
                <a:latin typeface="Calibri" pitchFamily="34" charset="0"/>
                <a:ea typeface="Calibri" pitchFamily="34" charset="-122"/>
                <a:cs typeface="Calibri" pitchFamily="34" charset="-120"/>
              </a:rPr>
              <a:t>Fan-out / fan-in</a:t>
            </a:r>
            <a:endParaRPr lang="en-US" sz="1050" dirty="0"/>
          </a:p>
          <a:p>
            <a:pPr marL="0" indent="0" algn="ctr">
              <a:lnSpc>
                <a:spcPct val="118000"/>
              </a:lnSpc>
              <a:buNone/>
            </a:pPr>
            <a:r>
              <a:rPr lang="en-US" sz="1050" dirty="0">
                <a:solidFill>
                  <a:srgbClr val="8A7C6E"/>
                </a:solidFill>
                <a:latin typeface="Calibri" pitchFamily="34" charset="0"/>
                <a:ea typeface="Calibri" pitchFamily="34" charset="-122"/>
                <a:cs typeface="Calibri" pitchFamily="34" charset="-120"/>
              </a:rPr>
              <a:t>Causal by design</a:t>
            </a:r>
            <a:endParaRPr lang="en-US" sz="1050" dirty="0"/>
          </a:p>
        </p:txBody>
      </p:sp>
      <p:sp>
        <p:nvSpPr>
          <p:cNvPr id="17" name="Text 15"/>
          <p:cNvSpPr/>
          <p:nvPr/>
        </p:nvSpPr>
        <p:spPr>
          <a:xfrm>
            <a:off x="4864608" y="2761488"/>
            <a:ext cx="201168" cy="365760"/>
          </a:xfrm>
          <a:prstGeom prst="rect">
            <a:avLst/>
          </a:prstGeom>
          <a:noFill/>
          <a:ln/>
        </p:spPr>
        <p:txBody>
          <a:bodyPr wrap="square" lIns="0" tIns="0" rIns="0" bIns="0" rtlCol="0" anchor="ctr"/>
          <a:lstStyle/>
          <a:p>
            <a:pPr marL="0" indent="0" algn="ctr">
              <a:buNone/>
            </a:pPr>
            <a:r>
              <a:rPr lang="en-US" sz="1600" b="1" dirty="0">
                <a:solidFill>
                  <a:srgbClr val="5E4A3C"/>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5065776" y="1700784"/>
            <a:ext cx="2048256" cy="2487168"/>
          </a:xfrm>
          <a:prstGeom prst="rect">
            <a:avLst/>
          </a:prstGeom>
          <a:solidFill>
            <a:srgbClr val="EFE9E0"/>
          </a:solidFill>
          <a:ln/>
        </p:spPr>
      </p:sp>
      <p:sp>
        <p:nvSpPr>
          <p:cNvPr id="19" name="Shape 17"/>
          <p:cNvSpPr/>
          <p:nvPr/>
        </p:nvSpPr>
        <p:spPr>
          <a:xfrm>
            <a:off x="5852160" y="1865376"/>
            <a:ext cx="475488" cy="475488"/>
          </a:xfrm>
          <a:prstGeom prst="rect">
            <a:avLst/>
          </a:prstGeom>
          <a:solidFill>
            <a:srgbClr val="5E4A3C"/>
          </a:solidFill>
          <a:ln/>
        </p:spPr>
      </p:sp>
      <p:sp>
        <p:nvSpPr>
          <p:cNvPr id="20" name="Text 18"/>
          <p:cNvSpPr/>
          <p:nvPr/>
        </p:nvSpPr>
        <p:spPr>
          <a:xfrm>
            <a:off x="5852160" y="1865376"/>
            <a:ext cx="475488" cy="475488"/>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21" name="Text 19"/>
          <p:cNvSpPr/>
          <p:nvPr/>
        </p:nvSpPr>
        <p:spPr>
          <a:xfrm>
            <a:off x="5157216" y="2450592"/>
            <a:ext cx="1865376" cy="566928"/>
          </a:xfrm>
          <a:prstGeom prst="rect">
            <a:avLst/>
          </a:prstGeom>
          <a:noFill/>
          <a:ln/>
        </p:spPr>
        <p:txBody>
          <a:bodyPr wrap="square" lIns="0" tIns="0" rIns="0" bIns="0" rtlCol="0" anchor="ctr"/>
          <a:lstStyle/>
          <a:p>
            <a:pPr marL="0" indent="0" algn="ctr">
              <a:lnSpc>
                <a:spcPct val="100000"/>
              </a:lnSpc>
              <a:buNone/>
            </a:pPr>
            <a:r>
              <a:rPr lang="en-US" sz="1350" b="1" dirty="0">
                <a:solidFill>
                  <a:srgbClr val="231E1A"/>
                </a:solidFill>
                <a:latin typeface="Calibri" pitchFamily="34" charset="0"/>
                <a:ea typeface="Calibri" pitchFamily="34" charset="-122"/>
                <a:cs typeface="Calibri" pitchFamily="34" charset="-120"/>
              </a:rPr>
              <a:t>Temporal</a:t>
            </a:r>
            <a:endParaRPr lang="en-US" sz="1350" dirty="0"/>
          </a:p>
          <a:p>
            <a:pPr marL="0" indent="0" algn="ctr">
              <a:lnSpc>
                <a:spcPct val="100000"/>
              </a:lnSpc>
              <a:buNone/>
            </a:pPr>
            <a:r>
              <a:rPr lang="en-US" sz="1350" b="1" dirty="0">
                <a:solidFill>
                  <a:srgbClr val="231E1A"/>
                </a:solidFill>
                <a:latin typeface="Calibri" pitchFamily="34" charset="0"/>
                <a:ea typeface="Calibri" pitchFamily="34" charset="-122"/>
                <a:cs typeface="Calibri" pitchFamily="34" charset="-120"/>
              </a:rPr>
              <a:t>Split</a:t>
            </a:r>
            <a:endParaRPr lang="en-US" sz="1350" dirty="0"/>
          </a:p>
        </p:txBody>
      </p:sp>
      <p:sp>
        <p:nvSpPr>
          <p:cNvPr id="22" name="Text 20"/>
          <p:cNvSpPr/>
          <p:nvPr/>
        </p:nvSpPr>
        <p:spPr>
          <a:xfrm>
            <a:off x="5157216" y="3072384"/>
            <a:ext cx="1865376" cy="960120"/>
          </a:xfrm>
          <a:prstGeom prst="rect">
            <a:avLst/>
          </a:prstGeom>
          <a:noFill/>
          <a:ln/>
        </p:spPr>
        <p:txBody>
          <a:bodyPr wrap="square" lIns="0" tIns="0" rIns="0" bIns="0" rtlCol="0" anchor="t"/>
          <a:lstStyle/>
          <a:p>
            <a:pPr marL="0" indent="0" algn="ctr">
              <a:lnSpc>
                <a:spcPct val="118000"/>
              </a:lnSpc>
              <a:buNone/>
            </a:pPr>
            <a:r>
              <a:rPr lang="en-US" sz="1050" dirty="0">
                <a:solidFill>
                  <a:srgbClr val="8A7C6E"/>
                </a:solidFill>
                <a:latin typeface="Calibri" pitchFamily="34" charset="0"/>
                <a:ea typeface="Calibri" pitchFamily="34" charset="-122"/>
                <a:cs typeface="Calibri" pitchFamily="34" charset="-120"/>
              </a:rPr>
              <a:t>70 / 15 / 15 cuts</a:t>
            </a:r>
            <a:endParaRPr lang="en-US" sz="1050" dirty="0"/>
          </a:p>
          <a:p>
            <a:pPr marL="0" indent="0" algn="ctr">
              <a:lnSpc>
                <a:spcPct val="118000"/>
              </a:lnSpc>
              <a:buNone/>
            </a:pPr>
            <a:r>
              <a:rPr lang="en-US" sz="1050" dirty="0">
                <a:solidFill>
                  <a:srgbClr val="8A7C6E"/>
                </a:solidFill>
                <a:latin typeface="Calibri" pitchFamily="34" charset="0"/>
                <a:ea typeface="Calibri" pitchFamily="34" charset="-122"/>
                <a:cs typeface="Calibri" pitchFamily="34" charset="-120"/>
              </a:rPr>
              <a:t>Parquet persistence</a:t>
            </a:r>
            <a:endParaRPr lang="en-US" sz="1050" dirty="0"/>
          </a:p>
          <a:p>
            <a:pPr marL="0" indent="0" algn="ctr">
              <a:lnSpc>
                <a:spcPct val="118000"/>
              </a:lnSpc>
              <a:buNone/>
            </a:pPr>
            <a:r>
              <a:rPr lang="en-US" sz="1050" dirty="0">
                <a:solidFill>
                  <a:srgbClr val="8A7C6E"/>
                </a:solidFill>
                <a:latin typeface="Calibri" pitchFamily="34" charset="0"/>
                <a:ea typeface="Calibri" pitchFamily="34" charset="-122"/>
                <a:cs typeface="Calibri" pitchFamily="34" charset="-120"/>
              </a:rPr>
              <a:t>No look-ahead</a:t>
            </a:r>
            <a:endParaRPr lang="en-US" sz="1050" dirty="0"/>
          </a:p>
        </p:txBody>
      </p:sp>
      <p:sp>
        <p:nvSpPr>
          <p:cNvPr id="23" name="Text 21"/>
          <p:cNvSpPr/>
          <p:nvPr/>
        </p:nvSpPr>
        <p:spPr>
          <a:xfrm>
            <a:off x="7114032" y="2761488"/>
            <a:ext cx="201168" cy="365760"/>
          </a:xfrm>
          <a:prstGeom prst="rect">
            <a:avLst/>
          </a:prstGeom>
          <a:noFill/>
          <a:ln/>
        </p:spPr>
        <p:txBody>
          <a:bodyPr wrap="square" lIns="0" tIns="0" rIns="0" bIns="0" rtlCol="0" anchor="ctr"/>
          <a:lstStyle/>
          <a:p>
            <a:pPr marL="0" indent="0" algn="ctr">
              <a:buNone/>
            </a:pPr>
            <a:r>
              <a:rPr lang="en-US" sz="1600" b="1" dirty="0">
                <a:solidFill>
                  <a:srgbClr val="5E4A3C"/>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7315200" y="1700784"/>
            <a:ext cx="2048256" cy="2487168"/>
          </a:xfrm>
          <a:prstGeom prst="rect">
            <a:avLst/>
          </a:prstGeom>
          <a:solidFill>
            <a:srgbClr val="F7F4EF"/>
          </a:solidFill>
          <a:ln/>
        </p:spPr>
      </p:sp>
      <p:sp>
        <p:nvSpPr>
          <p:cNvPr id="25" name="Shape 23"/>
          <p:cNvSpPr/>
          <p:nvPr/>
        </p:nvSpPr>
        <p:spPr>
          <a:xfrm>
            <a:off x="8101584" y="1865376"/>
            <a:ext cx="475488" cy="475488"/>
          </a:xfrm>
          <a:prstGeom prst="rect">
            <a:avLst/>
          </a:prstGeom>
          <a:solidFill>
            <a:srgbClr val="5E4A3C"/>
          </a:solidFill>
          <a:ln/>
        </p:spPr>
      </p:sp>
      <p:sp>
        <p:nvSpPr>
          <p:cNvPr id="26" name="Text 24"/>
          <p:cNvSpPr/>
          <p:nvPr/>
        </p:nvSpPr>
        <p:spPr>
          <a:xfrm>
            <a:off x="8101584" y="1865376"/>
            <a:ext cx="475488" cy="475488"/>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27" name="Text 25"/>
          <p:cNvSpPr/>
          <p:nvPr/>
        </p:nvSpPr>
        <p:spPr>
          <a:xfrm>
            <a:off x="7406640" y="2450592"/>
            <a:ext cx="1865376" cy="566928"/>
          </a:xfrm>
          <a:prstGeom prst="rect">
            <a:avLst/>
          </a:prstGeom>
          <a:noFill/>
          <a:ln/>
        </p:spPr>
        <p:txBody>
          <a:bodyPr wrap="square" lIns="0" tIns="0" rIns="0" bIns="0" rtlCol="0" anchor="ctr"/>
          <a:lstStyle/>
          <a:p>
            <a:pPr marL="0" indent="0" algn="ctr">
              <a:lnSpc>
                <a:spcPct val="100000"/>
              </a:lnSpc>
              <a:buNone/>
            </a:pPr>
            <a:r>
              <a:rPr lang="en-US" sz="1350" b="1" dirty="0">
                <a:solidFill>
                  <a:srgbClr val="231E1A"/>
                </a:solidFill>
                <a:latin typeface="Calibri" pitchFamily="34" charset="0"/>
                <a:ea typeface="Calibri" pitchFamily="34" charset="-122"/>
                <a:cs typeface="Calibri" pitchFamily="34" charset="-120"/>
              </a:rPr>
              <a:t>Modelling &amp;</a:t>
            </a:r>
            <a:endParaRPr lang="en-US" sz="1350" dirty="0"/>
          </a:p>
          <a:p>
            <a:pPr marL="0" indent="0" algn="ctr">
              <a:lnSpc>
                <a:spcPct val="100000"/>
              </a:lnSpc>
              <a:buNone/>
            </a:pPr>
            <a:r>
              <a:rPr lang="en-US" sz="1350" b="1" dirty="0">
                <a:solidFill>
                  <a:srgbClr val="231E1A"/>
                </a:solidFill>
                <a:latin typeface="Calibri" pitchFamily="34" charset="0"/>
                <a:ea typeface="Calibri" pitchFamily="34" charset="-122"/>
                <a:cs typeface="Calibri" pitchFamily="34" charset="-120"/>
              </a:rPr>
              <a:t>Evaluation</a:t>
            </a:r>
            <a:endParaRPr lang="en-US" sz="1350" dirty="0"/>
          </a:p>
        </p:txBody>
      </p:sp>
      <p:sp>
        <p:nvSpPr>
          <p:cNvPr id="28" name="Text 26"/>
          <p:cNvSpPr/>
          <p:nvPr/>
        </p:nvSpPr>
        <p:spPr>
          <a:xfrm>
            <a:off x="7406640" y="3072384"/>
            <a:ext cx="1865376" cy="960120"/>
          </a:xfrm>
          <a:prstGeom prst="rect">
            <a:avLst/>
          </a:prstGeom>
          <a:noFill/>
          <a:ln/>
        </p:spPr>
        <p:txBody>
          <a:bodyPr wrap="square" lIns="0" tIns="0" rIns="0" bIns="0" rtlCol="0" anchor="t"/>
          <a:lstStyle/>
          <a:p>
            <a:pPr marL="0" indent="0" algn="ctr">
              <a:lnSpc>
                <a:spcPct val="118000"/>
              </a:lnSpc>
              <a:buNone/>
            </a:pPr>
            <a:r>
              <a:rPr lang="en-US" sz="1050" dirty="0">
                <a:solidFill>
                  <a:srgbClr val="8A7C6E"/>
                </a:solidFill>
                <a:latin typeface="Calibri" pitchFamily="34" charset="0"/>
                <a:ea typeface="Calibri" pitchFamily="34" charset="-122"/>
                <a:cs typeface="Calibri" pitchFamily="34" charset="-120"/>
              </a:rPr>
              <a:t>Rules + 8 models</a:t>
            </a:r>
            <a:endParaRPr lang="en-US" sz="1050" dirty="0"/>
          </a:p>
          <a:p>
            <a:pPr marL="0" indent="0" algn="ctr">
              <a:lnSpc>
                <a:spcPct val="118000"/>
              </a:lnSpc>
              <a:buNone/>
            </a:pPr>
            <a:r>
              <a:rPr lang="en-US" sz="1050" dirty="0">
                <a:solidFill>
                  <a:srgbClr val="8A7C6E"/>
                </a:solidFill>
                <a:latin typeface="Calibri" pitchFamily="34" charset="0"/>
                <a:ea typeface="Calibri" pitchFamily="34" charset="-122"/>
                <a:cs typeface="Calibri" pitchFamily="34" charset="-120"/>
              </a:rPr>
              <a:t>RandomizedSearchCV</a:t>
            </a:r>
            <a:endParaRPr lang="en-US" sz="1050" dirty="0"/>
          </a:p>
          <a:p>
            <a:pPr marL="0" indent="0" algn="ctr">
              <a:lnSpc>
                <a:spcPct val="118000"/>
              </a:lnSpc>
              <a:buNone/>
            </a:pPr>
            <a:r>
              <a:rPr lang="en-US" sz="1050" dirty="0">
                <a:solidFill>
                  <a:srgbClr val="8A7C6E"/>
                </a:solidFill>
                <a:latin typeface="Calibri" pitchFamily="34" charset="0"/>
                <a:ea typeface="Calibri" pitchFamily="34" charset="-122"/>
                <a:cs typeface="Calibri" pitchFamily="34" charset="-120"/>
              </a:rPr>
              <a:t>Platt calibration</a:t>
            </a:r>
            <a:endParaRPr lang="en-US" sz="1050" dirty="0"/>
          </a:p>
        </p:txBody>
      </p:sp>
      <p:sp>
        <p:nvSpPr>
          <p:cNvPr id="29" name="Text 27"/>
          <p:cNvSpPr/>
          <p:nvPr/>
        </p:nvSpPr>
        <p:spPr>
          <a:xfrm>
            <a:off x="9363456" y="2761488"/>
            <a:ext cx="201168" cy="365760"/>
          </a:xfrm>
          <a:prstGeom prst="rect">
            <a:avLst/>
          </a:prstGeom>
          <a:noFill/>
          <a:ln/>
        </p:spPr>
        <p:txBody>
          <a:bodyPr wrap="square" lIns="0" tIns="0" rIns="0" bIns="0" rtlCol="0" anchor="ctr"/>
          <a:lstStyle/>
          <a:p>
            <a:pPr marL="0" indent="0" algn="ctr">
              <a:buNone/>
            </a:pPr>
            <a:r>
              <a:rPr lang="en-US" sz="1600" b="1" dirty="0">
                <a:solidFill>
                  <a:srgbClr val="5E4A3C"/>
                </a:solidFill>
                <a:latin typeface="Calibri" pitchFamily="34" charset="0"/>
                <a:ea typeface="Calibri" pitchFamily="34" charset="-122"/>
                <a:cs typeface="Calibri" pitchFamily="34" charset="-120"/>
              </a:rPr>
              <a:t>→</a:t>
            </a:r>
            <a:endParaRPr lang="en-US" sz="1600" dirty="0"/>
          </a:p>
        </p:txBody>
      </p:sp>
      <p:sp>
        <p:nvSpPr>
          <p:cNvPr id="30" name="Shape 28"/>
          <p:cNvSpPr/>
          <p:nvPr/>
        </p:nvSpPr>
        <p:spPr>
          <a:xfrm>
            <a:off x="9564624" y="1700784"/>
            <a:ext cx="2048256" cy="2487168"/>
          </a:xfrm>
          <a:prstGeom prst="rect">
            <a:avLst/>
          </a:prstGeom>
          <a:solidFill>
            <a:srgbClr val="EFE9E0"/>
          </a:solidFill>
          <a:ln/>
        </p:spPr>
      </p:sp>
      <p:sp>
        <p:nvSpPr>
          <p:cNvPr id="31" name="Shape 29"/>
          <p:cNvSpPr/>
          <p:nvPr/>
        </p:nvSpPr>
        <p:spPr>
          <a:xfrm>
            <a:off x="10351008" y="1865376"/>
            <a:ext cx="475488" cy="475488"/>
          </a:xfrm>
          <a:prstGeom prst="rect">
            <a:avLst/>
          </a:prstGeom>
          <a:solidFill>
            <a:srgbClr val="5E4A3C"/>
          </a:solidFill>
          <a:ln/>
        </p:spPr>
      </p:sp>
      <p:sp>
        <p:nvSpPr>
          <p:cNvPr id="32" name="Text 30"/>
          <p:cNvSpPr/>
          <p:nvPr/>
        </p:nvSpPr>
        <p:spPr>
          <a:xfrm>
            <a:off x="10351008" y="1865376"/>
            <a:ext cx="475488" cy="475488"/>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5</a:t>
            </a:r>
            <a:endParaRPr lang="en-US" sz="1900" dirty="0"/>
          </a:p>
        </p:txBody>
      </p:sp>
      <p:sp>
        <p:nvSpPr>
          <p:cNvPr id="33" name="Text 31"/>
          <p:cNvSpPr/>
          <p:nvPr/>
        </p:nvSpPr>
        <p:spPr>
          <a:xfrm>
            <a:off x="9656064" y="2450592"/>
            <a:ext cx="1865376" cy="566928"/>
          </a:xfrm>
          <a:prstGeom prst="rect">
            <a:avLst/>
          </a:prstGeom>
          <a:noFill/>
          <a:ln/>
        </p:spPr>
        <p:txBody>
          <a:bodyPr wrap="square" lIns="0" tIns="0" rIns="0" bIns="0" rtlCol="0" anchor="ctr"/>
          <a:lstStyle/>
          <a:p>
            <a:pPr marL="0" indent="0" algn="ctr">
              <a:lnSpc>
                <a:spcPct val="100000"/>
              </a:lnSpc>
              <a:buNone/>
            </a:pPr>
            <a:r>
              <a:rPr lang="en-US" sz="1350" b="1" dirty="0">
                <a:solidFill>
                  <a:srgbClr val="231E1A"/>
                </a:solidFill>
                <a:latin typeface="Calibri" pitchFamily="34" charset="0"/>
                <a:ea typeface="Calibri" pitchFamily="34" charset="-122"/>
                <a:cs typeface="Calibri" pitchFamily="34" charset="-120"/>
              </a:rPr>
              <a:t>Explain</a:t>
            </a:r>
            <a:endParaRPr lang="en-US" sz="1350" dirty="0"/>
          </a:p>
          <a:p>
            <a:pPr marL="0" indent="0" algn="ctr">
              <a:lnSpc>
                <a:spcPct val="100000"/>
              </a:lnSpc>
              <a:buNone/>
            </a:pPr>
            <a:r>
              <a:rPr lang="en-US" sz="1350" b="1" dirty="0">
                <a:solidFill>
                  <a:srgbClr val="231E1A"/>
                </a:solidFill>
                <a:latin typeface="Calibri" pitchFamily="34" charset="0"/>
                <a:ea typeface="Calibri" pitchFamily="34" charset="-122"/>
                <a:cs typeface="Calibri" pitchFamily="34" charset="-120"/>
              </a:rPr>
              <a:t>&amp; Export</a:t>
            </a:r>
            <a:endParaRPr lang="en-US" sz="1350" dirty="0"/>
          </a:p>
        </p:txBody>
      </p:sp>
      <p:sp>
        <p:nvSpPr>
          <p:cNvPr id="34" name="Text 32"/>
          <p:cNvSpPr/>
          <p:nvPr/>
        </p:nvSpPr>
        <p:spPr>
          <a:xfrm>
            <a:off x="9656064" y="3072384"/>
            <a:ext cx="1865376" cy="960120"/>
          </a:xfrm>
          <a:prstGeom prst="rect">
            <a:avLst/>
          </a:prstGeom>
          <a:noFill/>
          <a:ln/>
        </p:spPr>
        <p:txBody>
          <a:bodyPr wrap="square" lIns="0" tIns="0" rIns="0" bIns="0" rtlCol="0" anchor="t"/>
          <a:lstStyle/>
          <a:p>
            <a:pPr marL="0" indent="0" algn="ctr">
              <a:lnSpc>
                <a:spcPct val="118000"/>
              </a:lnSpc>
              <a:buNone/>
            </a:pPr>
            <a:r>
              <a:rPr lang="en-US" sz="1050" dirty="0">
                <a:solidFill>
                  <a:srgbClr val="8A7C6E"/>
                </a:solidFill>
                <a:latin typeface="Calibri" pitchFamily="34" charset="0"/>
                <a:ea typeface="Calibri" pitchFamily="34" charset="-122"/>
                <a:cs typeface="Calibri" pitchFamily="34" charset="-120"/>
              </a:rPr>
              <a:t>TreeSHAP</a:t>
            </a:r>
            <a:endParaRPr lang="en-US" sz="1050" dirty="0"/>
          </a:p>
          <a:p>
            <a:pPr marL="0" indent="0" algn="ctr">
              <a:lnSpc>
                <a:spcPct val="118000"/>
              </a:lnSpc>
              <a:buNone/>
            </a:pPr>
            <a:r>
              <a:rPr lang="en-US" sz="1050" dirty="0">
                <a:solidFill>
                  <a:srgbClr val="8A7C6E"/>
                </a:solidFill>
                <a:latin typeface="Calibri" pitchFamily="34" charset="0"/>
                <a:ea typeface="Calibri" pitchFamily="34" charset="-122"/>
                <a:cs typeface="Calibri" pitchFamily="34" charset="-120"/>
              </a:rPr>
              <a:t>Reason codes</a:t>
            </a:r>
            <a:endParaRPr lang="en-US" sz="1050" dirty="0"/>
          </a:p>
          <a:p>
            <a:pPr marL="0" indent="0" algn="ctr">
              <a:lnSpc>
                <a:spcPct val="118000"/>
              </a:lnSpc>
              <a:buNone/>
            </a:pPr>
            <a:r>
              <a:rPr lang="en-US" sz="1050" dirty="0">
                <a:solidFill>
                  <a:srgbClr val="8A7C6E"/>
                </a:solidFill>
                <a:latin typeface="Calibri" pitchFamily="34" charset="0"/>
                <a:ea typeface="Calibri" pitchFamily="34" charset="-122"/>
                <a:cs typeface="Calibri" pitchFamily="34" charset="-120"/>
              </a:rPr>
              <a:t>Ranked STR CSV</a:t>
            </a:r>
            <a:endParaRPr lang="en-US" sz="1050" dirty="0"/>
          </a:p>
        </p:txBody>
      </p:sp>
      <p:sp>
        <p:nvSpPr>
          <p:cNvPr id="35" name="Shape 33"/>
          <p:cNvSpPr/>
          <p:nvPr/>
        </p:nvSpPr>
        <p:spPr>
          <a:xfrm>
            <a:off x="566928" y="4443984"/>
            <a:ext cx="11027664" cy="841248"/>
          </a:xfrm>
          <a:prstGeom prst="rect">
            <a:avLst/>
          </a:prstGeom>
          <a:solidFill>
            <a:srgbClr val="E2D9CC"/>
          </a:solidFill>
          <a:ln/>
        </p:spPr>
      </p:sp>
      <p:sp>
        <p:nvSpPr>
          <p:cNvPr id="36" name="Text 34"/>
          <p:cNvSpPr/>
          <p:nvPr/>
        </p:nvSpPr>
        <p:spPr>
          <a:xfrm>
            <a:off x="822960" y="4443984"/>
            <a:ext cx="10515600" cy="841248"/>
          </a:xfrm>
          <a:prstGeom prst="rect">
            <a:avLst/>
          </a:prstGeom>
          <a:noFill/>
          <a:ln/>
        </p:spPr>
        <p:txBody>
          <a:bodyPr wrap="square" lIns="0" tIns="0" rIns="0" bIns="0" rtlCol="0" anchor="ctr"/>
          <a:lstStyle/>
          <a:p>
            <a:pPr marL="0" indent="0" algn="l">
              <a:buNone/>
            </a:pPr>
            <a:r>
              <a:rPr lang="en-US" sz="1300" i="1" dirty="0">
                <a:solidFill>
                  <a:srgbClr val="231E1A"/>
                </a:solidFill>
                <a:latin typeface="Calibri" pitchFamily="34" charset="0"/>
                <a:ea typeface="Calibri" pitchFamily="34" charset="-122"/>
                <a:cs typeface="Calibri" pitchFamily="34" charset="-120"/>
              </a:rPr>
              <a:t>Changing one variable — DATASET_MODE = small | medium | large — regenerates the complete result set for any regime. Identical code path across all three runs.</a:t>
            </a:r>
            <a:endParaRPr lang="en-US" sz="1300" dirty="0"/>
          </a:p>
        </p:txBody>
      </p:sp>
      <p:sp>
        <p:nvSpPr>
          <p:cNvPr id="37" name="Text 35"/>
          <p:cNvSpPr/>
          <p:nvPr/>
        </p:nvSpPr>
        <p:spPr>
          <a:xfrm>
            <a:off x="566928" y="5468112"/>
            <a:ext cx="11027664" cy="292608"/>
          </a:xfrm>
          <a:prstGeom prst="rect">
            <a:avLst/>
          </a:prstGeom>
          <a:noFill/>
          <a:ln/>
        </p:spPr>
        <p:txBody>
          <a:bodyPr wrap="square" lIns="0" tIns="0" rIns="0" bIns="0" rtlCol="0" anchor="ctr"/>
          <a:lstStyle/>
          <a:p>
            <a:pPr marL="0" indent="0" algn="l">
              <a:buNone/>
            </a:pPr>
            <a:r>
              <a:rPr lang="en-US" sz="1100" dirty="0">
                <a:solidFill>
                  <a:srgbClr val="8A7C6E"/>
                </a:solidFill>
                <a:latin typeface="Calibri" pitchFamily="34" charset="0"/>
                <a:ea typeface="Calibri" pitchFamily="34" charset="-122"/>
                <a:cs typeface="Calibri" pitchFamily="34" charset="-120"/>
              </a:rPr>
              <a:t>Environment-aware: detects Kaggle or Colab and selects the correct data path. Row caps keep the pipeline inside 12–16 GB RAM.</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rect">
            <a:avLst/>
          </a:prstGeom>
          <a:solidFill>
            <a:srgbClr val="5E4A3C"/>
          </a:solidFill>
          <a:ln/>
        </p:spPr>
      </p:sp>
      <p:sp>
        <p:nvSpPr>
          <p:cNvPr id="3" name="Text 1"/>
          <p:cNvSpPr/>
          <p:nvPr/>
        </p:nvSpPr>
        <p:spPr>
          <a:xfrm>
            <a:off x="548640" y="384048"/>
            <a:ext cx="566928" cy="566928"/>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8</a:t>
            </a:r>
            <a:endParaRPr lang="en-US" sz="2400" dirty="0"/>
          </a:p>
        </p:txBody>
      </p:sp>
      <p:sp>
        <p:nvSpPr>
          <p:cNvPr id="4" name="Text 2"/>
          <p:cNvSpPr/>
          <p:nvPr/>
        </p:nvSpPr>
        <p:spPr>
          <a:xfrm>
            <a:off x="1298448" y="365760"/>
            <a:ext cx="10241280" cy="457200"/>
          </a:xfrm>
          <a:prstGeom prst="rect">
            <a:avLst/>
          </a:prstGeom>
          <a:noFill/>
          <a:ln/>
        </p:spPr>
        <p:txBody>
          <a:bodyPr wrap="square" lIns="0" tIns="0" rIns="0" bIns="0" rtlCol="0" anchor="ctr"/>
          <a:lstStyle/>
          <a:p>
            <a:pPr marL="0" indent="0" algn="l">
              <a:buNone/>
            </a:pPr>
            <a:r>
              <a:rPr lang="en-US" sz="3000" b="1" dirty="0">
                <a:solidFill>
                  <a:srgbClr val="231E1A"/>
                </a:solidFill>
                <a:latin typeface="Cambria" pitchFamily="34" charset="0"/>
                <a:ea typeface="Cambria" pitchFamily="34" charset="-122"/>
                <a:cs typeface="Cambria" pitchFamily="34" charset="-120"/>
              </a:rPr>
              <a:t>Models Benchmarked</a:t>
            </a:r>
            <a:endParaRPr lang="en-US" sz="3000" dirty="0"/>
          </a:p>
        </p:txBody>
      </p:sp>
      <p:sp>
        <p:nvSpPr>
          <p:cNvPr id="5" name="Text 3"/>
          <p:cNvSpPr/>
          <p:nvPr/>
        </p:nvSpPr>
        <p:spPr>
          <a:xfrm>
            <a:off x="1298448" y="841248"/>
            <a:ext cx="10241280" cy="292608"/>
          </a:xfrm>
          <a:prstGeom prst="rect">
            <a:avLst/>
          </a:prstGeom>
          <a:noFill/>
          <a:ln/>
        </p:spPr>
        <p:txBody>
          <a:bodyPr wrap="square" lIns="0" tIns="0" rIns="0" bIns="0" rtlCol="0" anchor="ctr"/>
          <a:lstStyle/>
          <a:p>
            <a:pPr marL="0" indent="0" algn="l">
              <a:buNone/>
            </a:pPr>
            <a:r>
              <a:rPr lang="en-US" sz="1300" i="1" dirty="0">
                <a:solidFill>
                  <a:srgbClr val="8A7C6E"/>
                </a:solidFill>
                <a:latin typeface="Calibri" pitchFamily="34" charset="0"/>
                <a:ea typeface="Calibri" pitchFamily="34" charset="-122"/>
                <a:cs typeface="Calibri" pitchFamily="34" charset="-120"/>
              </a:rPr>
              <a:t>One rules baseline, eight machine learning configurations</a:t>
            </a:r>
            <a:endParaRPr lang="en-US" sz="1300" dirty="0"/>
          </a:p>
        </p:txBody>
      </p:sp>
      <p:sp>
        <p:nvSpPr>
          <p:cNvPr id="6" name="Shape 4"/>
          <p:cNvSpPr/>
          <p:nvPr/>
        </p:nvSpPr>
        <p:spPr>
          <a:xfrm>
            <a:off x="566928" y="1591056"/>
            <a:ext cx="2926080" cy="2395728"/>
          </a:xfrm>
          <a:prstGeom prst="rect">
            <a:avLst/>
          </a:prstGeom>
          <a:solidFill>
            <a:srgbClr val="E2D9CC"/>
          </a:solidFill>
          <a:ln/>
        </p:spPr>
      </p:sp>
      <p:sp>
        <p:nvSpPr>
          <p:cNvPr id="7" name="Text 5"/>
          <p:cNvSpPr/>
          <p:nvPr/>
        </p:nvSpPr>
        <p:spPr>
          <a:xfrm>
            <a:off x="768096" y="1755648"/>
            <a:ext cx="2523744" cy="329184"/>
          </a:xfrm>
          <a:prstGeom prst="rect">
            <a:avLst/>
          </a:prstGeom>
          <a:noFill/>
          <a:ln/>
        </p:spPr>
        <p:txBody>
          <a:bodyPr wrap="square" lIns="0" tIns="0" rIns="0" bIns="0" rtlCol="0" anchor="ctr"/>
          <a:lstStyle/>
          <a:p>
            <a:pPr marL="0" indent="0" algn="l">
              <a:buNone/>
            </a:pPr>
            <a:r>
              <a:rPr lang="en-US" sz="1550" b="1" dirty="0">
                <a:solidFill>
                  <a:srgbClr val="5E4A3C"/>
                </a:solidFill>
                <a:latin typeface="Cambria" pitchFamily="34" charset="0"/>
                <a:ea typeface="Cambria" pitchFamily="34" charset="-122"/>
                <a:cs typeface="Cambria" pitchFamily="34" charset="-120"/>
              </a:rPr>
              <a:t>Baseline</a:t>
            </a:r>
            <a:endParaRPr lang="en-US" sz="1550" dirty="0"/>
          </a:p>
        </p:txBody>
      </p:sp>
      <p:sp>
        <p:nvSpPr>
          <p:cNvPr id="8" name="Text 6"/>
          <p:cNvSpPr/>
          <p:nvPr/>
        </p:nvSpPr>
        <p:spPr>
          <a:xfrm>
            <a:off x="768096" y="2157984"/>
            <a:ext cx="2523744" cy="1737360"/>
          </a:xfrm>
          <a:prstGeom prst="rect">
            <a:avLst/>
          </a:prstGeom>
          <a:noFill/>
          <a:ln/>
        </p:spPr>
        <p:txBody>
          <a:bodyPr wrap="square" lIns="0" tIns="0" rIns="0" bIns="0" rtlCol="0" anchor="t"/>
          <a:lstStyle/>
          <a:p>
            <a:pPr marL="342900" indent="-342900" algn="l">
              <a:spcAft>
                <a:spcPts val="600"/>
              </a:spcAft>
              <a:buSzPct val="100000"/>
              <a:buChar char="•"/>
            </a:pPr>
            <a:r>
              <a:rPr lang="en-US" sz="1250" dirty="0">
                <a:solidFill>
                  <a:srgbClr val="231E1A"/>
                </a:solidFill>
                <a:latin typeface="Calibri" pitchFamily="34" charset="0"/>
                <a:ea typeface="Calibri" pitchFamily="34" charset="-122"/>
                <a:cs typeface="Calibri" pitchFamily="34" charset="-120"/>
              </a:rPr>
              <a:t>Typology rules engine</a:t>
            </a:r>
            <a:endParaRPr lang="en-US" sz="1250" dirty="0"/>
          </a:p>
          <a:p>
            <a:pPr marL="342900" indent="-342900" algn="l">
              <a:spcAft>
                <a:spcPts val="600"/>
              </a:spcAft>
              <a:buSzPct val="100000"/>
              <a:buChar char="•"/>
            </a:pPr>
            <a:r>
              <a:rPr lang="en-US" sz="1250" dirty="0">
                <a:solidFill>
                  <a:srgbClr val="231E1A"/>
                </a:solidFill>
                <a:latin typeface="Calibri" pitchFamily="34" charset="0"/>
                <a:ea typeface="Calibri" pitchFamily="34" charset="-122"/>
                <a:cs typeface="Calibri" pitchFamily="34" charset="-120"/>
              </a:rPr>
              <a:t>Five thresholds at the 99th percentile</a:t>
            </a:r>
            <a:endParaRPr lang="en-US" sz="1250" dirty="0"/>
          </a:p>
          <a:p>
            <a:pPr marL="342900" indent="-342900" algn="l">
              <a:spcAft>
                <a:spcPts val="600"/>
              </a:spcAft>
              <a:buSzPct val="100000"/>
              <a:buChar char="•"/>
            </a:pPr>
            <a:r>
              <a:rPr lang="en-US" sz="1250" dirty="0">
                <a:solidFill>
                  <a:srgbClr val="231E1A"/>
                </a:solidFill>
                <a:latin typeface="Calibri" pitchFamily="34" charset="0"/>
                <a:ea typeface="Calibri" pitchFamily="34" charset="-122"/>
                <a:cs typeface="Calibri" pitchFamily="34" charset="-120"/>
              </a:rPr>
              <a:t>Velocity, fan-out, outflow, amount</a:t>
            </a:r>
            <a:endParaRPr lang="en-US" sz="1250" dirty="0"/>
          </a:p>
        </p:txBody>
      </p:sp>
      <p:sp>
        <p:nvSpPr>
          <p:cNvPr id="9" name="Shape 7"/>
          <p:cNvSpPr/>
          <p:nvPr/>
        </p:nvSpPr>
        <p:spPr>
          <a:xfrm>
            <a:off x="3767328" y="1591056"/>
            <a:ext cx="2926080" cy="2395728"/>
          </a:xfrm>
          <a:prstGeom prst="rect">
            <a:avLst/>
          </a:prstGeom>
          <a:solidFill>
            <a:srgbClr val="EFE9E0"/>
          </a:solidFill>
          <a:ln/>
        </p:spPr>
      </p:sp>
      <p:sp>
        <p:nvSpPr>
          <p:cNvPr id="10" name="Text 8"/>
          <p:cNvSpPr/>
          <p:nvPr/>
        </p:nvSpPr>
        <p:spPr>
          <a:xfrm>
            <a:off x="3968496" y="1755648"/>
            <a:ext cx="2523744" cy="329184"/>
          </a:xfrm>
          <a:prstGeom prst="rect">
            <a:avLst/>
          </a:prstGeom>
          <a:noFill/>
          <a:ln/>
        </p:spPr>
        <p:txBody>
          <a:bodyPr wrap="square" lIns="0" tIns="0" rIns="0" bIns="0" rtlCol="0" anchor="ctr"/>
          <a:lstStyle/>
          <a:p>
            <a:pPr marL="0" indent="0" algn="l">
              <a:buNone/>
            </a:pPr>
            <a:r>
              <a:rPr lang="en-US" sz="1550" b="1" dirty="0">
                <a:solidFill>
                  <a:srgbClr val="5E4A3C"/>
                </a:solidFill>
                <a:latin typeface="Cambria" pitchFamily="34" charset="0"/>
                <a:ea typeface="Cambria" pitchFamily="34" charset="-122"/>
                <a:cs typeface="Cambria" pitchFamily="34" charset="-120"/>
              </a:rPr>
              <a:t>Linear &amp; Ensemble</a:t>
            </a:r>
            <a:endParaRPr lang="en-US" sz="1550" dirty="0"/>
          </a:p>
        </p:txBody>
      </p:sp>
      <p:sp>
        <p:nvSpPr>
          <p:cNvPr id="11" name="Text 9"/>
          <p:cNvSpPr/>
          <p:nvPr/>
        </p:nvSpPr>
        <p:spPr>
          <a:xfrm>
            <a:off x="3968496" y="2157984"/>
            <a:ext cx="2523744" cy="1737360"/>
          </a:xfrm>
          <a:prstGeom prst="rect">
            <a:avLst/>
          </a:prstGeom>
          <a:noFill/>
          <a:ln/>
        </p:spPr>
        <p:txBody>
          <a:bodyPr wrap="square" lIns="0" tIns="0" rIns="0" bIns="0" rtlCol="0" anchor="t"/>
          <a:lstStyle/>
          <a:p>
            <a:pPr marL="342900" indent="-342900" algn="l">
              <a:spcAft>
                <a:spcPts val="600"/>
              </a:spcAft>
              <a:buSzPct val="100000"/>
              <a:buChar char="•"/>
            </a:pPr>
            <a:r>
              <a:rPr lang="en-US" sz="1250" dirty="0">
                <a:solidFill>
                  <a:srgbClr val="231E1A"/>
                </a:solidFill>
                <a:latin typeface="Calibri" pitchFamily="34" charset="0"/>
                <a:ea typeface="Calibri" pitchFamily="34" charset="-122"/>
                <a:cs typeface="Calibri" pitchFamily="34" charset="-120"/>
              </a:rPr>
              <a:t>Logistic Regression</a:t>
            </a:r>
            <a:endParaRPr lang="en-US" sz="1250" dirty="0"/>
          </a:p>
          <a:p>
            <a:pPr marL="342900" indent="-342900" algn="l">
              <a:spcAft>
                <a:spcPts val="600"/>
              </a:spcAft>
              <a:buSzPct val="100000"/>
              <a:buChar char="•"/>
            </a:pPr>
            <a:r>
              <a:rPr lang="en-US" sz="1250" dirty="0">
                <a:solidFill>
                  <a:srgbClr val="231E1A"/>
                </a:solidFill>
                <a:latin typeface="Calibri" pitchFamily="34" charset="0"/>
                <a:ea typeface="Calibri" pitchFamily="34" charset="-122"/>
                <a:cs typeface="Calibri" pitchFamily="34" charset="-120"/>
              </a:rPr>
              <a:t>Random Forest</a:t>
            </a:r>
            <a:endParaRPr lang="en-US" sz="1250" dirty="0"/>
          </a:p>
          <a:p>
            <a:pPr marL="342900" indent="-342900" algn="l">
              <a:spcAft>
                <a:spcPts val="600"/>
              </a:spcAft>
              <a:buSzPct val="100000"/>
              <a:buChar char="•"/>
            </a:pPr>
            <a:r>
              <a:rPr lang="en-US" sz="1250" dirty="0">
                <a:solidFill>
                  <a:srgbClr val="231E1A"/>
                </a:solidFill>
                <a:latin typeface="Calibri" pitchFamily="34" charset="0"/>
                <a:ea typeface="Calibri" pitchFamily="34" charset="-122"/>
                <a:cs typeface="Calibri" pitchFamily="34" charset="-120"/>
              </a:rPr>
              <a:t>TabNet (neural network)</a:t>
            </a:r>
            <a:endParaRPr lang="en-US" sz="1250" dirty="0"/>
          </a:p>
        </p:txBody>
      </p:sp>
      <p:sp>
        <p:nvSpPr>
          <p:cNvPr id="12" name="Shape 10"/>
          <p:cNvSpPr/>
          <p:nvPr/>
        </p:nvSpPr>
        <p:spPr>
          <a:xfrm>
            <a:off x="6967728" y="1591056"/>
            <a:ext cx="4626864" cy="2395728"/>
          </a:xfrm>
          <a:prstGeom prst="rect">
            <a:avLst/>
          </a:prstGeom>
          <a:solidFill>
            <a:srgbClr val="EFE9E0"/>
          </a:solidFill>
          <a:ln/>
        </p:spPr>
      </p:sp>
      <p:sp>
        <p:nvSpPr>
          <p:cNvPr id="13" name="Text 11"/>
          <p:cNvSpPr/>
          <p:nvPr/>
        </p:nvSpPr>
        <p:spPr>
          <a:xfrm>
            <a:off x="7168896" y="1755648"/>
            <a:ext cx="4224528" cy="329184"/>
          </a:xfrm>
          <a:prstGeom prst="rect">
            <a:avLst/>
          </a:prstGeom>
          <a:noFill/>
          <a:ln/>
        </p:spPr>
        <p:txBody>
          <a:bodyPr wrap="square" lIns="0" tIns="0" rIns="0" bIns="0" rtlCol="0" anchor="ctr"/>
          <a:lstStyle/>
          <a:p>
            <a:pPr marL="0" indent="0" algn="l">
              <a:buNone/>
            </a:pPr>
            <a:r>
              <a:rPr lang="en-US" sz="1550" b="1" dirty="0">
                <a:solidFill>
                  <a:srgbClr val="5E4A3C"/>
                </a:solidFill>
                <a:latin typeface="Cambria" pitchFamily="34" charset="0"/>
                <a:ea typeface="Cambria" pitchFamily="34" charset="-122"/>
                <a:cs typeface="Cambria" pitchFamily="34" charset="-120"/>
              </a:rPr>
              <a:t>Gradient Boosting</a:t>
            </a:r>
            <a:endParaRPr lang="en-US" sz="1550" dirty="0"/>
          </a:p>
        </p:txBody>
      </p:sp>
      <p:sp>
        <p:nvSpPr>
          <p:cNvPr id="14" name="Text 12"/>
          <p:cNvSpPr/>
          <p:nvPr/>
        </p:nvSpPr>
        <p:spPr>
          <a:xfrm>
            <a:off x="7168896" y="2157984"/>
            <a:ext cx="4224528" cy="1737360"/>
          </a:xfrm>
          <a:prstGeom prst="rect">
            <a:avLst/>
          </a:prstGeom>
          <a:noFill/>
          <a:ln/>
        </p:spPr>
        <p:txBody>
          <a:bodyPr wrap="square" lIns="0" tIns="0" rIns="0" bIns="0" rtlCol="0" anchor="t"/>
          <a:lstStyle/>
          <a:p>
            <a:pPr marL="342900" indent="-342900" algn="l">
              <a:spcAft>
                <a:spcPts val="600"/>
              </a:spcAft>
              <a:buSzPct val="100000"/>
              <a:buChar char="•"/>
            </a:pPr>
            <a:r>
              <a:rPr lang="en-US" sz="1250" dirty="0">
                <a:solidFill>
                  <a:srgbClr val="231E1A"/>
                </a:solidFill>
                <a:latin typeface="Calibri" pitchFamily="34" charset="0"/>
                <a:ea typeface="Calibri" pitchFamily="34" charset="-122"/>
                <a:cs typeface="Calibri" pitchFamily="34" charset="-120"/>
              </a:rPr>
              <a:t>XGBoost — plain</a:t>
            </a:r>
            <a:endParaRPr lang="en-US" sz="1250" dirty="0"/>
          </a:p>
          <a:p>
            <a:pPr marL="342900" indent="-342900" algn="l">
              <a:spcAft>
                <a:spcPts val="600"/>
              </a:spcAft>
              <a:buSzPct val="100000"/>
              <a:buChar char="•"/>
            </a:pPr>
            <a:r>
              <a:rPr lang="en-US" sz="1250" dirty="0">
                <a:solidFill>
                  <a:srgbClr val="231E1A"/>
                </a:solidFill>
                <a:latin typeface="Calibri" pitchFamily="34" charset="0"/>
                <a:ea typeface="Calibri" pitchFamily="34" charset="-122"/>
                <a:cs typeface="Calibri" pitchFamily="34" charset="-120"/>
              </a:rPr>
              <a:t>XGBoost — cost-sensitive</a:t>
            </a:r>
            <a:endParaRPr lang="en-US" sz="1250" dirty="0"/>
          </a:p>
          <a:p>
            <a:pPr marL="342900" indent="-342900" algn="l">
              <a:spcAft>
                <a:spcPts val="600"/>
              </a:spcAft>
              <a:buSzPct val="100000"/>
              <a:buChar char="•"/>
            </a:pPr>
            <a:r>
              <a:rPr lang="en-US" sz="1250" dirty="0">
                <a:solidFill>
                  <a:srgbClr val="231E1A"/>
                </a:solidFill>
                <a:latin typeface="Calibri" pitchFamily="34" charset="0"/>
                <a:ea typeface="Calibri" pitchFamily="34" charset="-122"/>
                <a:cs typeface="Calibri" pitchFamily="34" charset="-120"/>
              </a:rPr>
              <a:t>XGBoost — SMOTE</a:t>
            </a:r>
            <a:endParaRPr lang="en-US" sz="1250" dirty="0"/>
          </a:p>
          <a:p>
            <a:pPr marL="342900" indent="-342900" algn="l">
              <a:spcAft>
                <a:spcPts val="600"/>
              </a:spcAft>
              <a:buSzPct val="100000"/>
              <a:buChar char="•"/>
            </a:pPr>
            <a:r>
              <a:rPr lang="en-US" sz="1250" dirty="0">
                <a:solidFill>
                  <a:srgbClr val="231E1A"/>
                </a:solidFill>
                <a:latin typeface="Calibri" pitchFamily="34" charset="0"/>
                <a:ea typeface="Calibri" pitchFamily="34" charset="-122"/>
                <a:cs typeface="Calibri" pitchFamily="34" charset="-120"/>
              </a:rPr>
              <a:t>LightGBM</a:t>
            </a:r>
            <a:endParaRPr lang="en-US" sz="1250" dirty="0"/>
          </a:p>
          <a:p>
            <a:pPr marL="342900" indent="-342900" algn="l">
              <a:spcAft>
                <a:spcPts val="600"/>
              </a:spcAft>
              <a:buSzPct val="100000"/>
              <a:buChar char="•"/>
            </a:pPr>
            <a:r>
              <a:rPr lang="en-US" sz="1250" dirty="0">
                <a:solidFill>
                  <a:srgbClr val="231E1A"/>
                </a:solidFill>
                <a:latin typeface="Calibri" pitchFamily="34" charset="0"/>
                <a:ea typeface="Calibri" pitchFamily="34" charset="-122"/>
                <a:cs typeface="Calibri" pitchFamily="34" charset="-120"/>
              </a:rPr>
              <a:t>CatBoost</a:t>
            </a:r>
            <a:endParaRPr lang="en-US" sz="1250" dirty="0"/>
          </a:p>
        </p:txBody>
      </p:sp>
      <p:sp>
        <p:nvSpPr>
          <p:cNvPr id="15" name="Text 13"/>
          <p:cNvSpPr/>
          <p:nvPr/>
        </p:nvSpPr>
        <p:spPr>
          <a:xfrm>
            <a:off x="566928" y="4224528"/>
            <a:ext cx="5349240" cy="292608"/>
          </a:xfrm>
          <a:prstGeom prst="rect">
            <a:avLst/>
          </a:prstGeom>
          <a:noFill/>
          <a:ln/>
        </p:spPr>
        <p:txBody>
          <a:bodyPr wrap="square" lIns="0" tIns="0" rIns="0" bIns="0" rtlCol="0" anchor="ctr"/>
          <a:lstStyle/>
          <a:p>
            <a:pPr marL="0" indent="0" algn="l">
              <a:buNone/>
            </a:pPr>
            <a:r>
              <a:rPr lang="en-US" sz="1550" b="1" dirty="0">
                <a:solidFill>
                  <a:srgbClr val="5E4A3C"/>
                </a:solidFill>
                <a:latin typeface="Cambria" pitchFamily="34" charset="0"/>
                <a:ea typeface="Cambria" pitchFamily="34" charset="-122"/>
                <a:cs typeface="Cambria" pitchFamily="34" charset="-120"/>
              </a:rPr>
              <a:t>Tuned configuration</a:t>
            </a:r>
            <a:endParaRPr lang="en-US" sz="1550" dirty="0"/>
          </a:p>
        </p:txBody>
      </p:sp>
      <p:sp>
        <p:nvSpPr>
          <p:cNvPr id="16" name="Text 14"/>
          <p:cNvSpPr/>
          <p:nvPr/>
        </p:nvSpPr>
        <p:spPr>
          <a:xfrm>
            <a:off x="566928" y="4590288"/>
            <a:ext cx="5349240" cy="1060704"/>
          </a:xfrm>
          <a:prstGeom prst="rect">
            <a:avLst/>
          </a:prstGeom>
          <a:noFill/>
          <a:ln/>
        </p:spPr>
        <p:txBody>
          <a:bodyPr wrap="square" lIns="0" tIns="0" rIns="0" bIns="0" rtlCol="0" anchor="t"/>
          <a:lstStyle/>
          <a:p>
            <a:pPr marL="0" indent="0" algn="l">
              <a:lnSpc>
                <a:spcPct val="122000"/>
              </a:lnSpc>
              <a:buNone/>
            </a:pPr>
            <a:r>
              <a:rPr lang="en-US" sz="1200" dirty="0">
                <a:solidFill>
                  <a:srgbClr val="231E1A"/>
                </a:solidFill>
                <a:latin typeface="Calibri" pitchFamily="34" charset="0"/>
                <a:ea typeface="Calibri" pitchFamily="34" charset="-122"/>
                <a:cs typeface="Calibri" pitchFamily="34" charset="-120"/>
              </a:rPr>
              <a:t>RandomizedSearchCV, 10 iterations, 3-fold, scored on PR-AUC.</a:t>
            </a:r>
            <a:endParaRPr lang="en-US" sz="1200" dirty="0"/>
          </a:p>
          <a:p>
            <a:pPr marL="0" indent="0" algn="l">
              <a:lnSpc>
                <a:spcPct val="122000"/>
              </a:lnSpc>
              <a:buNone/>
            </a:pPr>
            <a:r>
              <a:rPr lang="en-US" sz="1200" dirty="0">
                <a:solidFill>
                  <a:srgbClr val="231E1A"/>
                </a:solidFill>
                <a:latin typeface="Calibri" pitchFamily="34" charset="0"/>
                <a:ea typeface="Calibri" pitchFamily="34" charset="-122"/>
                <a:cs typeface="Calibri" pitchFamily="34" charset="-120"/>
              </a:rPr>
              <a:t>n_estimators 800  ·  max_depth 6  ·  learning_rate 0.05</a:t>
            </a:r>
            <a:endParaRPr lang="en-US" sz="1200" dirty="0"/>
          </a:p>
          <a:p>
            <a:pPr marL="0" indent="0" algn="l">
              <a:lnSpc>
                <a:spcPct val="122000"/>
              </a:lnSpc>
              <a:buNone/>
            </a:pPr>
            <a:r>
              <a:rPr lang="en-US" sz="1200" dirty="0">
                <a:solidFill>
                  <a:srgbClr val="231E1A"/>
                </a:solidFill>
                <a:latin typeface="Calibri" pitchFamily="34" charset="0"/>
                <a:ea typeface="Calibri" pitchFamily="34" charset="-122"/>
                <a:cs typeface="Calibri" pitchFamily="34" charset="-120"/>
              </a:rPr>
              <a:t>scale_pos_weight 2.38  ·  threshold 0.5897 selected on validation</a:t>
            </a:r>
            <a:endParaRPr lang="en-US" sz="1200" dirty="0"/>
          </a:p>
        </p:txBody>
      </p:sp>
      <p:sp>
        <p:nvSpPr>
          <p:cNvPr id="17" name="Text 15"/>
          <p:cNvSpPr/>
          <p:nvPr/>
        </p:nvSpPr>
        <p:spPr>
          <a:xfrm>
            <a:off x="6263640" y="4224528"/>
            <a:ext cx="5330952" cy="292608"/>
          </a:xfrm>
          <a:prstGeom prst="rect">
            <a:avLst/>
          </a:prstGeom>
          <a:noFill/>
          <a:ln/>
        </p:spPr>
        <p:txBody>
          <a:bodyPr wrap="square" lIns="0" tIns="0" rIns="0" bIns="0" rtlCol="0" anchor="ctr"/>
          <a:lstStyle/>
          <a:p>
            <a:pPr marL="0" indent="0" algn="l">
              <a:buNone/>
            </a:pPr>
            <a:r>
              <a:rPr lang="en-US" sz="1550" b="1" dirty="0">
                <a:solidFill>
                  <a:srgbClr val="5E4A3C"/>
                </a:solidFill>
                <a:latin typeface="Cambria" pitchFamily="34" charset="0"/>
                <a:ea typeface="Cambria" pitchFamily="34" charset="-122"/>
                <a:cs typeface="Cambria" pitchFamily="34" charset="-120"/>
              </a:rPr>
              <a:t>Why these metrics</a:t>
            </a:r>
            <a:endParaRPr lang="en-US" sz="1550" dirty="0"/>
          </a:p>
        </p:txBody>
      </p:sp>
      <p:sp>
        <p:nvSpPr>
          <p:cNvPr id="18" name="Text 16"/>
          <p:cNvSpPr/>
          <p:nvPr/>
        </p:nvSpPr>
        <p:spPr>
          <a:xfrm>
            <a:off x="6263640" y="4590288"/>
            <a:ext cx="5330952" cy="1060704"/>
          </a:xfrm>
          <a:prstGeom prst="rect">
            <a:avLst/>
          </a:prstGeom>
          <a:noFill/>
          <a:ln/>
        </p:spPr>
        <p:txBody>
          <a:bodyPr wrap="square" lIns="0" tIns="0" rIns="0" bIns="0" rtlCol="0" anchor="t"/>
          <a:lstStyle/>
          <a:p>
            <a:pPr marL="342900" indent="-342900" algn="l">
              <a:spcAft>
                <a:spcPts val="500"/>
              </a:spcAft>
              <a:buSzPct val="100000"/>
              <a:buChar char="•"/>
            </a:pPr>
            <a:r>
              <a:rPr lang="en-US" sz="1200" dirty="0">
                <a:solidFill>
                  <a:srgbClr val="231E1A"/>
                </a:solidFill>
                <a:latin typeface="Calibri" pitchFamily="34" charset="0"/>
                <a:ea typeface="Calibri" pitchFamily="34" charset="-122"/>
                <a:cs typeface="Calibri" pitchFamily="34" charset="-120"/>
              </a:rPr>
              <a:t>PR-AUC — unaffected by the large true-negative count</a:t>
            </a:r>
            <a:endParaRPr lang="en-US" sz="1200" dirty="0"/>
          </a:p>
          <a:p>
            <a:pPr marL="342900" indent="-342900" algn="l">
              <a:spcAft>
                <a:spcPts val="500"/>
              </a:spcAft>
              <a:buSzPct val="100000"/>
              <a:buChar char="•"/>
            </a:pPr>
            <a:r>
              <a:rPr lang="en-US" sz="1200" dirty="0">
                <a:solidFill>
                  <a:srgbClr val="231E1A"/>
                </a:solidFill>
                <a:latin typeface="Calibri" pitchFamily="34" charset="0"/>
                <a:ea typeface="Calibri" pitchFamily="34" charset="-122"/>
                <a:cs typeface="Calibri" pitchFamily="34" charset="-120"/>
              </a:rPr>
              <a:t>Recall@k — laundering caught inside the alert budget</a:t>
            </a:r>
            <a:endParaRPr lang="en-US" sz="1200" dirty="0"/>
          </a:p>
          <a:p>
            <a:pPr marL="342900" indent="-342900" algn="l">
              <a:spcAft>
                <a:spcPts val="500"/>
              </a:spcAft>
              <a:buSzPct val="100000"/>
              <a:buChar char="•"/>
            </a:pPr>
            <a:r>
              <a:rPr lang="en-US" sz="1200" dirty="0">
                <a:solidFill>
                  <a:srgbClr val="231E1A"/>
                </a:solidFill>
                <a:latin typeface="Calibri" pitchFamily="34" charset="0"/>
                <a:ea typeface="Calibri" pitchFamily="34" charset="-122"/>
                <a:cs typeface="Calibri" pitchFamily="34" charset="-120"/>
              </a:rPr>
              <a:t>FP/TP@k — legitimate cases reviewed per genuine hit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rect">
            <a:avLst/>
          </a:prstGeom>
          <a:solidFill>
            <a:srgbClr val="5E4A3C"/>
          </a:solidFill>
          <a:ln/>
        </p:spPr>
      </p:sp>
      <p:sp>
        <p:nvSpPr>
          <p:cNvPr id="3" name="Text 1"/>
          <p:cNvSpPr/>
          <p:nvPr/>
        </p:nvSpPr>
        <p:spPr>
          <a:xfrm>
            <a:off x="548640" y="384048"/>
            <a:ext cx="566928" cy="566928"/>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9</a:t>
            </a:r>
            <a:endParaRPr lang="en-US" sz="2400" dirty="0"/>
          </a:p>
        </p:txBody>
      </p:sp>
      <p:sp>
        <p:nvSpPr>
          <p:cNvPr id="4" name="Text 2"/>
          <p:cNvSpPr/>
          <p:nvPr/>
        </p:nvSpPr>
        <p:spPr>
          <a:xfrm>
            <a:off x="1298448" y="365760"/>
            <a:ext cx="10241280" cy="457200"/>
          </a:xfrm>
          <a:prstGeom prst="rect">
            <a:avLst/>
          </a:prstGeom>
          <a:noFill/>
          <a:ln/>
        </p:spPr>
        <p:txBody>
          <a:bodyPr wrap="square" lIns="0" tIns="0" rIns="0" bIns="0" rtlCol="0" anchor="ctr"/>
          <a:lstStyle/>
          <a:p>
            <a:pPr marL="0" indent="0" algn="l">
              <a:buNone/>
            </a:pPr>
            <a:r>
              <a:rPr lang="en-US" sz="3000" b="1" dirty="0">
                <a:solidFill>
                  <a:srgbClr val="231E1A"/>
                </a:solidFill>
                <a:latin typeface="Cambria" pitchFamily="34" charset="0"/>
                <a:ea typeface="Cambria" pitchFamily="34" charset="-122"/>
                <a:cs typeface="Cambria" pitchFamily="34" charset="-120"/>
              </a:rPr>
              <a:t>Results — RQ1</a:t>
            </a:r>
            <a:endParaRPr lang="en-US" sz="3000" dirty="0"/>
          </a:p>
        </p:txBody>
      </p:sp>
      <p:sp>
        <p:nvSpPr>
          <p:cNvPr id="5" name="Text 3"/>
          <p:cNvSpPr/>
          <p:nvPr/>
        </p:nvSpPr>
        <p:spPr>
          <a:xfrm>
            <a:off x="1298448" y="841248"/>
            <a:ext cx="10241280" cy="292608"/>
          </a:xfrm>
          <a:prstGeom prst="rect">
            <a:avLst/>
          </a:prstGeom>
          <a:noFill/>
          <a:ln/>
        </p:spPr>
        <p:txBody>
          <a:bodyPr wrap="square" lIns="0" tIns="0" rIns="0" bIns="0" rtlCol="0" anchor="ctr"/>
          <a:lstStyle/>
          <a:p>
            <a:pPr marL="0" indent="0" algn="l">
              <a:buNone/>
            </a:pPr>
            <a:r>
              <a:rPr lang="en-US" sz="1300" i="1" dirty="0">
                <a:solidFill>
                  <a:srgbClr val="8A7C6E"/>
                </a:solidFill>
                <a:latin typeface="Calibri" pitchFamily="34" charset="0"/>
                <a:ea typeface="Calibri" pitchFamily="34" charset="-122"/>
                <a:cs typeface="Calibri" pitchFamily="34" charset="-120"/>
              </a:rPr>
              <a:t>Machine learning versus the typology rules baseline</a:t>
            </a:r>
            <a:endParaRPr lang="en-US" sz="1300" dirty="0"/>
          </a:p>
        </p:txBody>
      </p:sp>
      <p:graphicFrame>
        <p:nvGraphicFramePr>
          <p:cNvPr id="6" name="Chart 0"/>
          <p:cNvGraphicFramePr/>
          <p:nvPr/>
        </p:nvGraphicFramePr>
        <p:xfrm>
          <a:off x="566928" y="1591056"/>
          <a:ext cx="594360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784848" y="1591056"/>
            <a:ext cx="2340864" cy="1417320"/>
          </a:xfrm>
          <a:prstGeom prst="rect">
            <a:avLst/>
          </a:prstGeom>
          <a:solidFill>
            <a:srgbClr val="E2D9CC"/>
          </a:solidFill>
          <a:ln/>
        </p:spPr>
      </p:sp>
      <p:sp>
        <p:nvSpPr>
          <p:cNvPr id="8" name="Text 5"/>
          <p:cNvSpPr/>
          <p:nvPr/>
        </p:nvSpPr>
        <p:spPr>
          <a:xfrm>
            <a:off x="6784848" y="1755648"/>
            <a:ext cx="2340864" cy="708660"/>
          </a:xfrm>
          <a:prstGeom prst="rect">
            <a:avLst/>
          </a:prstGeom>
          <a:noFill/>
          <a:ln/>
        </p:spPr>
        <p:txBody>
          <a:bodyPr wrap="square" lIns="0" tIns="0" rIns="0" bIns="0" rtlCol="0" anchor="ctr"/>
          <a:lstStyle/>
          <a:p>
            <a:pPr marL="0" indent="0" algn="ctr">
              <a:buNone/>
            </a:pPr>
            <a:r>
              <a:rPr lang="en-US" sz="3200" b="1" dirty="0">
                <a:solidFill>
                  <a:srgbClr val="5E4A3C"/>
                </a:solidFill>
                <a:latin typeface="Cambria" pitchFamily="34" charset="0"/>
                <a:ea typeface="Cambria" pitchFamily="34" charset="-122"/>
                <a:cs typeface="Cambria" pitchFamily="34" charset="-120"/>
              </a:rPr>
              <a:t>6.73</a:t>
            </a:r>
            <a:endParaRPr lang="en-US" sz="3200" dirty="0"/>
          </a:p>
        </p:txBody>
      </p:sp>
      <p:sp>
        <p:nvSpPr>
          <p:cNvPr id="9" name="Text 6"/>
          <p:cNvSpPr/>
          <p:nvPr/>
        </p:nvSpPr>
        <p:spPr>
          <a:xfrm>
            <a:off x="6894576" y="2384755"/>
            <a:ext cx="2121408" cy="510235"/>
          </a:xfrm>
          <a:prstGeom prst="rect">
            <a:avLst/>
          </a:prstGeom>
          <a:noFill/>
          <a:ln/>
        </p:spPr>
        <p:txBody>
          <a:bodyPr wrap="square" lIns="0" tIns="0" rIns="0" bIns="0" rtlCol="0" anchor="t"/>
          <a:lstStyle/>
          <a:p>
            <a:pPr marL="0" indent="0" algn="ctr">
              <a:buNone/>
            </a:pPr>
            <a:r>
              <a:rPr lang="en-US" sz="1100" dirty="0">
                <a:solidFill>
                  <a:srgbClr val="231E1A"/>
                </a:solidFill>
                <a:latin typeface="Calibri" pitchFamily="34" charset="0"/>
                <a:ea typeface="Calibri" pitchFamily="34" charset="-122"/>
                <a:cs typeface="Calibri" pitchFamily="34" charset="-120"/>
              </a:rPr>
              <a:t>FP per TP at the 1% budget</a:t>
            </a:r>
            <a:endParaRPr lang="en-US" sz="1100" dirty="0"/>
          </a:p>
          <a:p>
            <a:pPr marL="0" indent="0" algn="ctr">
              <a:buNone/>
            </a:pPr>
            <a:r>
              <a:rPr lang="en-US" sz="1100" dirty="0">
                <a:solidFill>
                  <a:srgbClr val="231E1A"/>
                </a:solidFill>
                <a:latin typeface="Calibri" pitchFamily="34" charset="0"/>
                <a:ea typeface="Calibri" pitchFamily="34" charset="-122"/>
                <a:cs typeface="Calibri" pitchFamily="34" charset="-120"/>
              </a:rPr>
              <a:t>Rules baseline, HI-Small</a:t>
            </a:r>
            <a:endParaRPr lang="en-US" sz="1100" dirty="0"/>
          </a:p>
        </p:txBody>
      </p:sp>
      <p:sp>
        <p:nvSpPr>
          <p:cNvPr id="10" name="Shape 7"/>
          <p:cNvSpPr/>
          <p:nvPr/>
        </p:nvSpPr>
        <p:spPr>
          <a:xfrm>
            <a:off x="9253728" y="1591056"/>
            <a:ext cx="2340864" cy="1417320"/>
          </a:xfrm>
          <a:prstGeom prst="rect">
            <a:avLst/>
          </a:prstGeom>
          <a:solidFill>
            <a:srgbClr val="EFE9E0"/>
          </a:solidFill>
          <a:ln/>
        </p:spPr>
      </p:sp>
      <p:sp>
        <p:nvSpPr>
          <p:cNvPr id="11" name="Text 8"/>
          <p:cNvSpPr/>
          <p:nvPr/>
        </p:nvSpPr>
        <p:spPr>
          <a:xfrm>
            <a:off x="9253728" y="1755648"/>
            <a:ext cx="2340864" cy="708660"/>
          </a:xfrm>
          <a:prstGeom prst="rect">
            <a:avLst/>
          </a:prstGeom>
          <a:noFill/>
          <a:ln/>
        </p:spPr>
        <p:txBody>
          <a:bodyPr wrap="square" lIns="0" tIns="0" rIns="0" bIns="0" rtlCol="0" anchor="ctr"/>
          <a:lstStyle/>
          <a:p>
            <a:pPr marL="0" indent="0" algn="ctr">
              <a:buNone/>
            </a:pPr>
            <a:r>
              <a:rPr lang="en-US" sz="3200" b="1" dirty="0">
                <a:solidFill>
                  <a:srgbClr val="231E1A"/>
                </a:solidFill>
                <a:latin typeface="Cambria" pitchFamily="34" charset="0"/>
                <a:ea typeface="Cambria" pitchFamily="34" charset="-122"/>
                <a:cs typeface="Cambria" pitchFamily="34" charset="-120"/>
              </a:rPr>
              <a:t>0.00</a:t>
            </a:r>
            <a:endParaRPr lang="en-US" sz="3200" dirty="0"/>
          </a:p>
        </p:txBody>
      </p:sp>
      <p:sp>
        <p:nvSpPr>
          <p:cNvPr id="12" name="Text 9"/>
          <p:cNvSpPr/>
          <p:nvPr/>
        </p:nvSpPr>
        <p:spPr>
          <a:xfrm>
            <a:off x="9363456" y="2384755"/>
            <a:ext cx="2121408" cy="510235"/>
          </a:xfrm>
          <a:prstGeom prst="rect">
            <a:avLst/>
          </a:prstGeom>
          <a:noFill/>
          <a:ln/>
        </p:spPr>
        <p:txBody>
          <a:bodyPr wrap="square" lIns="0" tIns="0" rIns="0" bIns="0" rtlCol="0" anchor="t"/>
          <a:lstStyle/>
          <a:p>
            <a:pPr marL="0" indent="0" algn="ctr">
              <a:buNone/>
            </a:pPr>
            <a:r>
              <a:rPr lang="en-US" sz="1100" dirty="0">
                <a:solidFill>
                  <a:srgbClr val="231E1A"/>
                </a:solidFill>
                <a:latin typeface="Calibri" pitchFamily="34" charset="0"/>
                <a:ea typeface="Calibri" pitchFamily="34" charset="-122"/>
                <a:cs typeface="Calibri" pitchFamily="34" charset="-120"/>
              </a:rPr>
              <a:t>FP per TP at the 1% budget</a:t>
            </a:r>
            <a:endParaRPr lang="en-US" sz="1100" dirty="0"/>
          </a:p>
          <a:p>
            <a:pPr marL="0" indent="0" algn="ctr">
              <a:buNone/>
            </a:pPr>
            <a:r>
              <a:rPr lang="en-US" sz="1100" dirty="0">
                <a:solidFill>
                  <a:srgbClr val="231E1A"/>
                </a:solidFill>
                <a:latin typeface="Calibri" pitchFamily="34" charset="0"/>
                <a:ea typeface="Calibri" pitchFamily="34" charset="-122"/>
                <a:cs typeface="Calibri" pitchFamily="34" charset="-120"/>
              </a:rPr>
              <a:t>Every ML model</a:t>
            </a:r>
            <a:endParaRPr lang="en-US" sz="1100" dirty="0"/>
          </a:p>
        </p:txBody>
      </p:sp>
      <p:sp>
        <p:nvSpPr>
          <p:cNvPr id="13" name="Shape 10"/>
          <p:cNvSpPr/>
          <p:nvPr/>
        </p:nvSpPr>
        <p:spPr>
          <a:xfrm>
            <a:off x="6784848" y="3191256"/>
            <a:ext cx="4809744" cy="1417320"/>
          </a:xfrm>
          <a:prstGeom prst="rect">
            <a:avLst/>
          </a:prstGeom>
          <a:solidFill>
            <a:srgbClr val="EFE9E0"/>
          </a:solidFill>
          <a:ln/>
        </p:spPr>
      </p:sp>
      <p:sp>
        <p:nvSpPr>
          <p:cNvPr id="14" name="Text 11"/>
          <p:cNvSpPr/>
          <p:nvPr/>
        </p:nvSpPr>
        <p:spPr>
          <a:xfrm>
            <a:off x="6784848" y="3310128"/>
            <a:ext cx="4809744" cy="548640"/>
          </a:xfrm>
          <a:prstGeom prst="rect">
            <a:avLst/>
          </a:prstGeom>
          <a:noFill/>
          <a:ln/>
        </p:spPr>
        <p:txBody>
          <a:bodyPr wrap="square" lIns="0" tIns="0" rIns="0" bIns="0" rtlCol="0" anchor="ctr"/>
          <a:lstStyle/>
          <a:p>
            <a:pPr marL="0" indent="0" algn="ctr">
              <a:buNone/>
            </a:pPr>
            <a:r>
              <a:rPr lang="en-US" sz="3400" b="1" dirty="0">
                <a:solidFill>
                  <a:srgbClr val="5E4A3C"/>
                </a:solidFill>
                <a:latin typeface="Cambria" pitchFamily="34" charset="0"/>
                <a:ea typeface="Cambria" pitchFamily="34" charset="-122"/>
                <a:cs typeface="Cambria" pitchFamily="34" charset="-120"/>
              </a:rPr>
              <a:t>87%</a:t>
            </a:r>
            <a:endParaRPr lang="en-US" sz="3400" dirty="0"/>
          </a:p>
        </p:txBody>
      </p:sp>
      <p:sp>
        <p:nvSpPr>
          <p:cNvPr id="15" name="Text 12"/>
          <p:cNvSpPr/>
          <p:nvPr/>
        </p:nvSpPr>
        <p:spPr>
          <a:xfrm>
            <a:off x="7004304" y="3877056"/>
            <a:ext cx="4370832" cy="603504"/>
          </a:xfrm>
          <a:prstGeom prst="rect">
            <a:avLst/>
          </a:prstGeom>
          <a:noFill/>
          <a:ln/>
        </p:spPr>
        <p:txBody>
          <a:bodyPr wrap="square" lIns="0" tIns="0" rIns="0" bIns="0" rtlCol="0" anchor="t"/>
          <a:lstStyle/>
          <a:p>
            <a:pPr marL="0" indent="0" algn="ctr">
              <a:buNone/>
            </a:pPr>
            <a:r>
              <a:rPr lang="en-US" sz="1150" dirty="0">
                <a:solidFill>
                  <a:srgbClr val="231E1A"/>
                </a:solidFill>
                <a:latin typeface="Calibri" pitchFamily="34" charset="0"/>
                <a:ea typeface="Calibri" pitchFamily="34" charset="-122"/>
                <a:cs typeface="Calibri" pitchFamily="34" charset="-120"/>
              </a:rPr>
              <a:t>reduction in transactions reviewed per genuine laundering detection</a:t>
            </a:r>
            <a:endParaRPr lang="en-US" sz="1150" dirty="0"/>
          </a:p>
        </p:txBody>
      </p:sp>
      <p:sp>
        <p:nvSpPr>
          <p:cNvPr id="16" name="Text 13"/>
          <p:cNvSpPr/>
          <p:nvPr/>
        </p:nvSpPr>
        <p:spPr>
          <a:xfrm>
            <a:off x="566928" y="4882896"/>
            <a:ext cx="11027664" cy="548640"/>
          </a:xfrm>
          <a:prstGeom prst="rect">
            <a:avLst/>
          </a:prstGeom>
          <a:noFill/>
          <a:ln/>
        </p:spPr>
        <p:txBody>
          <a:bodyPr wrap="square" lIns="0" tIns="0" rIns="0" bIns="0" rtlCol="0" anchor="ctr"/>
          <a:lstStyle/>
          <a:p>
            <a:pPr marL="0" indent="0" algn="l">
              <a:buNone/>
            </a:pPr>
            <a:r>
              <a:rPr lang="en-US" sz="1250" dirty="0">
                <a:solidFill>
                  <a:srgbClr val="231E1A"/>
                </a:solidFill>
                <a:latin typeface="Calibri" pitchFamily="34" charset="0"/>
                <a:ea typeface="Calibri" pitchFamily="34" charset="-122"/>
                <a:cs typeface="Calibri" pitchFamily="34" charset="-120"/>
              </a:rPr>
              <a:t>McNemar's test:  χ² = 36,666.08,  p &lt; 0.001.  The two systems make systematically different errors — 44,640 transactions correct for XGBoost alone against 2,892 for rules alone.</a:t>
            </a:r>
            <a:endParaRPr lang="en-US" sz="1250" dirty="0"/>
          </a:p>
        </p:txBody>
      </p:sp>
      <p:sp>
        <p:nvSpPr>
          <p:cNvPr id="17" name="Text 14"/>
          <p:cNvSpPr/>
          <p:nvPr/>
        </p:nvSpPr>
        <p:spPr>
          <a:xfrm>
            <a:off x="566928" y="5449824"/>
            <a:ext cx="11027664" cy="292608"/>
          </a:xfrm>
          <a:prstGeom prst="rect">
            <a:avLst/>
          </a:prstGeom>
          <a:noFill/>
          <a:ln/>
        </p:spPr>
        <p:txBody>
          <a:bodyPr wrap="square" lIns="0" tIns="0" rIns="0" bIns="0" rtlCol="0" anchor="ctr"/>
          <a:lstStyle/>
          <a:p>
            <a:pPr marL="0" indent="0" algn="l">
              <a:buNone/>
            </a:pPr>
            <a:r>
              <a:rPr lang="en-US" sz="1100" i="1" dirty="0">
                <a:solidFill>
                  <a:srgbClr val="8A7C6E"/>
                </a:solidFill>
                <a:latin typeface="Calibri" pitchFamily="34" charset="0"/>
                <a:ea typeface="Calibri" pitchFamily="34" charset="-122"/>
                <a:cs typeface="Calibri" pitchFamily="34" charset="-120"/>
              </a:rPr>
              <a:t>PR-AUC gap: 68.1 points on Small, 62.3 on Medium, 23.5 on Large.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rect">
            <a:avLst/>
          </a:prstGeom>
          <a:solidFill>
            <a:srgbClr val="5E4A3C"/>
          </a:solidFill>
          <a:ln/>
        </p:spPr>
      </p:sp>
      <p:sp>
        <p:nvSpPr>
          <p:cNvPr id="3" name="Text 1"/>
          <p:cNvSpPr/>
          <p:nvPr/>
        </p:nvSpPr>
        <p:spPr>
          <a:xfrm>
            <a:off x="548640" y="384048"/>
            <a:ext cx="566928" cy="566928"/>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10</a:t>
            </a:r>
            <a:endParaRPr lang="en-US" sz="2400" dirty="0"/>
          </a:p>
        </p:txBody>
      </p:sp>
      <p:sp>
        <p:nvSpPr>
          <p:cNvPr id="4" name="Text 2"/>
          <p:cNvSpPr/>
          <p:nvPr/>
        </p:nvSpPr>
        <p:spPr>
          <a:xfrm>
            <a:off x="1298448" y="365760"/>
            <a:ext cx="10241280" cy="457200"/>
          </a:xfrm>
          <a:prstGeom prst="rect">
            <a:avLst/>
          </a:prstGeom>
          <a:noFill/>
          <a:ln/>
        </p:spPr>
        <p:txBody>
          <a:bodyPr wrap="square" lIns="0" tIns="0" rIns="0" bIns="0" rtlCol="0" anchor="ctr"/>
          <a:lstStyle/>
          <a:p>
            <a:pPr marL="0" indent="0" algn="l">
              <a:buNone/>
            </a:pPr>
            <a:r>
              <a:rPr lang="en-US" sz="3000" b="1" dirty="0">
                <a:solidFill>
                  <a:srgbClr val="231E1A"/>
                </a:solidFill>
                <a:latin typeface="Cambria" pitchFamily="34" charset="0"/>
                <a:ea typeface="Cambria" pitchFamily="34" charset="-122"/>
                <a:cs typeface="Cambria" pitchFamily="34" charset="-120"/>
              </a:rPr>
              <a:t>Results — RQ2 and RQ3</a:t>
            </a:r>
            <a:endParaRPr lang="en-US" sz="3000" dirty="0"/>
          </a:p>
        </p:txBody>
      </p:sp>
      <p:sp>
        <p:nvSpPr>
          <p:cNvPr id="5" name="Text 3"/>
          <p:cNvSpPr/>
          <p:nvPr/>
        </p:nvSpPr>
        <p:spPr>
          <a:xfrm>
            <a:off x="1298448" y="841248"/>
            <a:ext cx="10241280" cy="292608"/>
          </a:xfrm>
          <a:prstGeom prst="rect">
            <a:avLst/>
          </a:prstGeom>
          <a:noFill/>
          <a:ln/>
        </p:spPr>
        <p:txBody>
          <a:bodyPr wrap="square" lIns="0" tIns="0" rIns="0" bIns="0" rtlCol="0" anchor="ctr"/>
          <a:lstStyle/>
          <a:p>
            <a:pPr marL="0" indent="0" algn="l">
              <a:buNone/>
            </a:pPr>
            <a:r>
              <a:rPr lang="en-US" sz="1300" i="1" dirty="0">
                <a:solidFill>
                  <a:srgbClr val="8A7C6E"/>
                </a:solidFill>
                <a:latin typeface="Calibri" pitchFamily="34" charset="0"/>
                <a:ea typeface="Calibri" pitchFamily="34" charset="-122"/>
                <a:cs typeface="Calibri" pitchFamily="34" charset="-120"/>
              </a:rPr>
              <a:t>Imbalance strategy and sampling regime</a:t>
            </a:r>
            <a:endParaRPr lang="en-US" sz="1300" dirty="0"/>
          </a:p>
        </p:txBody>
      </p:sp>
      <p:sp>
        <p:nvSpPr>
          <p:cNvPr id="6" name="Text 4"/>
          <p:cNvSpPr/>
          <p:nvPr/>
        </p:nvSpPr>
        <p:spPr>
          <a:xfrm>
            <a:off x="566928" y="1554480"/>
            <a:ext cx="5349240" cy="310896"/>
          </a:xfrm>
          <a:prstGeom prst="rect">
            <a:avLst/>
          </a:prstGeom>
          <a:noFill/>
          <a:ln/>
        </p:spPr>
        <p:txBody>
          <a:bodyPr wrap="square" lIns="0" tIns="0" rIns="0" bIns="0" rtlCol="0" anchor="ctr"/>
          <a:lstStyle/>
          <a:p>
            <a:pPr marL="0" indent="0" algn="l">
              <a:buNone/>
            </a:pPr>
            <a:r>
              <a:rPr lang="en-US" sz="1550" b="1" dirty="0">
                <a:solidFill>
                  <a:srgbClr val="5E4A3C"/>
                </a:solidFill>
                <a:latin typeface="Cambria" pitchFamily="34" charset="0"/>
                <a:ea typeface="Cambria" pitchFamily="34" charset="-122"/>
                <a:cs typeface="Cambria" pitchFamily="34" charset="-120"/>
              </a:rPr>
              <a:t>RQ2  ·  Cost-sensitive weighting versus SMOTE</a:t>
            </a:r>
            <a:endParaRPr lang="en-US" sz="1550" dirty="0"/>
          </a:p>
        </p:txBody>
      </p:sp>
      <p:sp>
        <p:nvSpPr>
          <p:cNvPr id="7" name="Shape 5"/>
          <p:cNvSpPr/>
          <p:nvPr/>
        </p:nvSpPr>
        <p:spPr>
          <a:xfrm>
            <a:off x="566928" y="1938528"/>
            <a:ext cx="5349240" cy="1481328"/>
          </a:xfrm>
          <a:prstGeom prst="rect">
            <a:avLst/>
          </a:prstGeom>
          <a:solidFill>
            <a:srgbClr val="EFE9E0"/>
          </a:solidFill>
          <a:ln/>
        </p:spPr>
      </p:sp>
      <p:sp>
        <p:nvSpPr>
          <p:cNvPr id="8" name="Text 6"/>
          <p:cNvSpPr/>
          <p:nvPr/>
        </p:nvSpPr>
        <p:spPr>
          <a:xfrm>
            <a:off x="786384" y="2084832"/>
            <a:ext cx="4910328" cy="1188720"/>
          </a:xfrm>
          <a:prstGeom prst="rect">
            <a:avLst/>
          </a:prstGeom>
          <a:noFill/>
          <a:ln/>
        </p:spPr>
        <p:txBody>
          <a:bodyPr wrap="square" lIns="0" tIns="0" rIns="0" bIns="0" rtlCol="0" anchor="ctr"/>
          <a:lstStyle/>
          <a:p>
            <a:pPr marL="0" indent="0" algn="l">
              <a:buNone/>
            </a:pPr>
            <a:r>
              <a:rPr lang="en-US" sz="1250" dirty="0">
                <a:solidFill>
                  <a:srgbClr val="231E1A"/>
                </a:solidFill>
                <a:latin typeface="Calibri" pitchFamily="34" charset="0"/>
                <a:ea typeface="Calibri" pitchFamily="34" charset="-122"/>
                <a:cs typeface="Calibri" pitchFamily="34" charset="-120"/>
              </a:rPr>
              <a:t>The three XGBoost variants sit within 0.001 PR-AUC of each other on Small and Medium, and within 0.0001 on Large. Reweighting and resampling solve the same problem by different means and converge once the minority class is adequately represented.</a:t>
            </a:r>
            <a:endParaRPr lang="en-US" sz="1250" dirty="0"/>
          </a:p>
        </p:txBody>
      </p:sp>
      <p:sp>
        <p:nvSpPr>
          <p:cNvPr id="9" name="Text 7"/>
          <p:cNvSpPr/>
          <p:nvPr/>
        </p:nvSpPr>
        <p:spPr>
          <a:xfrm>
            <a:off x="566928" y="3493008"/>
            <a:ext cx="5349240" cy="420624"/>
          </a:xfrm>
          <a:prstGeom prst="rect">
            <a:avLst/>
          </a:prstGeom>
          <a:noFill/>
          <a:ln/>
        </p:spPr>
        <p:txBody>
          <a:bodyPr wrap="square" lIns="0" tIns="0" rIns="0" bIns="0" rtlCol="0" anchor="t"/>
          <a:lstStyle/>
          <a:p>
            <a:pPr marL="0" indent="0" algn="l">
              <a:buNone/>
            </a:pPr>
            <a:r>
              <a:rPr lang="en-US" sz="1200" i="1" dirty="0">
                <a:solidFill>
                  <a:srgbClr val="5E4A3C"/>
                </a:solidFill>
                <a:latin typeface="Calibri" pitchFamily="34" charset="0"/>
                <a:ea typeface="Calibri" pitchFamily="34" charset="-122"/>
                <a:cs typeface="Calibri" pitchFamily="34" charset="-120"/>
              </a:rPr>
              <a:t>At the tightest 0.5% budget: cost-sensitive reaches 100% precision, SMOTE 99.4%.</a:t>
            </a:r>
            <a:endParaRPr lang="en-US" sz="1200" dirty="0"/>
          </a:p>
        </p:txBody>
      </p:sp>
      <p:sp>
        <p:nvSpPr>
          <p:cNvPr id="10" name="Text 8"/>
          <p:cNvSpPr/>
          <p:nvPr/>
        </p:nvSpPr>
        <p:spPr>
          <a:xfrm>
            <a:off x="6263640" y="1554480"/>
            <a:ext cx="5330952" cy="310896"/>
          </a:xfrm>
          <a:prstGeom prst="rect">
            <a:avLst/>
          </a:prstGeom>
          <a:noFill/>
          <a:ln/>
        </p:spPr>
        <p:txBody>
          <a:bodyPr wrap="square" lIns="0" tIns="0" rIns="0" bIns="0" rtlCol="0" anchor="ctr"/>
          <a:lstStyle/>
          <a:p>
            <a:pPr marL="0" indent="0" algn="l">
              <a:buNone/>
            </a:pPr>
            <a:r>
              <a:rPr lang="en-US" sz="1550" b="1" dirty="0">
                <a:solidFill>
                  <a:srgbClr val="5E4A3C"/>
                </a:solidFill>
                <a:latin typeface="Cambria" pitchFamily="34" charset="0"/>
                <a:ea typeface="Cambria" pitchFamily="34" charset="-122"/>
                <a:cs typeface="Cambria" pitchFamily="34" charset="-120"/>
              </a:rPr>
              <a:t>RQ3  ·  Sampling regime comparison</a:t>
            </a:r>
            <a:endParaRPr lang="en-US" sz="15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263640" y="1938528"/>
          <a:ext cx="5330952" cy="1463040"/>
        </p:xfrm>
        <a:graphic>
          <a:graphicData uri="http://schemas.openxmlformats.org/drawingml/2006/table">
            <a:tbl>
              <a:tblPr/>
              <a:tblGrid>
                <a:gridCol w="1051560">
                  <a:extLst>
                    <a:ext uri="{9D8B030D-6E8A-4147-A177-3AD203B41FA5}">
                      <a16:colId xmlns:a16="http://schemas.microsoft.com/office/drawing/2014/main" val="20000"/>
                    </a:ext>
                  </a:extLst>
                </a:gridCol>
                <a:gridCol w="1115568">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969264">
                  <a:extLst>
                    <a:ext uri="{9D8B030D-6E8A-4147-A177-3AD203B41FA5}">
                      <a16:colId xmlns:a16="http://schemas.microsoft.com/office/drawing/2014/main" val="20004"/>
                    </a:ext>
                  </a:extLst>
                </a:gridCol>
              </a:tblGrid>
              <a:tr h="365760">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Regime</a:t>
                      </a:r>
                      <a:endParaRPr lang="en-US" sz="11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5E4A3C"/>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PR-AUC</a:t>
                      </a:r>
                      <a:endParaRPr lang="en-US" sz="11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5E4A3C"/>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Baseline</a:t>
                      </a:r>
                      <a:endParaRPr lang="en-US" sz="11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5E4A3C"/>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Accuracy</a:t>
                      </a:r>
                      <a:endParaRPr lang="en-US" sz="11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5E4A3C"/>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Lift</a:t>
                      </a:r>
                      <a:endParaRPr lang="en-US" sz="11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5E4A3C"/>
                    </a:solidFill>
                  </a:tcPr>
                </a:tc>
                <a:extLst>
                  <a:ext uri="{0D108BD9-81ED-4DB2-BD59-A6C34878D82A}">
                    <a16:rowId xmlns:a16="http://schemas.microsoft.com/office/drawing/2014/main" val="10000"/>
                  </a:ext>
                </a:extLst>
              </a:tr>
              <a:tr h="365760">
                <a:tc>
                  <a:txBody>
                    <a:bodyPr/>
                    <a:lstStyle/>
                    <a:p>
                      <a:pPr marL="0" indent="0" algn="ctr">
                        <a:buNone/>
                      </a:pPr>
                      <a:r>
                        <a:rPr lang="en-US" sz="1150" dirty="0">
                          <a:solidFill>
                            <a:srgbClr val="231E1A"/>
                          </a:solidFill>
                          <a:latin typeface="Calibri" pitchFamily="34" charset="0"/>
                          <a:ea typeface="Calibri" pitchFamily="34" charset="-122"/>
                          <a:cs typeface="Calibri" pitchFamily="34" charset="-120"/>
                        </a:rPr>
                        <a:t>1:10</a:t>
                      </a:r>
                      <a:endParaRPr lang="en-US" sz="11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tc>
                  <a:txBody>
                    <a:bodyPr/>
                    <a:lstStyle/>
                    <a:p>
                      <a:pPr marL="0" indent="0" algn="ctr">
                        <a:buNone/>
                      </a:pPr>
                      <a:r>
                        <a:rPr lang="en-US" sz="1150" dirty="0">
                          <a:solidFill>
                            <a:srgbClr val="231E1A"/>
                          </a:solidFill>
                          <a:latin typeface="Calibri" pitchFamily="34" charset="0"/>
                          <a:ea typeface="Calibri" pitchFamily="34" charset="-122"/>
                          <a:cs typeface="Calibri" pitchFamily="34" charset="-120"/>
                        </a:rPr>
                        <a:t>0.9340</a:t>
                      </a:r>
                      <a:endParaRPr lang="en-US" sz="11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tc>
                  <a:txBody>
                    <a:bodyPr/>
                    <a:lstStyle/>
                    <a:p>
                      <a:pPr marL="0" indent="0" algn="ctr">
                        <a:buNone/>
                      </a:pPr>
                      <a:r>
                        <a:rPr lang="en-US" sz="1150" dirty="0">
                          <a:solidFill>
                            <a:srgbClr val="231E1A"/>
                          </a:solidFill>
                          <a:latin typeface="Calibri" pitchFamily="34" charset="0"/>
                          <a:ea typeface="Calibri" pitchFamily="34" charset="-122"/>
                          <a:cs typeface="Calibri" pitchFamily="34" charset="-120"/>
                        </a:rPr>
                        <a:t>90.91%</a:t>
                      </a:r>
                      <a:endParaRPr lang="en-US" sz="11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tc>
                  <a:txBody>
                    <a:bodyPr/>
                    <a:lstStyle/>
                    <a:p>
                      <a:pPr marL="0" indent="0" algn="ctr">
                        <a:buNone/>
                      </a:pPr>
                      <a:r>
                        <a:rPr lang="en-US" sz="1150" dirty="0">
                          <a:solidFill>
                            <a:srgbClr val="231E1A"/>
                          </a:solidFill>
                          <a:latin typeface="Calibri" pitchFamily="34" charset="0"/>
                          <a:ea typeface="Calibri" pitchFamily="34" charset="-122"/>
                          <a:cs typeface="Calibri" pitchFamily="34" charset="-120"/>
                        </a:rPr>
                        <a:t>94.17%</a:t>
                      </a:r>
                      <a:endParaRPr lang="en-US" sz="11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tc>
                  <a:txBody>
                    <a:bodyPr/>
                    <a:lstStyle/>
                    <a:p>
                      <a:pPr marL="0" indent="0" algn="ctr">
                        <a:buNone/>
                      </a:pPr>
                      <a:r>
                        <a:rPr lang="en-US" sz="1150" dirty="0">
                          <a:solidFill>
                            <a:srgbClr val="231E1A"/>
                          </a:solidFill>
                          <a:latin typeface="Calibri" pitchFamily="34" charset="0"/>
                          <a:ea typeface="Calibri" pitchFamily="34" charset="-122"/>
                          <a:cs typeface="Calibri" pitchFamily="34" charset="-120"/>
                        </a:rPr>
                        <a:t>+3.26</a:t>
                      </a:r>
                      <a:endParaRPr lang="en-US" sz="11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extLst>
                  <a:ext uri="{0D108BD9-81ED-4DB2-BD59-A6C34878D82A}">
                    <a16:rowId xmlns:a16="http://schemas.microsoft.com/office/drawing/2014/main" val="10001"/>
                  </a:ext>
                </a:extLst>
              </a:tr>
              <a:tr h="365760">
                <a:tc>
                  <a:txBody>
                    <a:bodyPr/>
                    <a:lstStyle/>
                    <a:p>
                      <a:pPr marL="0" indent="0" algn="ctr">
                        <a:buNone/>
                      </a:pPr>
                      <a:r>
                        <a:rPr lang="en-US" sz="1150" dirty="0">
                          <a:solidFill>
                            <a:srgbClr val="231E1A"/>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tc>
                  <a:txBody>
                    <a:bodyPr/>
                    <a:lstStyle/>
                    <a:p>
                      <a:pPr marL="0" indent="0" algn="ctr">
                        <a:buNone/>
                      </a:pPr>
                      <a:r>
                        <a:rPr lang="en-US" sz="1150" dirty="0">
                          <a:solidFill>
                            <a:srgbClr val="231E1A"/>
                          </a:solidFill>
                          <a:latin typeface="Calibri" pitchFamily="34" charset="0"/>
                          <a:ea typeface="Calibri" pitchFamily="34" charset="-122"/>
                          <a:cs typeface="Calibri" pitchFamily="34" charset="-120"/>
                        </a:rPr>
                        <a:t>0.9576</a:t>
                      </a:r>
                      <a:endParaRPr lang="en-US" sz="11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tc>
                  <a:txBody>
                    <a:bodyPr/>
                    <a:lstStyle/>
                    <a:p>
                      <a:pPr marL="0" indent="0" algn="ctr">
                        <a:buNone/>
                      </a:pPr>
                      <a:r>
                        <a:rPr lang="en-US" sz="1150" dirty="0">
                          <a:solidFill>
                            <a:srgbClr val="231E1A"/>
                          </a:solidFill>
                          <a:latin typeface="Calibri" pitchFamily="34" charset="0"/>
                          <a:ea typeface="Calibri" pitchFamily="34" charset="-122"/>
                          <a:cs typeface="Calibri" pitchFamily="34" charset="-120"/>
                        </a:rPr>
                        <a:t>83.33%</a:t>
                      </a:r>
                      <a:endParaRPr lang="en-US" sz="11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tc>
                  <a:txBody>
                    <a:bodyPr/>
                    <a:lstStyle/>
                    <a:p>
                      <a:pPr marL="0" indent="0" algn="ctr">
                        <a:buNone/>
                      </a:pPr>
                      <a:r>
                        <a:rPr lang="en-US" sz="1150" dirty="0">
                          <a:solidFill>
                            <a:srgbClr val="231E1A"/>
                          </a:solidFill>
                          <a:latin typeface="Calibri" pitchFamily="34" charset="0"/>
                          <a:ea typeface="Calibri" pitchFamily="34" charset="-122"/>
                          <a:cs typeface="Calibri" pitchFamily="34" charset="-120"/>
                        </a:rPr>
                        <a:t>93.97%</a:t>
                      </a:r>
                      <a:endParaRPr lang="en-US" sz="11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tc>
                  <a:txBody>
                    <a:bodyPr/>
                    <a:lstStyle/>
                    <a:p>
                      <a:pPr marL="0" indent="0" algn="ctr">
                        <a:buNone/>
                      </a:pPr>
                      <a:r>
                        <a:rPr lang="en-US" sz="1150" dirty="0">
                          <a:solidFill>
                            <a:srgbClr val="231E1A"/>
                          </a:solidFill>
                          <a:latin typeface="Calibri" pitchFamily="34" charset="0"/>
                          <a:ea typeface="Calibri" pitchFamily="34" charset="-122"/>
                          <a:cs typeface="Calibri" pitchFamily="34" charset="-120"/>
                        </a:rPr>
                        <a:t>+10.64</a:t>
                      </a:r>
                      <a:endParaRPr lang="en-US" sz="11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extLst>
                  <a:ext uri="{0D108BD9-81ED-4DB2-BD59-A6C34878D82A}">
                    <a16:rowId xmlns:a16="http://schemas.microsoft.com/office/drawing/2014/main" val="10002"/>
                  </a:ext>
                </a:extLst>
              </a:tr>
              <a:tr h="365760">
                <a:tc>
                  <a:txBody>
                    <a:bodyPr/>
                    <a:lstStyle/>
                    <a:p>
                      <a:pPr marL="0" indent="0" algn="ctr">
                        <a:buNone/>
                      </a:pPr>
                      <a:r>
                        <a:rPr lang="en-US" sz="1150" dirty="0">
                          <a:solidFill>
                            <a:srgbClr val="231E1A"/>
                          </a:solidFill>
                          <a:latin typeface="Calibri" pitchFamily="34" charset="0"/>
                          <a:ea typeface="Calibri" pitchFamily="34" charset="-122"/>
                          <a:cs typeface="Calibri" pitchFamily="34" charset="-120"/>
                        </a:rPr>
                        <a:t>1:1</a:t>
                      </a:r>
                      <a:endParaRPr lang="en-US" sz="11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tc>
                  <a:txBody>
                    <a:bodyPr/>
                    <a:lstStyle/>
                    <a:p>
                      <a:pPr marL="0" indent="0" algn="ctr">
                        <a:buNone/>
                      </a:pPr>
                      <a:r>
                        <a:rPr lang="en-US" sz="1150" dirty="0">
                          <a:solidFill>
                            <a:srgbClr val="231E1A"/>
                          </a:solidFill>
                          <a:latin typeface="Calibri" pitchFamily="34" charset="0"/>
                          <a:ea typeface="Calibri" pitchFamily="34" charset="-122"/>
                          <a:cs typeface="Calibri" pitchFamily="34" charset="-120"/>
                        </a:rPr>
                        <a:t>0.9929</a:t>
                      </a:r>
                      <a:endParaRPr lang="en-US" sz="11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tc>
                  <a:txBody>
                    <a:bodyPr/>
                    <a:lstStyle/>
                    <a:p>
                      <a:pPr marL="0" indent="0" algn="ctr">
                        <a:buNone/>
                      </a:pPr>
                      <a:r>
                        <a:rPr lang="en-US" sz="1150" dirty="0">
                          <a:solidFill>
                            <a:srgbClr val="231E1A"/>
                          </a:solidFill>
                          <a:latin typeface="Calibri" pitchFamily="34" charset="0"/>
                          <a:ea typeface="Calibri" pitchFamily="34" charset="-122"/>
                          <a:cs typeface="Calibri" pitchFamily="34" charset="-120"/>
                        </a:rPr>
                        <a:t>50.00%</a:t>
                      </a:r>
                      <a:endParaRPr lang="en-US" sz="11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tc>
                  <a:txBody>
                    <a:bodyPr/>
                    <a:lstStyle/>
                    <a:p>
                      <a:pPr marL="0" indent="0" algn="ctr">
                        <a:buNone/>
                      </a:pPr>
                      <a:r>
                        <a:rPr lang="en-US" sz="1150" dirty="0">
                          <a:solidFill>
                            <a:srgbClr val="231E1A"/>
                          </a:solidFill>
                          <a:latin typeface="Calibri" pitchFamily="34" charset="0"/>
                          <a:ea typeface="Calibri" pitchFamily="34" charset="-122"/>
                          <a:cs typeface="Calibri" pitchFamily="34" charset="-120"/>
                        </a:rPr>
                        <a:t>94.22%</a:t>
                      </a:r>
                      <a:endParaRPr lang="en-US" sz="11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tc>
                  <a:txBody>
                    <a:bodyPr/>
                    <a:lstStyle/>
                    <a:p>
                      <a:pPr marL="0" indent="0" algn="ctr">
                        <a:buNone/>
                      </a:pPr>
                      <a:r>
                        <a:rPr lang="en-US" sz="1150" dirty="0">
                          <a:solidFill>
                            <a:srgbClr val="231E1A"/>
                          </a:solidFill>
                          <a:latin typeface="Calibri" pitchFamily="34" charset="0"/>
                          <a:ea typeface="Calibri" pitchFamily="34" charset="-122"/>
                          <a:cs typeface="Calibri" pitchFamily="34" charset="-120"/>
                        </a:rPr>
                        <a:t>+44.22</a:t>
                      </a:r>
                      <a:endParaRPr lang="en-US" sz="1150" dirty="0">
                        <a:latin typeface="Calibri" charset="0"/>
                        <a:ea typeface="Calibri" charset="0"/>
                        <a:cs typeface="Calibri" charset="0"/>
                      </a:endParaRPr>
                    </a:p>
                  </a:txBody>
                  <a:tcPr anchor="ctr">
                    <a:lnL w="9525" cap="flat" cmpd="sng" algn="ctr">
                      <a:solidFill>
                        <a:srgbClr val="D8CFC2"/>
                      </a:solidFill>
                      <a:prstDash val="solid"/>
                      <a:round/>
                      <a:headEnd type="none" w="med" len="med"/>
                      <a:tailEnd type="none" w="med" len="med"/>
                    </a:lnL>
                    <a:lnR w="9525" cap="flat" cmpd="sng" algn="ctr">
                      <a:solidFill>
                        <a:srgbClr val="D8CFC2"/>
                      </a:solidFill>
                      <a:prstDash val="solid"/>
                      <a:round/>
                      <a:headEnd type="none" w="med" len="med"/>
                      <a:tailEnd type="none" w="med" len="med"/>
                    </a:lnR>
                    <a:lnT w="9525" cap="flat" cmpd="sng" algn="ctr">
                      <a:solidFill>
                        <a:srgbClr val="D8CFC2"/>
                      </a:solidFill>
                      <a:prstDash val="solid"/>
                      <a:round/>
                      <a:headEnd type="none" w="med" len="med"/>
                      <a:tailEnd type="none" w="med" len="med"/>
                    </a:lnT>
                    <a:lnB w="9525" cap="flat" cmpd="sng" algn="ctr">
                      <a:solidFill>
                        <a:srgbClr val="D8CFC2"/>
                      </a:solidFill>
                      <a:prstDash val="solid"/>
                      <a:round/>
                      <a:headEnd type="none" w="med" len="med"/>
                      <a:tailEnd type="none" w="med" len="med"/>
                    </a:lnB>
                    <a:solidFill>
                      <a:srgbClr val="FBF9F6"/>
                    </a:solidFill>
                  </a:tcPr>
                </a:tc>
                <a:extLst>
                  <a:ext uri="{0D108BD9-81ED-4DB2-BD59-A6C34878D82A}">
                    <a16:rowId xmlns:a16="http://schemas.microsoft.com/office/drawing/2014/main" val="10003"/>
                  </a:ext>
                </a:extLst>
              </a:tr>
            </a:tbl>
          </a:graphicData>
        </a:graphic>
      </p:graphicFrame>
      <p:sp>
        <p:nvSpPr>
          <p:cNvPr id="12" name="Text 9"/>
          <p:cNvSpPr/>
          <p:nvPr/>
        </p:nvSpPr>
        <p:spPr>
          <a:xfrm>
            <a:off x="6263640" y="3493008"/>
            <a:ext cx="5330952" cy="548640"/>
          </a:xfrm>
          <a:prstGeom prst="rect">
            <a:avLst/>
          </a:prstGeom>
          <a:noFill/>
          <a:ln/>
        </p:spPr>
        <p:txBody>
          <a:bodyPr wrap="square" lIns="0" tIns="0" rIns="0" bIns="0" rtlCol="0" anchor="t"/>
          <a:lstStyle/>
          <a:p>
            <a:pPr marL="0" indent="0" algn="l">
              <a:buNone/>
            </a:pPr>
            <a:r>
              <a:rPr lang="en-US" sz="1200" i="1" dirty="0">
                <a:solidFill>
                  <a:srgbClr val="5E4A3C"/>
                </a:solidFill>
                <a:latin typeface="Calibri" pitchFamily="34" charset="0"/>
                <a:ea typeface="Calibri" pitchFamily="34" charset="-122"/>
                <a:cs typeface="Calibri" pitchFamily="34" charset="-120"/>
              </a:rPr>
              <a:t>Tighter balance raises PR-AUC monotonically — but the 1:1 accuracy advantage is largely an artefact of its lower baseline.</a:t>
            </a:r>
            <a:endParaRPr lang="en-US" sz="1200" dirty="0"/>
          </a:p>
        </p:txBody>
      </p:sp>
      <p:sp>
        <p:nvSpPr>
          <p:cNvPr id="13" name="Shape 10"/>
          <p:cNvSpPr/>
          <p:nvPr/>
        </p:nvSpPr>
        <p:spPr>
          <a:xfrm>
            <a:off x="566928" y="4151376"/>
            <a:ext cx="11027664" cy="1298448"/>
          </a:xfrm>
          <a:prstGeom prst="rect">
            <a:avLst/>
          </a:prstGeom>
          <a:solidFill>
            <a:srgbClr val="E2D9CC"/>
          </a:solidFill>
          <a:ln/>
        </p:spPr>
      </p:sp>
      <p:sp>
        <p:nvSpPr>
          <p:cNvPr id="14" name="Text 11"/>
          <p:cNvSpPr/>
          <p:nvPr/>
        </p:nvSpPr>
        <p:spPr>
          <a:xfrm>
            <a:off x="822960" y="4279392"/>
            <a:ext cx="10515600" cy="292608"/>
          </a:xfrm>
          <a:prstGeom prst="rect">
            <a:avLst/>
          </a:prstGeom>
          <a:noFill/>
          <a:ln/>
        </p:spPr>
        <p:txBody>
          <a:bodyPr wrap="square" lIns="0" tIns="0" rIns="0" bIns="0" rtlCol="0" anchor="ctr"/>
          <a:lstStyle/>
          <a:p>
            <a:pPr marL="0" indent="0" algn="l">
              <a:buNone/>
            </a:pPr>
            <a:r>
              <a:rPr lang="en-US" sz="1350" b="1" dirty="0">
                <a:solidFill>
                  <a:srgbClr val="231E1A"/>
                </a:solidFill>
                <a:latin typeface="Calibri" pitchFamily="34" charset="0"/>
                <a:ea typeface="Calibri" pitchFamily="34" charset="-122"/>
                <a:cs typeface="Calibri" pitchFamily="34" charset="-120"/>
              </a:rPr>
              <a:t>A mathematical result, not a limitation</a:t>
            </a:r>
            <a:endParaRPr lang="en-US" sz="1350" dirty="0"/>
          </a:p>
        </p:txBody>
      </p:sp>
      <p:sp>
        <p:nvSpPr>
          <p:cNvPr id="15" name="Text 12"/>
          <p:cNvSpPr/>
          <p:nvPr/>
        </p:nvSpPr>
        <p:spPr>
          <a:xfrm>
            <a:off x="822960" y="4590288"/>
            <a:ext cx="10515600" cy="749808"/>
          </a:xfrm>
          <a:prstGeom prst="rect">
            <a:avLst/>
          </a:prstGeom>
          <a:noFill/>
          <a:ln/>
        </p:spPr>
        <p:txBody>
          <a:bodyPr wrap="square" lIns="0" tIns="0" rIns="0" bIns="0" rtlCol="0" anchor="t"/>
          <a:lstStyle/>
          <a:p>
            <a:pPr marL="0" indent="0" algn="l">
              <a:buNone/>
            </a:pPr>
            <a:r>
              <a:rPr lang="en-US" sz="1250" dirty="0">
                <a:solidFill>
                  <a:srgbClr val="231E1A"/>
                </a:solidFill>
                <a:latin typeface="Calibri" pitchFamily="34" charset="0"/>
                <a:ea typeface="Calibri" pitchFamily="34" charset="-122"/>
                <a:cs typeface="Calibri" pitchFamily="34" charset="-120"/>
              </a:rPr>
              <a:t>Recall@1% falls across regimes — 5.61%, 3.89%, 1.47%. Because FP/TP is zero, Recall@k = k ÷ π exactly. Substituting test prevalence: 0.01÷0.178 = 0.0561, 0.01÷0.257 = 0.0389, 0.01÷0.681 = 0.0147. The decline is arithmetic, not a loss of discrimination.</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rect">
            <a:avLst/>
          </a:prstGeom>
          <a:solidFill>
            <a:srgbClr val="5E4A3C"/>
          </a:solidFill>
          <a:ln/>
        </p:spPr>
      </p:sp>
      <p:sp>
        <p:nvSpPr>
          <p:cNvPr id="3" name="Text 1"/>
          <p:cNvSpPr/>
          <p:nvPr/>
        </p:nvSpPr>
        <p:spPr>
          <a:xfrm>
            <a:off x="548640" y="384048"/>
            <a:ext cx="566928" cy="566928"/>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11</a:t>
            </a:r>
            <a:endParaRPr lang="en-US" sz="2400" dirty="0"/>
          </a:p>
        </p:txBody>
      </p:sp>
      <p:sp>
        <p:nvSpPr>
          <p:cNvPr id="4" name="Text 2"/>
          <p:cNvSpPr/>
          <p:nvPr/>
        </p:nvSpPr>
        <p:spPr>
          <a:xfrm>
            <a:off x="1298448" y="365760"/>
            <a:ext cx="10241280" cy="457200"/>
          </a:xfrm>
          <a:prstGeom prst="rect">
            <a:avLst/>
          </a:prstGeom>
          <a:noFill/>
          <a:ln/>
        </p:spPr>
        <p:txBody>
          <a:bodyPr wrap="square" lIns="0" tIns="0" rIns="0" bIns="0" rtlCol="0" anchor="ctr"/>
          <a:lstStyle/>
          <a:p>
            <a:pPr marL="0" indent="0" algn="l">
              <a:buNone/>
            </a:pPr>
            <a:r>
              <a:rPr lang="en-US" sz="3000" b="1" dirty="0">
                <a:solidFill>
                  <a:srgbClr val="231E1A"/>
                </a:solidFill>
                <a:latin typeface="Cambria" pitchFamily="34" charset="0"/>
                <a:ea typeface="Cambria" pitchFamily="34" charset="-122"/>
                <a:cs typeface="Cambria" pitchFamily="34" charset="-120"/>
              </a:rPr>
              <a:t>Explainability and Audit Trail</a:t>
            </a:r>
            <a:endParaRPr lang="en-US" sz="3000" dirty="0"/>
          </a:p>
        </p:txBody>
      </p:sp>
      <p:sp>
        <p:nvSpPr>
          <p:cNvPr id="5" name="Text 3"/>
          <p:cNvSpPr/>
          <p:nvPr/>
        </p:nvSpPr>
        <p:spPr>
          <a:xfrm>
            <a:off x="1298448" y="841248"/>
            <a:ext cx="10241280" cy="292608"/>
          </a:xfrm>
          <a:prstGeom prst="rect">
            <a:avLst/>
          </a:prstGeom>
          <a:noFill/>
          <a:ln/>
        </p:spPr>
        <p:txBody>
          <a:bodyPr wrap="square" lIns="0" tIns="0" rIns="0" bIns="0" rtlCol="0" anchor="ctr"/>
          <a:lstStyle/>
          <a:p>
            <a:pPr marL="0" indent="0" algn="l">
              <a:buNone/>
            </a:pPr>
            <a:r>
              <a:rPr lang="en-US" sz="1300" i="1" dirty="0">
                <a:solidFill>
                  <a:srgbClr val="8A7C6E"/>
                </a:solidFill>
                <a:latin typeface="Calibri" pitchFamily="34" charset="0"/>
                <a:ea typeface="Calibri" pitchFamily="34" charset="-122"/>
                <a:cs typeface="Calibri" pitchFamily="34" charset="-120"/>
              </a:rPr>
              <a:t>SHAP attributions translated into twelve reason codes</a:t>
            </a:r>
            <a:endParaRPr lang="en-US" sz="1300" dirty="0"/>
          </a:p>
        </p:txBody>
      </p:sp>
      <p:sp>
        <p:nvSpPr>
          <p:cNvPr id="6" name="Text 4"/>
          <p:cNvSpPr/>
          <p:nvPr/>
        </p:nvSpPr>
        <p:spPr>
          <a:xfrm>
            <a:off x="566928" y="1554480"/>
            <a:ext cx="5577840" cy="310896"/>
          </a:xfrm>
          <a:prstGeom prst="rect">
            <a:avLst/>
          </a:prstGeom>
          <a:noFill/>
          <a:ln/>
        </p:spPr>
        <p:txBody>
          <a:bodyPr wrap="square" lIns="0" tIns="0" rIns="0" bIns="0" rtlCol="0" anchor="ctr"/>
          <a:lstStyle/>
          <a:p>
            <a:pPr marL="0" indent="0" algn="l">
              <a:buNone/>
            </a:pPr>
            <a:r>
              <a:rPr lang="en-US" sz="1550" b="1" dirty="0">
                <a:solidFill>
                  <a:srgbClr val="5E4A3C"/>
                </a:solidFill>
                <a:latin typeface="Cambria" pitchFamily="34" charset="0"/>
                <a:ea typeface="Cambria" pitchFamily="34" charset="-122"/>
                <a:cs typeface="Cambria" pitchFamily="34" charset="-120"/>
              </a:rPr>
              <a:t>From attribution to audit statement</a:t>
            </a:r>
            <a:endParaRPr lang="en-US" sz="1550" dirty="0"/>
          </a:p>
        </p:txBody>
      </p:sp>
      <p:sp>
        <p:nvSpPr>
          <p:cNvPr id="7" name="Shape 5"/>
          <p:cNvSpPr/>
          <p:nvPr/>
        </p:nvSpPr>
        <p:spPr>
          <a:xfrm>
            <a:off x="566928" y="1956816"/>
            <a:ext cx="5577840" cy="731520"/>
          </a:xfrm>
          <a:prstGeom prst="rect">
            <a:avLst/>
          </a:prstGeom>
          <a:solidFill>
            <a:srgbClr val="EFE9E0"/>
          </a:solidFill>
          <a:ln/>
        </p:spPr>
      </p:sp>
      <p:sp>
        <p:nvSpPr>
          <p:cNvPr id="8" name="Text 6"/>
          <p:cNvSpPr/>
          <p:nvPr/>
        </p:nvSpPr>
        <p:spPr>
          <a:xfrm>
            <a:off x="786384" y="2029968"/>
            <a:ext cx="1691640" cy="585216"/>
          </a:xfrm>
          <a:prstGeom prst="rect">
            <a:avLst/>
          </a:prstGeom>
          <a:noFill/>
          <a:ln/>
        </p:spPr>
        <p:txBody>
          <a:bodyPr wrap="square" lIns="0" tIns="0" rIns="0" bIns="0" rtlCol="0" anchor="ctr"/>
          <a:lstStyle/>
          <a:p>
            <a:pPr marL="0" indent="0" algn="l">
              <a:buNone/>
            </a:pPr>
            <a:r>
              <a:rPr lang="en-US" sz="1300" b="1" dirty="0">
                <a:solidFill>
                  <a:srgbClr val="5E4A3C"/>
                </a:solidFill>
                <a:latin typeface="Calibri" pitchFamily="34" charset="0"/>
                <a:ea typeface="Calibri" pitchFamily="34" charset="-122"/>
                <a:cs typeface="Calibri" pitchFamily="34" charset="-120"/>
              </a:rPr>
              <a:t>TreeSHAP</a:t>
            </a:r>
            <a:endParaRPr lang="en-US" sz="1300" dirty="0"/>
          </a:p>
        </p:txBody>
      </p:sp>
      <p:sp>
        <p:nvSpPr>
          <p:cNvPr id="9" name="Text 7"/>
          <p:cNvSpPr/>
          <p:nvPr/>
        </p:nvSpPr>
        <p:spPr>
          <a:xfrm>
            <a:off x="2542032" y="2029968"/>
            <a:ext cx="3383280" cy="585216"/>
          </a:xfrm>
          <a:prstGeom prst="rect">
            <a:avLst/>
          </a:prstGeom>
          <a:noFill/>
          <a:ln/>
        </p:spPr>
        <p:txBody>
          <a:bodyPr wrap="square" lIns="0" tIns="0" rIns="0" bIns="0" rtlCol="0" anchor="ctr"/>
          <a:lstStyle/>
          <a:p>
            <a:pPr marL="0" indent="0" algn="l">
              <a:buNone/>
            </a:pPr>
            <a:r>
              <a:rPr lang="en-US" sz="1150" dirty="0">
                <a:solidFill>
                  <a:srgbClr val="231E1A"/>
                </a:solidFill>
                <a:latin typeface="Calibri" pitchFamily="34" charset="0"/>
                <a:ea typeface="Calibri" pitchFamily="34" charset="-122"/>
                <a:cs typeface="Calibri" pitchFamily="34" charset="-120"/>
              </a:rPr>
              <a:t>Exact Shapley attributions computed per transaction</a:t>
            </a:r>
            <a:endParaRPr lang="en-US" sz="1150" dirty="0"/>
          </a:p>
        </p:txBody>
      </p:sp>
      <p:sp>
        <p:nvSpPr>
          <p:cNvPr id="10" name="Shape 8"/>
          <p:cNvSpPr/>
          <p:nvPr/>
        </p:nvSpPr>
        <p:spPr>
          <a:xfrm>
            <a:off x="566928" y="2816352"/>
            <a:ext cx="5577840" cy="731520"/>
          </a:xfrm>
          <a:prstGeom prst="rect">
            <a:avLst/>
          </a:prstGeom>
          <a:solidFill>
            <a:srgbClr val="F7F4EF"/>
          </a:solidFill>
          <a:ln/>
        </p:spPr>
      </p:sp>
      <p:sp>
        <p:nvSpPr>
          <p:cNvPr id="11" name="Text 9"/>
          <p:cNvSpPr/>
          <p:nvPr/>
        </p:nvSpPr>
        <p:spPr>
          <a:xfrm>
            <a:off x="786384" y="2889504"/>
            <a:ext cx="1691640" cy="585216"/>
          </a:xfrm>
          <a:prstGeom prst="rect">
            <a:avLst/>
          </a:prstGeom>
          <a:noFill/>
          <a:ln/>
        </p:spPr>
        <p:txBody>
          <a:bodyPr wrap="square" lIns="0" tIns="0" rIns="0" bIns="0" rtlCol="0" anchor="ctr"/>
          <a:lstStyle/>
          <a:p>
            <a:pPr marL="0" indent="0" algn="l">
              <a:buNone/>
            </a:pPr>
            <a:r>
              <a:rPr lang="en-US" sz="1300" b="1" dirty="0">
                <a:solidFill>
                  <a:srgbClr val="5E4A3C"/>
                </a:solidFill>
                <a:latin typeface="Calibri" pitchFamily="34" charset="0"/>
                <a:ea typeface="Calibri" pitchFamily="34" charset="-122"/>
                <a:cs typeface="Calibri" pitchFamily="34" charset="-120"/>
              </a:rPr>
              <a:t>Top 3 drivers</a:t>
            </a:r>
            <a:endParaRPr lang="en-US" sz="1300" dirty="0"/>
          </a:p>
        </p:txBody>
      </p:sp>
      <p:sp>
        <p:nvSpPr>
          <p:cNvPr id="12" name="Text 10"/>
          <p:cNvSpPr/>
          <p:nvPr/>
        </p:nvSpPr>
        <p:spPr>
          <a:xfrm>
            <a:off x="2542032" y="2889504"/>
            <a:ext cx="3383280" cy="585216"/>
          </a:xfrm>
          <a:prstGeom prst="rect">
            <a:avLst/>
          </a:prstGeom>
          <a:noFill/>
          <a:ln/>
        </p:spPr>
        <p:txBody>
          <a:bodyPr wrap="square" lIns="0" tIns="0" rIns="0" bIns="0" rtlCol="0" anchor="ctr"/>
          <a:lstStyle/>
          <a:p>
            <a:pPr marL="0" indent="0" algn="l">
              <a:buNone/>
            </a:pPr>
            <a:r>
              <a:rPr lang="en-US" sz="1150" dirty="0">
                <a:solidFill>
                  <a:srgbClr val="231E1A"/>
                </a:solidFill>
                <a:latin typeface="Calibri" pitchFamily="34" charset="0"/>
                <a:ea typeface="Calibri" pitchFamily="34" charset="-122"/>
                <a:cs typeface="Calibri" pitchFamily="34" charset="-120"/>
              </a:rPr>
              <a:t>Highest positive contributors selected for each alert</a:t>
            </a:r>
            <a:endParaRPr lang="en-US" sz="1150" dirty="0"/>
          </a:p>
        </p:txBody>
      </p:sp>
      <p:sp>
        <p:nvSpPr>
          <p:cNvPr id="13" name="Shape 11"/>
          <p:cNvSpPr/>
          <p:nvPr/>
        </p:nvSpPr>
        <p:spPr>
          <a:xfrm>
            <a:off x="566928" y="3675888"/>
            <a:ext cx="5577840" cy="731520"/>
          </a:xfrm>
          <a:prstGeom prst="rect">
            <a:avLst/>
          </a:prstGeom>
          <a:solidFill>
            <a:srgbClr val="EFE9E0"/>
          </a:solidFill>
          <a:ln/>
        </p:spPr>
      </p:sp>
      <p:sp>
        <p:nvSpPr>
          <p:cNvPr id="14" name="Text 12"/>
          <p:cNvSpPr/>
          <p:nvPr/>
        </p:nvSpPr>
        <p:spPr>
          <a:xfrm>
            <a:off x="786384" y="3749040"/>
            <a:ext cx="1691640" cy="585216"/>
          </a:xfrm>
          <a:prstGeom prst="rect">
            <a:avLst/>
          </a:prstGeom>
          <a:noFill/>
          <a:ln/>
        </p:spPr>
        <p:txBody>
          <a:bodyPr wrap="square" lIns="0" tIns="0" rIns="0" bIns="0" rtlCol="0" anchor="ctr"/>
          <a:lstStyle/>
          <a:p>
            <a:pPr marL="0" indent="0" algn="l">
              <a:buNone/>
            </a:pPr>
            <a:r>
              <a:rPr lang="en-US" sz="1300" b="1" dirty="0">
                <a:solidFill>
                  <a:srgbClr val="5E4A3C"/>
                </a:solidFill>
                <a:latin typeface="Calibri" pitchFamily="34" charset="0"/>
                <a:ea typeface="Calibri" pitchFamily="34" charset="-122"/>
                <a:cs typeface="Calibri" pitchFamily="34" charset="-120"/>
              </a:rPr>
              <a:t>Reason codes</a:t>
            </a:r>
            <a:endParaRPr lang="en-US" sz="1300" dirty="0"/>
          </a:p>
        </p:txBody>
      </p:sp>
      <p:sp>
        <p:nvSpPr>
          <p:cNvPr id="15" name="Text 13"/>
          <p:cNvSpPr/>
          <p:nvPr/>
        </p:nvSpPr>
        <p:spPr>
          <a:xfrm>
            <a:off x="2542032" y="3749040"/>
            <a:ext cx="3383280" cy="585216"/>
          </a:xfrm>
          <a:prstGeom prst="rect">
            <a:avLst/>
          </a:prstGeom>
          <a:noFill/>
          <a:ln/>
        </p:spPr>
        <p:txBody>
          <a:bodyPr wrap="square" lIns="0" tIns="0" rIns="0" bIns="0" rtlCol="0" anchor="ctr"/>
          <a:lstStyle/>
          <a:p>
            <a:pPr marL="0" indent="0" algn="l">
              <a:buNone/>
            </a:pPr>
            <a:r>
              <a:rPr lang="en-US" sz="1150" dirty="0">
                <a:solidFill>
                  <a:srgbClr val="231E1A"/>
                </a:solidFill>
                <a:latin typeface="Calibri" pitchFamily="34" charset="0"/>
                <a:ea typeface="Calibri" pitchFamily="34" charset="-122"/>
                <a:cs typeface="Calibri" pitchFamily="34" charset="-120"/>
              </a:rPr>
              <a:t>Mapped to RC01–RC12, each tied to an AML typology</a:t>
            </a:r>
            <a:endParaRPr lang="en-US" sz="1150" dirty="0"/>
          </a:p>
        </p:txBody>
      </p:sp>
      <p:sp>
        <p:nvSpPr>
          <p:cNvPr id="16" name="Shape 14"/>
          <p:cNvSpPr/>
          <p:nvPr/>
        </p:nvSpPr>
        <p:spPr>
          <a:xfrm>
            <a:off x="566928" y="4535424"/>
            <a:ext cx="5577840" cy="731520"/>
          </a:xfrm>
          <a:prstGeom prst="rect">
            <a:avLst/>
          </a:prstGeom>
          <a:solidFill>
            <a:srgbClr val="F7F4EF"/>
          </a:solidFill>
          <a:ln/>
        </p:spPr>
      </p:sp>
      <p:sp>
        <p:nvSpPr>
          <p:cNvPr id="17" name="Text 15"/>
          <p:cNvSpPr/>
          <p:nvPr/>
        </p:nvSpPr>
        <p:spPr>
          <a:xfrm>
            <a:off x="786384" y="4608576"/>
            <a:ext cx="1691640" cy="585216"/>
          </a:xfrm>
          <a:prstGeom prst="rect">
            <a:avLst/>
          </a:prstGeom>
          <a:noFill/>
          <a:ln/>
        </p:spPr>
        <p:txBody>
          <a:bodyPr wrap="square" lIns="0" tIns="0" rIns="0" bIns="0" rtlCol="0" anchor="ctr"/>
          <a:lstStyle/>
          <a:p>
            <a:pPr marL="0" indent="0" algn="l">
              <a:buNone/>
            </a:pPr>
            <a:r>
              <a:rPr lang="en-US" sz="1300" b="1" dirty="0">
                <a:solidFill>
                  <a:srgbClr val="5E4A3C"/>
                </a:solidFill>
                <a:latin typeface="Calibri" pitchFamily="34" charset="0"/>
                <a:ea typeface="Calibri" pitchFamily="34" charset="-122"/>
                <a:cs typeface="Calibri" pitchFamily="34" charset="-120"/>
              </a:rPr>
              <a:t>STR export</a:t>
            </a:r>
            <a:endParaRPr lang="en-US" sz="1300" dirty="0"/>
          </a:p>
        </p:txBody>
      </p:sp>
      <p:sp>
        <p:nvSpPr>
          <p:cNvPr id="18" name="Text 16"/>
          <p:cNvSpPr/>
          <p:nvPr/>
        </p:nvSpPr>
        <p:spPr>
          <a:xfrm>
            <a:off x="2542032" y="4608576"/>
            <a:ext cx="3383280" cy="585216"/>
          </a:xfrm>
          <a:prstGeom prst="rect">
            <a:avLst/>
          </a:prstGeom>
          <a:noFill/>
          <a:ln/>
        </p:spPr>
        <p:txBody>
          <a:bodyPr wrap="square" lIns="0" tIns="0" rIns="0" bIns="0" rtlCol="0" anchor="ctr"/>
          <a:lstStyle/>
          <a:p>
            <a:pPr marL="0" indent="0" algn="l">
              <a:buNone/>
            </a:pPr>
            <a:r>
              <a:rPr lang="en-US" sz="1150" dirty="0">
                <a:solidFill>
                  <a:srgbClr val="231E1A"/>
                </a:solidFill>
                <a:latin typeface="Calibri" pitchFamily="34" charset="0"/>
                <a:ea typeface="Calibri" pitchFamily="34" charset="-122"/>
                <a:cs typeface="Calibri" pitchFamily="34" charset="-120"/>
              </a:rPr>
              <a:t>Ranked CSV with risk score, label and reason codes</a:t>
            </a:r>
            <a:endParaRPr lang="en-US" sz="1150" dirty="0"/>
          </a:p>
        </p:txBody>
      </p:sp>
      <p:sp>
        <p:nvSpPr>
          <p:cNvPr id="19" name="Text 17"/>
          <p:cNvSpPr/>
          <p:nvPr/>
        </p:nvSpPr>
        <p:spPr>
          <a:xfrm>
            <a:off x="6446520" y="1554480"/>
            <a:ext cx="5148072" cy="310896"/>
          </a:xfrm>
          <a:prstGeom prst="rect">
            <a:avLst/>
          </a:prstGeom>
          <a:noFill/>
          <a:ln/>
        </p:spPr>
        <p:txBody>
          <a:bodyPr wrap="square" lIns="0" tIns="0" rIns="0" bIns="0" rtlCol="0" anchor="ctr"/>
          <a:lstStyle/>
          <a:p>
            <a:pPr marL="0" indent="0" algn="l">
              <a:buNone/>
            </a:pPr>
            <a:r>
              <a:rPr lang="en-US" sz="1550" b="1" dirty="0">
                <a:solidFill>
                  <a:srgbClr val="5E4A3C"/>
                </a:solidFill>
                <a:latin typeface="Cambria" pitchFamily="34" charset="0"/>
                <a:ea typeface="Cambria" pitchFamily="34" charset="-122"/>
                <a:cs typeface="Cambria" pitchFamily="34" charset="-120"/>
              </a:rPr>
              <a:t>Reason codes in the exported alert budget</a:t>
            </a:r>
            <a:endParaRPr lang="en-US" sz="1550" dirty="0"/>
          </a:p>
        </p:txBody>
      </p:sp>
      <p:sp>
        <p:nvSpPr>
          <p:cNvPr id="20" name="Shape 18"/>
          <p:cNvSpPr/>
          <p:nvPr/>
        </p:nvSpPr>
        <p:spPr>
          <a:xfrm>
            <a:off x="6446520" y="1956816"/>
            <a:ext cx="5148072" cy="475488"/>
          </a:xfrm>
          <a:prstGeom prst="rect">
            <a:avLst/>
          </a:prstGeom>
          <a:solidFill>
            <a:srgbClr val="EFE9E0"/>
          </a:solidFill>
          <a:ln/>
        </p:spPr>
      </p:sp>
      <p:sp>
        <p:nvSpPr>
          <p:cNvPr id="21" name="Text 19"/>
          <p:cNvSpPr/>
          <p:nvPr/>
        </p:nvSpPr>
        <p:spPr>
          <a:xfrm>
            <a:off x="6620256" y="1956816"/>
            <a:ext cx="713232" cy="475488"/>
          </a:xfrm>
          <a:prstGeom prst="rect">
            <a:avLst/>
          </a:prstGeom>
          <a:noFill/>
          <a:ln/>
        </p:spPr>
        <p:txBody>
          <a:bodyPr wrap="square" lIns="0" tIns="0" rIns="0" bIns="0" rtlCol="0" anchor="ctr"/>
          <a:lstStyle/>
          <a:p>
            <a:pPr marL="0" indent="0" algn="l">
              <a:buNone/>
            </a:pPr>
            <a:r>
              <a:rPr lang="en-US" sz="1200" b="1" dirty="0">
                <a:solidFill>
                  <a:srgbClr val="5E4A3C"/>
                </a:solidFill>
                <a:latin typeface="Calibri" pitchFamily="34" charset="0"/>
                <a:ea typeface="Calibri" pitchFamily="34" charset="-122"/>
                <a:cs typeface="Calibri" pitchFamily="34" charset="-120"/>
              </a:rPr>
              <a:t>RC06</a:t>
            </a:r>
            <a:endParaRPr lang="en-US" sz="1200" dirty="0"/>
          </a:p>
        </p:txBody>
      </p:sp>
      <p:sp>
        <p:nvSpPr>
          <p:cNvPr id="22" name="Text 20"/>
          <p:cNvSpPr/>
          <p:nvPr/>
        </p:nvSpPr>
        <p:spPr>
          <a:xfrm>
            <a:off x="7370064" y="1956816"/>
            <a:ext cx="3383280" cy="475488"/>
          </a:xfrm>
          <a:prstGeom prst="rect">
            <a:avLst/>
          </a:prstGeom>
          <a:noFill/>
          <a:ln/>
        </p:spPr>
        <p:txBody>
          <a:bodyPr wrap="square" lIns="0" tIns="0" rIns="0" bIns="0" rtlCol="0" anchor="ctr"/>
          <a:lstStyle/>
          <a:p>
            <a:pPr marL="0" indent="0" algn="l">
              <a:buNone/>
            </a:pPr>
            <a:r>
              <a:rPr lang="en-US" sz="1100" dirty="0">
                <a:solidFill>
                  <a:srgbClr val="231E1A"/>
                </a:solidFill>
                <a:latin typeface="Calibri" pitchFamily="34" charset="0"/>
                <a:ea typeface="Calibri" pitchFamily="34" charset="-122"/>
                <a:cs typeface="Calibri" pitchFamily="34" charset="-120"/>
              </a:rPr>
              <a:t>High fan-in — funds from many counterparties</a:t>
            </a:r>
            <a:endParaRPr lang="en-US" sz="1100" dirty="0"/>
          </a:p>
        </p:txBody>
      </p:sp>
      <p:sp>
        <p:nvSpPr>
          <p:cNvPr id="23" name="Text 21"/>
          <p:cNvSpPr/>
          <p:nvPr/>
        </p:nvSpPr>
        <p:spPr>
          <a:xfrm>
            <a:off x="10789920" y="1956816"/>
            <a:ext cx="640080" cy="475488"/>
          </a:xfrm>
          <a:prstGeom prst="rect">
            <a:avLst/>
          </a:prstGeom>
          <a:noFill/>
          <a:ln/>
        </p:spPr>
        <p:txBody>
          <a:bodyPr wrap="square" lIns="0" tIns="0" rIns="0" bIns="0" rtlCol="0" anchor="ctr"/>
          <a:lstStyle/>
          <a:p>
            <a:pPr marL="0" indent="0" algn="r">
              <a:buNone/>
            </a:pPr>
            <a:r>
              <a:rPr lang="en-US" sz="1150" b="1" dirty="0">
                <a:solidFill>
                  <a:srgbClr val="231E1A"/>
                </a:solidFill>
                <a:latin typeface="Calibri" pitchFamily="34" charset="0"/>
                <a:ea typeface="Calibri" pitchFamily="34" charset="-122"/>
                <a:cs typeface="Calibri" pitchFamily="34" charset="-120"/>
              </a:rPr>
              <a:t>677</a:t>
            </a:r>
            <a:endParaRPr lang="en-US" sz="1150" dirty="0"/>
          </a:p>
        </p:txBody>
      </p:sp>
      <p:sp>
        <p:nvSpPr>
          <p:cNvPr id="24" name="Shape 22"/>
          <p:cNvSpPr/>
          <p:nvPr/>
        </p:nvSpPr>
        <p:spPr>
          <a:xfrm>
            <a:off x="6446520" y="2514600"/>
            <a:ext cx="5148072" cy="475488"/>
          </a:xfrm>
          <a:prstGeom prst="rect">
            <a:avLst/>
          </a:prstGeom>
          <a:solidFill>
            <a:srgbClr val="F7F4EF"/>
          </a:solidFill>
          <a:ln/>
        </p:spPr>
      </p:sp>
      <p:sp>
        <p:nvSpPr>
          <p:cNvPr id="25" name="Text 23"/>
          <p:cNvSpPr/>
          <p:nvPr/>
        </p:nvSpPr>
        <p:spPr>
          <a:xfrm>
            <a:off x="6620256" y="2514600"/>
            <a:ext cx="713232" cy="475488"/>
          </a:xfrm>
          <a:prstGeom prst="rect">
            <a:avLst/>
          </a:prstGeom>
          <a:noFill/>
          <a:ln/>
        </p:spPr>
        <p:txBody>
          <a:bodyPr wrap="square" lIns="0" tIns="0" rIns="0" bIns="0" rtlCol="0" anchor="ctr"/>
          <a:lstStyle/>
          <a:p>
            <a:pPr marL="0" indent="0" algn="l">
              <a:buNone/>
            </a:pPr>
            <a:r>
              <a:rPr lang="en-US" sz="1200" b="1" dirty="0">
                <a:solidFill>
                  <a:srgbClr val="5E4A3C"/>
                </a:solidFill>
                <a:latin typeface="Calibri" pitchFamily="34" charset="0"/>
                <a:ea typeface="Calibri" pitchFamily="34" charset="-122"/>
                <a:cs typeface="Calibri" pitchFamily="34" charset="-120"/>
              </a:rPr>
              <a:t>RC10</a:t>
            </a:r>
            <a:endParaRPr lang="en-US" sz="1200" dirty="0"/>
          </a:p>
        </p:txBody>
      </p:sp>
      <p:sp>
        <p:nvSpPr>
          <p:cNvPr id="26" name="Text 24"/>
          <p:cNvSpPr/>
          <p:nvPr/>
        </p:nvSpPr>
        <p:spPr>
          <a:xfrm>
            <a:off x="7370064" y="2514600"/>
            <a:ext cx="3383280" cy="475488"/>
          </a:xfrm>
          <a:prstGeom prst="rect">
            <a:avLst/>
          </a:prstGeom>
          <a:noFill/>
          <a:ln/>
        </p:spPr>
        <p:txBody>
          <a:bodyPr wrap="square" lIns="0" tIns="0" rIns="0" bIns="0" rtlCol="0" anchor="ctr"/>
          <a:lstStyle/>
          <a:p>
            <a:pPr marL="0" indent="0" algn="l">
              <a:buNone/>
            </a:pPr>
            <a:r>
              <a:rPr lang="en-US" sz="1100" dirty="0">
                <a:solidFill>
                  <a:srgbClr val="231E1A"/>
                </a:solidFill>
                <a:latin typeface="Calibri" pitchFamily="34" charset="0"/>
                <a:ea typeface="Calibri" pitchFamily="34" charset="-122"/>
                <a:cs typeface="Calibri" pitchFamily="34" charset="-120"/>
              </a:rPr>
              <a:t>High-risk payment format (ACH concentration)</a:t>
            </a:r>
            <a:endParaRPr lang="en-US" sz="1100" dirty="0"/>
          </a:p>
        </p:txBody>
      </p:sp>
      <p:sp>
        <p:nvSpPr>
          <p:cNvPr id="27" name="Text 25"/>
          <p:cNvSpPr/>
          <p:nvPr/>
        </p:nvSpPr>
        <p:spPr>
          <a:xfrm>
            <a:off x="10789920" y="2514600"/>
            <a:ext cx="640080" cy="475488"/>
          </a:xfrm>
          <a:prstGeom prst="rect">
            <a:avLst/>
          </a:prstGeom>
          <a:noFill/>
          <a:ln/>
        </p:spPr>
        <p:txBody>
          <a:bodyPr wrap="square" lIns="0" tIns="0" rIns="0" bIns="0" rtlCol="0" anchor="ctr"/>
          <a:lstStyle/>
          <a:p>
            <a:pPr marL="0" indent="0" algn="r">
              <a:buNone/>
            </a:pPr>
            <a:r>
              <a:rPr lang="en-US" sz="1150" b="1" dirty="0">
                <a:solidFill>
                  <a:srgbClr val="231E1A"/>
                </a:solidFill>
                <a:latin typeface="Calibri" pitchFamily="34" charset="0"/>
                <a:ea typeface="Calibri" pitchFamily="34" charset="-122"/>
                <a:cs typeface="Calibri" pitchFamily="34" charset="-120"/>
              </a:rPr>
              <a:t>677</a:t>
            </a:r>
            <a:endParaRPr lang="en-US" sz="1150" dirty="0"/>
          </a:p>
        </p:txBody>
      </p:sp>
      <p:sp>
        <p:nvSpPr>
          <p:cNvPr id="28" name="Shape 26"/>
          <p:cNvSpPr/>
          <p:nvPr/>
        </p:nvSpPr>
        <p:spPr>
          <a:xfrm>
            <a:off x="6446520" y="3072384"/>
            <a:ext cx="5148072" cy="475488"/>
          </a:xfrm>
          <a:prstGeom prst="rect">
            <a:avLst/>
          </a:prstGeom>
          <a:solidFill>
            <a:srgbClr val="EFE9E0"/>
          </a:solidFill>
          <a:ln/>
        </p:spPr>
      </p:sp>
      <p:sp>
        <p:nvSpPr>
          <p:cNvPr id="29" name="Text 27"/>
          <p:cNvSpPr/>
          <p:nvPr/>
        </p:nvSpPr>
        <p:spPr>
          <a:xfrm>
            <a:off x="6620256" y="3072384"/>
            <a:ext cx="713232" cy="475488"/>
          </a:xfrm>
          <a:prstGeom prst="rect">
            <a:avLst/>
          </a:prstGeom>
          <a:noFill/>
          <a:ln/>
        </p:spPr>
        <p:txBody>
          <a:bodyPr wrap="square" lIns="0" tIns="0" rIns="0" bIns="0" rtlCol="0" anchor="ctr"/>
          <a:lstStyle/>
          <a:p>
            <a:pPr marL="0" indent="0" algn="l">
              <a:buNone/>
            </a:pPr>
            <a:r>
              <a:rPr lang="en-US" sz="1200" b="1" dirty="0">
                <a:solidFill>
                  <a:srgbClr val="5E4A3C"/>
                </a:solidFill>
                <a:latin typeface="Calibri" pitchFamily="34" charset="0"/>
                <a:ea typeface="Calibri" pitchFamily="34" charset="-122"/>
                <a:cs typeface="Calibri" pitchFamily="34" charset="-120"/>
              </a:rPr>
              <a:t>RC05</a:t>
            </a:r>
            <a:endParaRPr lang="en-US" sz="1200" dirty="0"/>
          </a:p>
        </p:txBody>
      </p:sp>
      <p:sp>
        <p:nvSpPr>
          <p:cNvPr id="30" name="Text 28"/>
          <p:cNvSpPr/>
          <p:nvPr/>
        </p:nvSpPr>
        <p:spPr>
          <a:xfrm>
            <a:off x="7370064" y="3072384"/>
            <a:ext cx="3383280" cy="475488"/>
          </a:xfrm>
          <a:prstGeom prst="rect">
            <a:avLst/>
          </a:prstGeom>
          <a:noFill/>
          <a:ln/>
        </p:spPr>
        <p:txBody>
          <a:bodyPr wrap="square" lIns="0" tIns="0" rIns="0" bIns="0" rtlCol="0" anchor="ctr"/>
          <a:lstStyle/>
          <a:p>
            <a:pPr marL="0" indent="0" algn="l">
              <a:buNone/>
            </a:pPr>
            <a:r>
              <a:rPr lang="en-US" sz="1100" dirty="0">
                <a:solidFill>
                  <a:srgbClr val="231E1A"/>
                </a:solidFill>
                <a:latin typeface="Calibri" pitchFamily="34" charset="0"/>
                <a:ea typeface="Calibri" pitchFamily="34" charset="-122"/>
                <a:cs typeface="Calibri" pitchFamily="34" charset="-120"/>
              </a:rPr>
              <a:t>High fan-out — funds to many counterparties</a:t>
            </a:r>
            <a:endParaRPr lang="en-US" sz="1100" dirty="0"/>
          </a:p>
        </p:txBody>
      </p:sp>
      <p:sp>
        <p:nvSpPr>
          <p:cNvPr id="31" name="Text 29"/>
          <p:cNvSpPr/>
          <p:nvPr/>
        </p:nvSpPr>
        <p:spPr>
          <a:xfrm>
            <a:off x="10789920" y="3072384"/>
            <a:ext cx="640080" cy="475488"/>
          </a:xfrm>
          <a:prstGeom prst="rect">
            <a:avLst/>
          </a:prstGeom>
          <a:noFill/>
          <a:ln/>
        </p:spPr>
        <p:txBody>
          <a:bodyPr wrap="square" lIns="0" tIns="0" rIns="0" bIns="0" rtlCol="0" anchor="ctr"/>
          <a:lstStyle/>
          <a:p>
            <a:pPr marL="0" indent="0" algn="r">
              <a:buNone/>
            </a:pPr>
            <a:r>
              <a:rPr lang="en-US" sz="1150" b="1" dirty="0">
                <a:solidFill>
                  <a:srgbClr val="231E1A"/>
                </a:solidFill>
                <a:latin typeface="Calibri" pitchFamily="34" charset="0"/>
                <a:ea typeface="Calibri" pitchFamily="34" charset="-122"/>
                <a:cs typeface="Calibri" pitchFamily="34" charset="-120"/>
              </a:rPr>
              <a:t>668</a:t>
            </a:r>
            <a:endParaRPr lang="en-US" sz="1150" dirty="0"/>
          </a:p>
        </p:txBody>
      </p:sp>
      <p:sp>
        <p:nvSpPr>
          <p:cNvPr id="32" name="Shape 30"/>
          <p:cNvSpPr/>
          <p:nvPr/>
        </p:nvSpPr>
        <p:spPr>
          <a:xfrm>
            <a:off x="6446520" y="3630168"/>
            <a:ext cx="5148072" cy="475488"/>
          </a:xfrm>
          <a:prstGeom prst="rect">
            <a:avLst/>
          </a:prstGeom>
          <a:solidFill>
            <a:srgbClr val="F7F4EF"/>
          </a:solidFill>
          <a:ln/>
        </p:spPr>
      </p:sp>
      <p:sp>
        <p:nvSpPr>
          <p:cNvPr id="33" name="Text 31"/>
          <p:cNvSpPr/>
          <p:nvPr/>
        </p:nvSpPr>
        <p:spPr>
          <a:xfrm>
            <a:off x="6620256" y="3630168"/>
            <a:ext cx="713232" cy="475488"/>
          </a:xfrm>
          <a:prstGeom prst="rect">
            <a:avLst/>
          </a:prstGeom>
          <a:noFill/>
          <a:ln/>
        </p:spPr>
        <p:txBody>
          <a:bodyPr wrap="square" lIns="0" tIns="0" rIns="0" bIns="0" rtlCol="0" anchor="ctr"/>
          <a:lstStyle/>
          <a:p>
            <a:pPr marL="0" indent="0" algn="l">
              <a:buNone/>
            </a:pPr>
            <a:r>
              <a:rPr lang="en-US" sz="1200" b="1" dirty="0">
                <a:solidFill>
                  <a:srgbClr val="5E4A3C"/>
                </a:solidFill>
                <a:latin typeface="Calibri" pitchFamily="34" charset="0"/>
                <a:ea typeface="Calibri" pitchFamily="34" charset="-122"/>
                <a:cs typeface="Calibri" pitchFamily="34" charset="-120"/>
              </a:rPr>
              <a:t>RC07</a:t>
            </a:r>
            <a:endParaRPr lang="en-US" sz="1200" dirty="0"/>
          </a:p>
        </p:txBody>
      </p:sp>
      <p:sp>
        <p:nvSpPr>
          <p:cNvPr id="34" name="Text 32"/>
          <p:cNvSpPr/>
          <p:nvPr/>
        </p:nvSpPr>
        <p:spPr>
          <a:xfrm>
            <a:off x="7370064" y="3630168"/>
            <a:ext cx="3383280" cy="475488"/>
          </a:xfrm>
          <a:prstGeom prst="rect">
            <a:avLst/>
          </a:prstGeom>
          <a:noFill/>
          <a:ln/>
        </p:spPr>
        <p:txBody>
          <a:bodyPr wrap="square" lIns="0" tIns="0" rIns="0" bIns="0" rtlCol="0" anchor="ctr"/>
          <a:lstStyle/>
          <a:p>
            <a:pPr marL="0" indent="0" algn="l">
              <a:buNone/>
            </a:pPr>
            <a:r>
              <a:rPr lang="en-US" sz="1100" dirty="0">
                <a:solidFill>
                  <a:srgbClr val="231E1A"/>
                </a:solidFill>
                <a:latin typeface="Calibri" pitchFamily="34" charset="0"/>
                <a:ea typeface="Calibri" pitchFamily="34" charset="-122"/>
                <a:cs typeface="Calibri" pitchFamily="34" charset="-120"/>
              </a:rPr>
              <a:t>High 24-hour received count</a:t>
            </a:r>
            <a:endParaRPr lang="en-US" sz="1100" dirty="0"/>
          </a:p>
        </p:txBody>
      </p:sp>
      <p:sp>
        <p:nvSpPr>
          <p:cNvPr id="35" name="Text 33"/>
          <p:cNvSpPr/>
          <p:nvPr/>
        </p:nvSpPr>
        <p:spPr>
          <a:xfrm>
            <a:off x="10789920" y="3630168"/>
            <a:ext cx="640080" cy="475488"/>
          </a:xfrm>
          <a:prstGeom prst="rect">
            <a:avLst/>
          </a:prstGeom>
          <a:noFill/>
          <a:ln/>
        </p:spPr>
        <p:txBody>
          <a:bodyPr wrap="square" lIns="0" tIns="0" rIns="0" bIns="0" rtlCol="0" anchor="ctr"/>
          <a:lstStyle/>
          <a:p>
            <a:pPr marL="0" indent="0" algn="r">
              <a:buNone/>
            </a:pPr>
            <a:r>
              <a:rPr lang="en-US" sz="1150" b="1" dirty="0">
                <a:solidFill>
                  <a:srgbClr val="231E1A"/>
                </a:solidFill>
                <a:latin typeface="Calibri" pitchFamily="34" charset="0"/>
                <a:ea typeface="Calibri" pitchFamily="34" charset="-122"/>
                <a:cs typeface="Calibri" pitchFamily="34" charset="-120"/>
              </a:rPr>
              <a:t>3</a:t>
            </a:r>
            <a:endParaRPr lang="en-US" sz="1150" dirty="0"/>
          </a:p>
        </p:txBody>
      </p:sp>
      <p:sp>
        <p:nvSpPr>
          <p:cNvPr id="36" name="Shape 34"/>
          <p:cNvSpPr/>
          <p:nvPr/>
        </p:nvSpPr>
        <p:spPr>
          <a:xfrm>
            <a:off x="6446520" y="4187952"/>
            <a:ext cx="5148072" cy="475488"/>
          </a:xfrm>
          <a:prstGeom prst="rect">
            <a:avLst/>
          </a:prstGeom>
          <a:solidFill>
            <a:srgbClr val="EFE9E0"/>
          </a:solidFill>
          <a:ln/>
        </p:spPr>
      </p:sp>
      <p:sp>
        <p:nvSpPr>
          <p:cNvPr id="37" name="Text 35"/>
          <p:cNvSpPr/>
          <p:nvPr/>
        </p:nvSpPr>
        <p:spPr>
          <a:xfrm>
            <a:off x="6620256" y="4187952"/>
            <a:ext cx="713232" cy="475488"/>
          </a:xfrm>
          <a:prstGeom prst="rect">
            <a:avLst/>
          </a:prstGeom>
          <a:noFill/>
          <a:ln/>
        </p:spPr>
        <p:txBody>
          <a:bodyPr wrap="square" lIns="0" tIns="0" rIns="0" bIns="0" rtlCol="0" anchor="ctr"/>
          <a:lstStyle/>
          <a:p>
            <a:pPr marL="0" indent="0" algn="l">
              <a:buNone/>
            </a:pPr>
            <a:r>
              <a:rPr lang="en-US" sz="1200" b="1" dirty="0">
                <a:solidFill>
                  <a:srgbClr val="5E4A3C"/>
                </a:solidFill>
                <a:latin typeface="Calibri" pitchFamily="34" charset="0"/>
                <a:ea typeface="Calibri" pitchFamily="34" charset="-122"/>
                <a:cs typeface="Calibri" pitchFamily="34" charset="-120"/>
              </a:rPr>
              <a:t>RC11</a:t>
            </a:r>
            <a:endParaRPr lang="en-US" sz="1200" dirty="0"/>
          </a:p>
        </p:txBody>
      </p:sp>
      <p:sp>
        <p:nvSpPr>
          <p:cNvPr id="38" name="Text 36"/>
          <p:cNvSpPr/>
          <p:nvPr/>
        </p:nvSpPr>
        <p:spPr>
          <a:xfrm>
            <a:off x="7370064" y="4187952"/>
            <a:ext cx="3383280" cy="475488"/>
          </a:xfrm>
          <a:prstGeom prst="rect">
            <a:avLst/>
          </a:prstGeom>
          <a:noFill/>
          <a:ln/>
        </p:spPr>
        <p:txBody>
          <a:bodyPr wrap="square" lIns="0" tIns="0" rIns="0" bIns="0" rtlCol="0" anchor="ctr"/>
          <a:lstStyle/>
          <a:p>
            <a:pPr marL="0" indent="0" algn="l">
              <a:buNone/>
            </a:pPr>
            <a:r>
              <a:rPr lang="en-US" sz="1100" dirty="0">
                <a:solidFill>
                  <a:srgbClr val="231E1A"/>
                </a:solidFill>
                <a:latin typeface="Calibri" pitchFamily="34" charset="0"/>
                <a:ea typeface="Calibri" pitchFamily="34" charset="-122"/>
                <a:cs typeface="Calibri" pitchFamily="34" charset="-120"/>
              </a:rPr>
              <a:t>Unusual timing relative to account history</a:t>
            </a:r>
            <a:endParaRPr lang="en-US" sz="1100" dirty="0"/>
          </a:p>
        </p:txBody>
      </p:sp>
      <p:sp>
        <p:nvSpPr>
          <p:cNvPr id="39" name="Text 37"/>
          <p:cNvSpPr/>
          <p:nvPr/>
        </p:nvSpPr>
        <p:spPr>
          <a:xfrm>
            <a:off x="10789920" y="4187952"/>
            <a:ext cx="640080" cy="475488"/>
          </a:xfrm>
          <a:prstGeom prst="rect">
            <a:avLst/>
          </a:prstGeom>
          <a:noFill/>
          <a:ln/>
        </p:spPr>
        <p:txBody>
          <a:bodyPr wrap="square" lIns="0" tIns="0" rIns="0" bIns="0" rtlCol="0" anchor="ctr"/>
          <a:lstStyle/>
          <a:p>
            <a:pPr marL="0" indent="0" algn="r">
              <a:buNone/>
            </a:pPr>
            <a:r>
              <a:rPr lang="en-US" sz="1150" b="1" dirty="0">
                <a:solidFill>
                  <a:srgbClr val="231E1A"/>
                </a:solidFill>
                <a:latin typeface="Calibri" pitchFamily="34" charset="0"/>
                <a:ea typeface="Calibri" pitchFamily="34" charset="-122"/>
                <a:cs typeface="Calibri" pitchFamily="34" charset="-120"/>
              </a:rPr>
              <a:t>3</a:t>
            </a:r>
            <a:endParaRPr lang="en-US" sz="1150" dirty="0"/>
          </a:p>
        </p:txBody>
      </p:sp>
      <p:sp>
        <p:nvSpPr>
          <p:cNvPr id="40" name="Shape 38"/>
          <p:cNvSpPr/>
          <p:nvPr/>
        </p:nvSpPr>
        <p:spPr>
          <a:xfrm>
            <a:off x="6446520" y="4745736"/>
            <a:ext cx="5148072" cy="475488"/>
          </a:xfrm>
          <a:prstGeom prst="rect">
            <a:avLst/>
          </a:prstGeom>
          <a:solidFill>
            <a:srgbClr val="F7F4EF"/>
          </a:solidFill>
          <a:ln/>
        </p:spPr>
      </p:sp>
      <p:sp>
        <p:nvSpPr>
          <p:cNvPr id="41" name="Text 39"/>
          <p:cNvSpPr/>
          <p:nvPr/>
        </p:nvSpPr>
        <p:spPr>
          <a:xfrm>
            <a:off x="6620256" y="4745736"/>
            <a:ext cx="713232" cy="475488"/>
          </a:xfrm>
          <a:prstGeom prst="rect">
            <a:avLst/>
          </a:prstGeom>
          <a:noFill/>
          <a:ln/>
        </p:spPr>
        <p:txBody>
          <a:bodyPr wrap="square" lIns="0" tIns="0" rIns="0" bIns="0" rtlCol="0" anchor="ctr"/>
          <a:lstStyle/>
          <a:p>
            <a:pPr marL="0" indent="0" algn="l">
              <a:buNone/>
            </a:pPr>
            <a:r>
              <a:rPr lang="en-US" sz="1200" b="1" dirty="0">
                <a:solidFill>
                  <a:srgbClr val="5E4A3C"/>
                </a:solidFill>
                <a:latin typeface="Calibri" pitchFamily="34" charset="0"/>
                <a:ea typeface="Calibri" pitchFamily="34" charset="-122"/>
                <a:cs typeface="Calibri" pitchFamily="34" charset="-120"/>
              </a:rPr>
              <a:t>RC02</a:t>
            </a:r>
            <a:endParaRPr lang="en-US" sz="1200" dirty="0"/>
          </a:p>
        </p:txBody>
      </p:sp>
      <p:sp>
        <p:nvSpPr>
          <p:cNvPr id="42" name="Text 40"/>
          <p:cNvSpPr/>
          <p:nvPr/>
        </p:nvSpPr>
        <p:spPr>
          <a:xfrm>
            <a:off x="7370064" y="4745736"/>
            <a:ext cx="3383280" cy="475488"/>
          </a:xfrm>
          <a:prstGeom prst="rect">
            <a:avLst/>
          </a:prstGeom>
          <a:noFill/>
          <a:ln/>
        </p:spPr>
        <p:txBody>
          <a:bodyPr wrap="square" lIns="0" tIns="0" rIns="0" bIns="0" rtlCol="0" anchor="ctr"/>
          <a:lstStyle/>
          <a:p>
            <a:pPr marL="0" indent="0" algn="l">
              <a:buNone/>
            </a:pPr>
            <a:r>
              <a:rPr lang="en-US" sz="1100" dirty="0">
                <a:solidFill>
                  <a:srgbClr val="231E1A"/>
                </a:solidFill>
                <a:latin typeface="Calibri" pitchFamily="34" charset="0"/>
                <a:ea typeface="Calibri" pitchFamily="34" charset="-122"/>
                <a:cs typeface="Calibri" pitchFamily="34" charset="-120"/>
              </a:rPr>
              <a:t>High 24-hour sent velocity</a:t>
            </a:r>
            <a:endParaRPr lang="en-US" sz="1100" dirty="0"/>
          </a:p>
        </p:txBody>
      </p:sp>
      <p:sp>
        <p:nvSpPr>
          <p:cNvPr id="43" name="Text 41"/>
          <p:cNvSpPr/>
          <p:nvPr/>
        </p:nvSpPr>
        <p:spPr>
          <a:xfrm>
            <a:off x="10789920" y="4745736"/>
            <a:ext cx="640080" cy="475488"/>
          </a:xfrm>
          <a:prstGeom prst="rect">
            <a:avLst/>
          </a:prstGeom>
          <a:noFill/>
          <a:ln/>
        </p:spPr>
        <p:txBody>
          <a:bodyPr wrap="square" lIns="0" tIns="0" rIns="0" bIns="0" rtlCol="0" anchor="ctr"/>
          <a:lstStyle/>
          <a:p>
            <a:pPr marL="0" indent="0" algn="r">
              <a:buNone/>
            </a:pPr>
            <a:r>
              <a:rPr lang="en-US" sz="1150" b="1" dirty="0">
                <a:solidFill>
                  <a:srgbClr val="231E1A"/>
                </a:solidFill>
                <a:latin typeface="Calibri" pitchFamily="34" charset="0"/>
                <a:ea typeface="Calibri" pitchFamily="34" charset="-122"/>
                <a:cs typeface="Calibri" pitchFamily="34" charset="-120"/>
              </a:rPr>
              <a:t>3</a:t>
            </a:r>
            <a:endParaRPr lang="en-US" sz="1150" dirty="0"/>
          </a:p>
        </p:txBody>
      </p:sp>
      <p:sp>
        <p:nvSpPr>
          <p:cNvPr id="44" name="Shape 42"/>
          <p:cNvSpPr/>
          <p:nvPr/>
        </p:nvSpPr>
        <p:spPr>
          <a:xfrm>
            <a:off x="566928" y="5431536"/>
            <a:ext cx="11027664" cy="658368"/>
          </a:xfrm>
          <a:prstGeom prst="rect">
            <a:avLst/>
          </a:prstGeom>
          <a:solidFill>
            <a:srgbClr val="E2D9CC"/>
          </a:solidFill>
          <a:ln/>
        </p:spPr>
      </p:sp>
      <p:sp>
        <p:nvSpPr>
          <p:cNvPr id="45" name="Text 43"/>
          <p:cNvSpPr/>
          <p:nvPr/>
        </p:nvSpPr>
        <p:spPr>
          <a:xfrm>
            <a:off x="822960" y="5431536"/>
            <a:ext cx="10515600" cy="658368"/>
          </a:xfrm>
          <a:prstGeom prst="rect">
            <a:avLst/>
          </a:prstGeom>
          <a:noFill/>
          <a:ln/>
        </p:spPr>
        <p:txBody>
          <a:bodyPr wrap="square" lIns="0" tIns="0" rIns="0" bIns="0" rtlCol="0" anchor="ctr"/>
          <a:lstStyle/>
          <a:p>
            <a:pPr marL="0" indent="0" algn="l">
              <a:buNone/>
            </a:pPr>
            <a:r>
              <a:rPr lang="en-US" sz="1250" dirty="0">
                <a:solidFill>
                  <a:srgbClr val="231E1A"/>
                </a:solidFill>
                <a:latin typeface="Calibri" pitchFamily="34" charset="0"/>
                <a:ea typeface="Calibri" pitchFamily="34" charset="-122"/>
                <a:cs typeface="Calibri" pitchFamily="34" charset="-120"/>
              </a:rPr>
              <a:t>677 alerts exported  ·  677 genuine laundering transactions  ·  zero false alarms  —  explanation adds no latency and no performance cost.  Kolmogorov-Smirnov = 0.874 against a 0.40 benchmark.</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B231D"/>
        </a:solidFill>
        <a:effectLst/>
      </p:bgPr>
    </p:bg>
    <p:spTree>
      <p:nvGrpSpPr>
        <p:cNvPr id="1" name=""/>
        <p:cNvGrpSpPr/>
        <p:nvPr/>
      </p:nvGrpSpPr>
      <p:grpSpPr>
        <a:xfrm>
          <a:off x="0" y="0"/>
          <a:ext cx="0" cy="0"/>
          <a:chOff x="0" y="0"/>
          <a:chExt cx="0" cy="0"/>
        </a:xfrm>
      </p:grpSpPr>
      <p:sp>
        <p:nvSpPr>
          <p:cNvPr id="2" name="Shape 0"/>
          <p:cNvSpPr/>
          <p:nvPr/>
        </p:nvSpPr>
        <p:spPr>
          <a:xfrm>
            <a:off x="566928" y="384048"/>
            <a:ext cx="566928" cy="566928"/>
          </a:xfrm>
          <a:prstGeom prst="rect">
            <a:avLst/>
          </a:prstGeom>
          <a:solidFill>
            <a:srgbClr val="E2D9CC"/>
          </a:solidFill>
          <a:ln/>
        </p:spPr>
      </p:sp>
      <p:sp>
        <p:nvSpPr>
          <p:cNvPr id="3" name="Text 1"/>
          <p:cNvSpPr/>
          <p:nvPr/>
        </p:nvSpPr>
        <p:spPr>
          <a:xfrm>
            <a:off x="566928" y="384048"/>
            <a:ext cx="566928" cy="566928"/>
          </a:xfrm>
          <a:prstGeom prst="rect">
            <a:avLst/>
          </a:prstGeom>
          <a:noFill/>
          <a:ln/>
        </p:spPr>
        <p:txBody>
          <a:bodyPr wrap="square" lIns="0" tIns="0" rIns="0" bIns="0" rtlCol="0" anchor="ctr"/>
          <a:lstStyle/>
          <a:p>
            <a:pPr marL="0" indent="0" algn="ctr">
              <a:buNone/>
            </a:pPr>
            <a:r>
              <a:rPr lang="en-US" sz="2200" b="1" dirty="0">
                <a:solidFill>
                  <a:srgbClr val="2B231D"/>
                </a:solidFill>
                <a:latin typeface="Cambria" pitchFamily="34" charset="0"/>
                <a:ea typeface="Cambria" pitchFamily="34" charset="-122"/>
                <a:cs typeface="Cambria" pitchFamily="34" charset="-120"/>
              </a:rPr>
              <a:t>12</a:t>
            </a:r>
            <a:endParaRPr lang="en-US" sz="2200" dirty="0"/>
          </a:p>
        </p:txBody>
      </p:sp>
      <p:sp>
        <p:nvSpPr>
          <p:cNvPr id="4" name="Text 2"/>
          <p:cNvSpPr/>
          <p:nvPr/>
        </p:nvSpPr>
        <p:spPr>
          <a:xfrm>
            <a:off x="1316736" y="365760"/>
            <a:ext cx="10241280" cy="603504"/>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Conclusions and Future Work</a:t>
            </a:r>
            <a:endParaRPr lang="en-US" sz="3000" dirty="0"/>
          </a:p>
        </p:txBody>
      </p:sp>
      <p:sp>
        <p:nvSpPr>
          <p:cNvPr id="5" name="Shape 3"/>
          <p:cNvSpPr/>
          <p:nvPr/>
        </p:nvSpPr>
        <p:spPr>
          <a:xfrm>
            <a:off x="566928" y="1371600"/>
            <a:ext cx="3493008" cy="2048256"/>
          </a:xfrm>
          <a:prstGeom prst="rect">
            <a:avLst/>
          </a:prstGeom>
          <a:solidFill>
            <a:srgbClr val="3A302A"/>
          </a:solidFill>
          <a:ln/>
        </p:spPr>
      </p:sp>
      <p:sp>
        <p:nvSpPr>
          <p:cNvPr id="6" name="Text 4"/>
          <p:cNvSpPr/>
          <p:nvPr/>
        </p:nvSpPr>
        <p:spPr>
          <a:xfrm>
            <a:off x="804672" y="1536192"/>
            <a:ext cx="3017520" cy="384048"/>
          </a:xfrm>
          <a:prstGeom prst="rect">
            <a:avLst/>
          </a:prstGeom>
          <a:noFill/>
          <a:ln/>
        </p:spPr>
        <p:txBody>
          <a:bodyPr wrap="square" lIns="0" tIns="0" rIns="0" bIns="0" rtlCol="0" anchor="ctr"/>
          <a:lstStyle/>
          <a:p>
            <a:pPr marL="0" indent="0" algn="l">
              <a:buNone/>
            </a:pPr>
            <a:r>
              <a:rPr lang="en-US" sz="2200" b="1" dirty="0">
                <a:solidFill>
                  <a:srgbClr val="E2D9CC"/>
                </a:solidFill>
                <a:latin typeface="Cambria" pitchFamily="34" charset="0"/>
                <a:ea typeface="Cambria" pitchFamily="34" charset="-122"/>
                <a:cs typeface="Cambria" pitchFamily="34" charset="-120"/>
              </a:rPr>
              <a:t>RQ1</a:t>
            </a:r>
            <a:endParaRPr lang="en-US" sz="2200" dirty="0"/>
          </a:p>
        </p:txBody>
      </p:sp>
      <p:sp>
        <p:nvSpPr>
          <p:cNvPr id="7" name="Text 5"/>
          <p:cNvSpPr/>
          <p:nvPr/>
        </p:nvSpPr>
        <p:spPr>
          <a:xfrm>
            <a:off x="804672" y="1956816"/>
            <a:ext cx="3017520" cy="310896"/>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Answered decisively</a:t>
            </a:r>
            <a:endParaRPr lang="en-US" sz="1300" dirty="0"/>
          </a:p>
        </p:txBody>
      </p:sp>
      <p:sp>
        <p:nvSpPr>
          <p:cNvPr id="8" name="Text 6"/>
          <p:cNvSpPr/>
          <p:nvPr/>
        </p:nvSpPr>
        <p:spPr>
          <a:xfrm>
            <a:off x="804672" y="2286000"/>
            <a:ext cx="3017520" cy="1005840"/>
          </a:xfrm>
          <a:prstGeom prst="rect">
            <a:avLst/>
          </a:prstGeom>
          <a:noFill/>
          <a:ln/>
        </p:spPr>
        <p:txBody>
          <a:bodyPr wrap="square" lIns="0" tIns="0" rIns="0" bIns="0" rtlCol="0" anchor="t"/>
          <a:lstStyle/>
          <a:p>
            <a:pPr marL="0" indent="0" algn="l">
              <a:buNone/>
            </a:pPr>
            <a:r>
              <a:rPr lang="en-US" sz="1150" dirty="0">
                <a:solidFill>
                  <a:srgbClr val="C9BFB2"/>
                </a:solidFill>
                <a:latin typeface="Calibri" pitchFamily="34" charset="0"/>
                <a:ea typeface="Calibri" pitchFamily="34" charset="-122"/>
                <a:cs typeface="Calibri" pitchFamily="34" charset="-120"/>
              </a:rPr>
              <a:t>Zero false positives per true positive at the 1% budget, against 6.73 for rules. Significant at p &lt; 0.001.</a:t>
            </a:r>
            <a:endParaRPr lang="en-US" sz="1150" dirty="0"/>
          </a:p>
        </p:txBody>
      </p:sp>
      <p:sp>
        <p:nvSpPr>
          <p:cNvPr id="9" name="Shape 7"/>
          <p:cNvSpPr/>
          <p:nvPr/>
        </p:nvSpPr>
        <p:spPr>
          <a:xfrm>
            <a:off x="4334256" y="1371600"/>
            <a:ext cx="3493008" cy="2048256"/>
          </a:xfrm>
          <a:prstGeom prst="rect">
            <a:avLst/>
          </a:prstGeom>
          <a:solidFill>
            <a:srgbClr val="3A302A"/>
          </a:solidFill>
          <a:ln/>
        </p:spPr>
      </p:sp>
      <p:sp>
        <p:nvSpPr>
          <p:cNvPr id="10" name="Text 8"/>
          <p:cNvSpPr/>
          <p:nvPr/>
        </p:nvSpPr>
        <p:spPr>
          <a:xfrm>
            <a:off x="4572000" y="1536192"/>
            <a:ext cx="3017520" cy="384048"/>
          </a:xfrm>
          <a:prstGeom prst="rect">
            <a:avLst/>
          </a:prstGeom>
          <a:noFill/>
          <a:ln/>
        </p:spPr>
        <p:txBody>
          <a:bodyPr wrap="square" lIns="0" tIns="0" rIns="0" bIns="0" rtlCol="0" anchor="ctr"/>
          <a:lstStyle/>
          <a:p>
            <a:pPr marL="0" indent="0" algn="l">
              <a:buNone/>
            </a:pPr>
            <a:r>
              <a:rPr lang="en-US" sz="2200" b="1" dirty="0">
                <a:solidFill>
                  <a:srgbClr val="E2D9CC"/>
                </a:solidFill>
                <a:latin typeface="Cambria" pitchFamily="34" charset="0"/>
                <a:ea typeface="Cambria" pitchFamily="34" charset="-122"/>
                <a:cs typeface="Cambria" pitchFamily="34" charset="-120"/>
              </a:rPr>
              <a:t>RQ2</a:t>
            </a:r>
            <a:endParaRPr lang="en-US" sz="2200" dirty="0"/>
          </a:p>
        </p:txBody>
      </p:sp>
      <p:sp>
        <p:nvSpPr>
          <p:cNvPr id="11" name="Text 9"/>
          <p:cNvSpPr/>
          <p:nvPr/>
        </p:nvSpPr>
        <p:spPr>
          <a:xfrm>
            <a:off x="4572000" y="1956816"/>
            <a:ext cx="3017520" cy="310896"/>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Answered affirmatively</a:t>
            </a:r>
            <a:endParaRPr lang="en-US" sz="1300" dirty="0"/>
          </a:p>
        </p:txBody>
      </p:sp>
      <p:sp>
        <p:nvSpPr>
          <p:cNvPr id="12" name="Text 10"/>
          <p:cNvSpPr/>
          <p:nvPr/>
        </p:nvSpPr>
        <p:spPr>
          <a:xfrm>
            <a:off x="4572000" y="2286000"/>
            <a:ext cx="3017520" cy="1005840"/>
          </a:xfrm>
          <a:prstGeom prst="rect">
            <a:avLst/>
          </a:prstGeom>
          <a:noFill/>
          <a:ln/>
        </p:spPr>
        <p:txBody>
          <a:bodyPr wrap="square" lIns="0" tIns="0" rIns="0" bIns="0" rtlCol="0" anchor="t"/>
          <a:lstStyle/>
          <a:p>
            <a:pPr marL="0" indent="0" algn="l">
              <a:buNone/>
            </a:pPr>
            <a:r>
              <a:rPr lang="en-US" sz="1150" dirty="0">
                <a:solidFill>
                  <a:srgbClr val="C9BFB2"/>
                </a:solidFill>
                <a:latin typeface="Calibri" pitchFamily="34" charset="0"/>
                <a:ea typeface="Calibri" pitchFamily="34" charset="-122"/>
                <a:cs typeface="Calibri" pitchFamily="34" charset="-120"/>
              </a:rPr>
              <a:t>Reason codes are typologically coherent and add no latency or performance cost.</a:t>
            </a:r>
            <a:endParaRPr lang="en-US" sz="1150" dirty="0"/>
          </a:p>
        </p:txBody>
      </p:sp>
      <p:sp>
        <p:nvSpPr>
          <p:cNvPr id="13" name="Shape 11"/>
          <p:cNvSpPr/>
          <p:nvPr/>
        </p:nvSpPr>
        <p:spPr>
          <a:xfrm>
            <a:off x="8101584" y="1371600"/>
            <a:ext cx="3493008" cy="2048256"/>
          </a:xfrm>
          <a:prstGeom prst="rect">
            <a:avLst/>
          </a:prstGeom>
          <a:solidFill>
            <a:srgbClr val="3A302A"/>
          </a:solidFill>
          <a:ln/>
        </p:spPr>
      </p:sp>
      <p:sp>
        <p:nvSpPr>
          <p:cNvPr id="14" name="Text 12"/>
          <p:cNvSpPr/>
          <p:nvPr/>
        </p:nvSpPr>
        <p:spPr>
          <a:xfrm>
            <a:off x="8339328" y="1536192"/>
            <a:ext cx="3017520" cy="384048"/>
          </a:xfrm>
          <a:prstGeom prst="rect">
            <a:avLst/>
          </a:prstGeom>
          <a:noFill/>
          <a:ln/>
        </p:spPr>
        <p:txBody>
          <a:bodyPr wrap="square" lIns="0" tIns="0" rIns="0" bIns="0" rtlCol="0" anchor="ctr"/>
          <a:lstStyle/>
          <a:p>
            <a:pPr marL="0" indent="0" algn="l">
              <a:buNone/>
            </a:pPr>
            <a:r>
              <a:rPr lang="en-US" sz="2200" b="1" dirty="0">
                <a:solidFill>
                  <a:srgbClr val="E2D9CC"/>
                </a:solidFill>
                <a:latin typeface="Cambria" pitchFamily="34" charset="0"/>
                <a:ea typeface="Cambria" pitchFamily="34" charset="-122"/>
                <a:cs typeface="Cambria" pitchFamily="34" charset="-120"/>
              </a:rPr>
              <a:t>RQ3</a:t>
            </a:r>
            <a:endParaRPr lang="en-US" sz="2200" dirty="0"/>
          </a:p>
        </p:txBody>
      </p:sp>
      <p:sp>
        <p:nvSpPr>
          <p:cNvPr id="15" name="Text 13"/>
          <p:cNvSpPr/>
          <p:nvPr/>
        </p:nvSpPr>
        <p:spPr>
          <a:xfrm>
            <a:off x="8339328" y="1956816"/>
            <a:ext cx="3017520" cy="310896"/>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Answered with qualification</a:t>
            </a:r>
            <a:endParaRPr lang="en-US" sz="1300" dirty="0"/>
          </a:p>
        </p:txBody>
      </p:sp>
      <p:sp>
        <p:nvSpPr>
          <p:cNvPr id="16" name="Text 14"/>
          <p:cNvSpPr/>
          <p:nvPr/>
        </p:nvSpPr>
        <p:spPr>
          <a:xfrm>
            <a:off x="8339328" y="2286000"/>
            <a:ext cx="3017520" cy="1005840"/>
          </a:xfrm>
          <a:prstGeom prst="rect">
            <a:avLst/>
          </a:prstGeom>
          <a:noFill/>
          <a:ln/>
        </p:spPr>
        <p:txBody>
          <a:bodyPr wrap="square" lIns="0" tIns="0" rIns="0" bIns="0" rtlCol="0" anchor="t"/>
          <a:lstStyle/>
          <a:p>
            <a:pPr marL="0" indent="0" algn="l">
              <a:buNone/>
            </a:pPr>
            <a:r>
              <a:rPr lang="en-US" sz="1150" dirty="0">
                <a:solidFill>
                  <a:srgbClr val="C9BFB2"/>
                </a:solidFill>
                <a:latin typeface="Calibri" pitchFamily="34" charset="0"/>
                <a:ea typeface="Calibri" pitchFamily="34" charset="-122"/>
                <a:cs typeface="Calibri" pitchFamily="34" charset="-120"/>
              </a:rPr>
              <a:t>1:1 gives the highest PR-AUC; 1:10 gives the most realistic evaluation.</a:t>
            </a:r>
            <a:endParaRPr lang="en-US" sz="1150" dirty="0"/>
          </a:p>
        </p:txBody>
      </p:sp>
      <p:sp>
        <p:nvSpPr>
          <p:cNvPr id="17" name="Text 15"/>
          <p:cNvSpPr/>
          <p:nvPr/>
        </p:nvSpPr>
        <p:spPr>
          <a:xfrm>
            <a:off x="566928" y="3712464"/>
            <a:ext cx="5349240" cy="292608"/>
          </a:xfrm>
          <a:prstGeom prst="rect">
            <a:avLst/>
          </a:prstGeom>
          <a:noFill/>
          <a:ln/>
        </p:spPr>
        <p:txBody>
          <a:bodyPr wrap="square" lIns="0" tIns="0" rIns="0" bIns="0" rtlCol="0" anchor="ctr"/>
          <a:lstStyle/>
          <a:p>
            <a:pPr marL="0" indent="0" algn="l">
              <a:buNone/>
            </a:pPr>
            <a:r>
              <a:rPr lang="en-US" sz="1600" b="1" dirty="0">
                <a:solidFill>
                  <a:srgbClr val="E2D9CC"/>
                </a:solidFill>
                <a:latin typeface="Cambria" pitchFamily="34" charset="0"/>
                <a:ea typeface="Cambria" pitchFamily="34" charset="-122"/>
                <a:cs typeface="Cambria" pitchFamily="34" charset="-120"/>
              </a:rPr>
              <a:t>Limitations</a:t>
            </a:r>
            <a:endParaRPr lang="en-US" sz="1600" dirty="0"/>
          </a:p>
        </p:txBody>
      </p:sp>
      <p:sp>
        <p:nvSpPr>
          <p:cNvPr id="18" name="Text 16"/>
          <p:cNvSpPr/>
          <p:nvPr/>
        </p:nvSpPr>
        <p:spPr>
          <a:xfrm>
            <a:off x="566928" y="4078224"/>
            <a:ext cx="5349240" cy="1371600"/>
          </a:xfrm>
          <a:prstGeom prst="rect">
            <a:avLst/>
          </a:prstGeom>
          <a:noFill/>
          <a:ln/>
        </p:spPr>
        <p:txBody>
          <a:bodyPr wrap="square" lIns="0" tIns="0" rIns="0" bIns="0" rtlCol="0" anchor="t"/>
          <a:lstStyle/>
          <a:p>
            <a:pPr marL="342900" indent="-342900" algn="l">
              <a:spcAft>
                <a:spcPts val="600"/>
              </a:spcAft>
              <a:buSzPct val="100000"/>
              <a:buChar char="•"/>
            </a:pPr>
            <a:r>
              <a:rPr lang="en-US" sz="1250" dirty="0">
                <a:solidFill>
                  <a:srgbClr val="D8CFC2"/>
                </a:solidFill>
                <a:latin typeface="Calibri" pitchFamily="34" charset="0"/>
                <a:ea typeface="Calibri" pitchFamily="34" charset="-122"/>
                <a:cs typeface="Calibri" pitchFamily="34" charset="-120"/>
              </a:rPr>
              <a:t>Synthetic data cannot capture adaptive criminal ingenuity</a:t>
            </a:r>
            <a:endParaRPr lang="en-US" sz="1250" dirty="0"/>
          </a:p>
          <a:p>
            <a:pPr marL="342900" indent="-342900" algn="l">
              <a:spcAft>
                <a:spcPts val="600"/>
              </a:spcAft>
              <a:buSzPct val="100000"/>
              <a:buChar char="•"/>
            </a:pPr>
            <a:r>
              <a:rPr lang="en-US" sz="1250" dirty="0">
                <a:solidFill>
                  <a:srgbClr val="D8CFC2"/>
                </a:solidFill>
                <a:latin typeface="Calibri" pitchFamily="34" charset="0"/>
                <a:ea typeface="Calibri" pitchFamily="34" charset="-122"/>
                <a:cs typeface="Calibri" pitchFamily="34" charset="-120"/>
              </a:rPr>
              <a:t>Features computed on a sampled stream, not full history</a:t>
            </a:r>
            <a:endParaRPr lang="en-US" sz="1250" dirty="0"/>
          </a:p>
          <a:p>
            <a:pPr marL="342900" indent="-342900" algn="l">
              <a:spcAft>
                <a:spcPts val="600"/>
              </a:spcAft>
              <a:buSzPct val="100000"/>
              <a:buChar char="•"/>
            </a:pPr>
            <a:r>
              <a:rPr lang="en-US" sz="1250" dirty="0">
                <a:solidFill>
                  <a:srgbClr val="D8CFC2"/>
                </a:solidFill>
                <a:latin typeface="Calibri" pitchFamily="34" charset="0"/>
                <a:ea typeface="Calibri" pitchFamily="34" charset="-122"/>
                <a:cs typeface="Calibri" pitchFamily="34" charset="-120"/>
              </a:rPr>
              <a:t>Tabular only — multi-hop graph structure not represented</a:t>
            </a:r>
            <a:endParaRPr lang="en-US" sz="1250" dirty="0"/>
          </a:p>
        </p:txBody>
      </p:sp>
      <p:sp>
        <p:nvSpPr>
          <p:cNvPr id="19" name="Text 17"/>
          <p:cNvSpPr/>
          <p:nvPr/>
        </p:nvSpPr>
        <p:spPr>
          <a:xfrm>
            <a:off x="6263640" y="3712464"/>
            <a:ext cx="5330952" cy="292608"/>
          </a:xfrm>
          <a:prstGeom prst="rect">
            <a:avLst/>
          </a:prstGeom>
          <a:noFill/>
          <a:ln/>
        </p:spPr>
        <p:txBody>
          <a:bodyPr wrap="square" lIns="0" tIns="0" rIns="0" bIns="0" rtlCol="0" anchor="ctr"/>
          <a:lstStyle/>
          <a:p>
            <a:pPr marL="0" indent="0" algn="l">
              <a:buNone/>
            </a:pPr>
            <a:r>
              <a:rPr lang="en-US" sz="1600" b="1" dirty="0">
                <a:solidFill>
                  <a:srgbClr val="E2D9CC"/>
                </a:solidFill>
                <a:latin typeface="Cambria" pitchFamily="34" charset="0"/>
                <a:ea typeface="Cambria" pitchFamily="34" charset="-122"/>
                <a:cs typeface="Cambria" pitchFamily="34" charset="-120"/>
              </a:rPr>
              <a:t>Future Work</a:t>
            </a:r>
            <a:endParaRPr lang="en-US" sz="1600" dirty="0"/>
          </a:p>
        </p:txBody>
      </p:sp>
      <p:sp>
        <p:nvSpPr>
          <p:cNvPr id="20" name="Text 18"/>
          <p:cNvSpPr/>
          <p:nvPr/>
        </p:nvSpPr>
        <p:spPr>
          <a:xfrm>
            <a:off x="6263640" y="4078224"/>
            <a:ext cx="5330952" cy="1371600"/>
          </a:xfrm>
          <a:prstGeom prst="rect">
            <a:avLst/>
          </a:prstGeom>
          <a:noFill/>
          <a:ln/>
        </p:spPr>
        <p:txBody>
          <a:bodyPr wrap="square" lIns="0" tIns="0" rIns="0" bIns="0" rtlCol="0" anchor="t"/>
          <a:lstStyle/>
          <a:p>
            <a:pPr marL="342900" indent="-342900" algn="l">
              <a:spcAft>
                <a:spcPts val="600"/>
              </a:spcAft>
              <a:buSzPct val="100000"/>
              <a:buChar char="•"/>
            </a:pPr>
            <a:r>
              <a:rPr lang="en-US" sz="1250" dirty="0">
                <a:solidFill>
                  <a:srgbClr val="D8CFC2"/>
                </a:solidFill>
                <a:latin typeface="Calibri" pitchFamily="34" charset="0"/>
                <a:ea typeface="Calibri" pitchFamily="34" charset="-122"/>
                <a:cs typeface="Calibri" pitchFamily="34" charset="-120"/>
              </a:rPr>
              <a:t>Graph neural network on the account-transaction graph</a:t>
            </a:r>
            <a:endParaRPr lang="en-US" sz="1250" dirty="0"/>
          </a:p>
          <a:p>
            <a:pPr marL="342900" indent="-342900" algn="l">
              <a:spcAft>
                <a:spcPts val="600"/>
              </a:spcAft>
              <a:buSzPct val="100000"/>
              <a:buChar char="•"/>
            </a:pPr>
            <a:r>
              <a:rPr lang="en-US" sz="1250" dirty="0">
                <a:solidFill>
                  <a:srgbClr val="D8CFC2"/>
                </a:solidFill>
                <a:latin typeface="Calibri" pitchFamily="34" charset="0"/>
                <a:ea typeface="Calibri" pitchFamily="34" charset="-122"/>
                <a:cs typeface="Calibri" pitchFamily="34" charset="-120"/>
              </a:rPr>
              <a:t>Cost-matrix threshold using real per-review costs</a:t>
            </a:r>
            <a:endParaRPr lang="en-US" sz="1250" dirty="0"/>
          </a:p>
          <a:p>
            <a:pPr marL="342900" indent="-342900" algn="l">
              <a:spcAft>
                <a:spcPts val="600"/>
              </a:spcAft>
              <a:buSzPct val="100000"/>
              <a:buChar char="•"/>
            </a:pPr>
            <a:r>
              <a:rPr lang="en-US" sz="1250" dirty="0">
                <a:solidFill>
                  <a:srgbClr val="D8CFC2"/>
                </a:solidFill>
                <a:latin typeface="Calibri" pitchFamily="34" charset="0"/>
                <a:ea typeface="Calibri" pitchFamily="34" charset="-122"/>
                <a:cs typeface="Calibri" pitchFamily="34" charset="-120"/>
              </a:rPr>
              <a:t>Validation against anonymised real bank transactions</a:t>
            </a:r>
            <a:endParaRPr lang="en-US" sz="1250" dirty="0"/>
          </a:p>
        </p:txBody>
      </p:sp>
      <p:sp>
        <p:nvSpPr>
          <p:cNvPr id="21" name="Text 19"/>
          <p:cNvSpPr/>
          <p:nvPr/>
        </p:nvSpPr>
        <p:spPr>
          <a:xfrm>
            <a:off x="566928" y="5943600"/>
            <a:ext cx="11027664" cy="329184"/>
          </a:xfrm>
          <a:prstGeom prst="rect">
            <a:avLst/>
          </a:prstGeom>
          <a:noFill/>
          <a:ln/>
        </p:spPr>
        <p:txBody>
          <a:bodyPr wrap="square" lIns="0" tIns="0" rIns="0" bIns="0" rtlCol="0" anchor="ctr"/>
          <a:lstStyle/>
          <a:p>
            <a:pPr marL="0" indent="0" algn="l">
              <a:buNone/>
            </a:pPr>
            <a:r>
              <a:rPr lang="en-US" sz="1250" dirty="0">
                <a:solidFill>
                  <a:srgbClr val="8A7C6E"/>
                </a:solidFill>
                <a:latin typeface="Calibri" pitchFamily="34" charset="0"/>
                <a:ea typeface="Calibri" pitchFamily="34" charset="-122"/>
                <a:cs typeface="Calibri" pitchFamily="34" charset="-120"/>
              </a:rPr>
              <a:t>Thank you  ·  Mohd Nizam Mohd Nasir Shaikh  ·  24198170</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1449</Words>
  <Application>Microsoft Office PowerPoint</Application>
  <PresentationFormat>Widescreen</PresentationFormat>
  <Paragraphs>300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XplainTM: Explainable Cost-Sensitive Machine Learning for AML Transaction Monitoring</dc:title>
  <dc:subject>PptxGenJS Presentation</dc:subject>
  <dc:creator>Mohd Nizam Mohd Nasir Shaikh</dc:creator>
  <cp:lastModifiedBy>Nizam Shaikh</cp:lastModifiedBy>
  <cp:revision>3</cp:revision>
  <dcterms:created xsi:type="dcterms:W3CDTF">2026-08-09T00:48:18Z</dcterms:created>
  <dcterms:modified xsi:type="dcterms:W3CDTF">2026-08-10T12:55:50Z</dcterms:modified>
</cp:coreProperties>
</file>